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89ff5c4af5c4f64" Type="http://schemas.openxmlformats.org/officeDocument/2006/relationships/extended-properties" Target="docProps/app.xml"/><Relationship Id="R40236bf3df434130" Type="http://schemas.openxmlformats.org/package/2006/relationships/metadata/core-properties" Target="docProps/core.xml"/><Relationship Id="Rcacf96a43eb2495e"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0011333630b4fd4"/>
  </p:sldMasterIdLst>
  <p:notesMasterIdLst>
    <p:notesMasterId xmlns:r="http://schemas.openxmlformats.org/officeDocument/2006/relationships" r:id="R196c3c3ac1b0447f"/>
  </p:notesMasterIdLst>
  <p:sldIdLst>
    <p:sldId xmlns:r="http://schemas.openxmlformats.org/officeDocument/2006/relationships" id="256" r:id="R13809fbcb80d43f2"/>
    <p:sldId xmlns:r="http://schemas.openxmlformats.org/officeDocument/2006/relationships" id="257" r:id="Refe476e13dae43e8"/>
    <p:sldId xmlns:r="http://schemas.openxmlformats.org/officeDocument/2006/relationships" id="258" r:id="Rd6cd4753faa54866"/>
    <p:sldId xmlns:r="http://schemas.openxmlformats.org/officeDocument/2006/relationships" id="259" r:id="Rc6c200ab50f74ad1"/>
    <p:sldId xmlns:r="http://schemas.openxmlformats.org/officeDocument/2006/relationships" id="260" r:id="R120638141483428a"/>
    <p:sldId xmlns:r="http://schemas.openxmlformats.org/officeDocument/2006/relationships" id="261" r:id="Rb1cbe1d446134f8c"/>
    <p:sldId xmlns:r="http://schemas.openxmlformats.org/officeDocument/2006/relationships" id="262" r:id="Rdbd4458d964a4344"/>
    <p:sldId xmlns:r="http://schemas.openxmlformats.org/officeDocument/2006/relationships" id="263" r:id="R2b2763dbbcb54f5a"/>
    <p:sldId xmlns:r="http://schemas.openxmlformats.org/officeDocument/2006/relationships" id="264" r:id="R0765c4be35a04342"/>
    <p:sldId xmlns:r="http://schemas.openxmlformats.org/officeDocument/2006/relationships" id="265" r:id="R025ff28711684640"/>
    <p:sldId xmlns:r="http://schemas.openxmlformats.org/officeDocument/2006/relationships" id="266" r:id="R98dce19b97a648ea"/>
    <p:sldId xmlns:r="http://schemas.openxmlformats.org/officeDocument/2006/relationships" id="267" r:id="R09227e6c6077492a"/>
    <p:sldId xmlns:r="http://schemas.openxmlformats.org/officeDocument/2006/relationships" id="268" r:id="R6a950ddc602b4cde"/>
    <p:sldId xmlns:r="http://schemas.openxmlformats.org/officeDocument/2006/relationships" id="269" r:id="R5b0628b2ae8e4c1d"/>
    <p:sldId xmlns:r="http://schemas.openxmlformats.org/officeDocument/2006/relationships" id="270" r:id="R485e9fee19464105"/>
    <p:sldId xmlns:r="http://schemas.openxmlformats.org/officeDocument/2006/relationships" id="271" r:id="R5c4a696315724fa1"/>
    <p:sldId xmlns:r="http://schemas.openxmlformats.org/officeDocument/2006/relationships" id="272" r:id="Ra931345d6ea7414e"/>
    <p:sldId xmlns:r="http://schemas.openxmlformats.org/officeDocument/2006/relationships" id="273" r:id="Rbcb25ff174644f6a"/>
    <p:sldId xmlns:r="http://schemas.openxmlformats.org/officeDocument/2006/relationships" id="274" r:id="Rbebc4150c962440b"/>
    <p:sldId xmlns:r="http://schemas.openxmlformats.org/officeDocument/2006/relationships" id="275" r:id="Rd42151b60c8f4775"/>
    <p:sldId xmlns:r="http://schemas.openxmlformats.org/officeDocument/2006/relationships" id="276" r:id="Rf780b9ed8c2c4784"/>
    <p:sldId xmlns:r="http://schemas.openxmlformats.org/officeDocument/2006/relationships" id="277" r:id="R6d2865e77e64422a"/>
    <p:sldId xmlns:r="http://schemas.openxmlformats.org/officeDocument/2006/relationships" id="278" r:id="Rd67c16627d014d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25ff28711684640" Type="http://schemas.openxmlformats.org/officeDocument/2006/relationships/slide" Target="slides/slide10.xml"/><Relationship Id="R0765c4be35a04342" Type="http://schemas.openxmlformats.org/officeDocument/2006/relationships/slide" Target="slides/slide9.xml"/><Relationship Id="R09227e6c6077492a" Type="http://schemas.openxmlformats.org/officeDocument/2006/relationships/slide" Target="slides/slide12.xml"/><Relationship Id="R120638141483428a" Type="http://schemas.openxmlformats.org/officeDocument/2006/relationships/slide" Target="slides/slide5.xml"/><Relationship Id="R13809fbcb80d43f2" Type="http://schemas.openxmlformats.org/officeDocument/2006/relationships/slide" Target="slides/slide1.xml"/><Relationship Id="R196c3c3ac1b0447f" Type="http://schemas.openxmlformats.org/officeDocument/2006/relationships/notesMaster" Target="notesMasters/notesMaster1.xml"/><Relationship Id="R2b2763dbbcb54f5a" Type="http://schemas.openxmlformats.org/officeDocument/2006/relationships/slide" Target="slides/slide8.xml"/><Relationship Id="R34f3081d92dc4e2f" Type="http://schemas.openxmlformats.org/officeDocument/2006/relationships/presProps" Target="presProps.xml"/><Relationship Id="R485e9fee19464105" Type="http://schemas.openxmlformats.org/officeDocument/2006/relationships/slide" Target="slides/slide15.xml"/><Relationship Id="R50011333630b4fd4" Type="http://schemas.openxmlformats.org/officeDocument/2006/relationships/slideMaster" Target="slideMasters/slideMaster1.xml"/><Relationship Id="R5b0628b2ae8e4c1d" Type="http://schemas.openxmlformats.org/officeDocument/2006/relationships/slide" Target="slides/slide14.xml"/><Relationship Id="R5c4a696315724fa1" Type="http://schemas.openxmlformats.org/officeDocument/2006/relationships/slide" Target="slides/slide16.xml"/><Relationship Id="R6217177dd4d34d91" Type="http://schemas.openxmlformats.org/officeDocument/2006/relationships/tableStyles" Target="tableStyles.xml"/><Relationship Id="R6a950ddc602b4cde" Type="http://schemas.openxmlformats.org/officeDocument/2006/relationships/slide" Target="slides/slide13.xml"/><Relationship Id="R6d2865e77e64422a" Type="http://schemas.openxmlformats.org/officeDocument/2006/relationships/slide" Target="slides/slide22.xml"/><Relationship Id="R91b5f8491e7e425b" Type="http://schemas.openxmlformats.org/officeDocument/2006/relationships/theme" Target="theme/theme1.xml"/><Relationship Id="R98dce19b97a648ea" Type="http://schemas.openxmlformats.org/officeDocument/2006/relationships/slide" Target="slides/slide11.xml"/><Relationship Id="Ra931345d6ea7414e" Type="http://schemas.openxmlformats.org/officeDocument/2006/relationships/slide" Target="slides/slide17.xml"/><Relationship Id="Rb1cbe1d446134f8c" Type="http://schemas.openxmlformats.org/officeDocument/2006/relationships/slide" Target="slides/slide6.xml"/><Relationship Id="Rbcb25ff174644f6a" Type="http://schemas.openxmlformats.org/officeDocument/2006/relationships/slide" Target="slides/slide18.xml"/><Relationship Id="Rbebc4150c962440b" Type="http://schemas.openxmlformats.org/officeDocument/2006/relationships/slide" Target="slides/slide19.xml"/><Relationship Id="Rc6c200ab50f74ad1" Type="http://schemas.openxmlformats.org/officeDocument/2006/relationships/slide" Target="slides/slide4.xml"/><Relationship Id="Rd42151b60c8f4775" Type="http://schemas.openxmlformats.org/officeDocument/2006/relationships/slide" Target="slides/slide20.xml"/><Relationship Id="Rd67c16627d014de9" Type="http://schemas.openxmlformats.org/officeDocument/2006/relationships/slide" Target="slides/slide23.xml"/><Relationship Id="Rd6cd4753faa54866" Type="http://schemas.openxmlformats.org/officeDocument/2006/relationships/slide" Target="slides/slide3.xml"/><Relationship Id="Rdbd4458d964a4344" Type="http://schemas.openxmlformats.org/officeDocument/2006/relationships/slide" Target="slides/slide7.xml"/><Relationship Id="Refe476e13dae43e8" Type="http://schemas.openxmlformats.org/officeDocument/2006/relationships/slide" Target="slides/slide2.xml"/><Relationship Id="Rf780b9ed8c2c4784"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2d4365838e18462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4a8a81b44524151" Type="http://schemas.openxmlformats.org/officeDocument/2006/relationships/notesMaster" Target="../notesMasters/notesMaster1.xml"/><Relationship Id="Ra232f2af747d46cb"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045d1ef75bca46cc" Type="http://schemas.openxmlformats.org/officeDocument/2006/relationships/notesMaster" Target="../notesMasters/notesMaster1.xml"/><Relationship Id="R5d6669bb7334447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7b9693c5e2d44694" Type="http://schemas.openxmlformats.org/officeDocument/2006/relationships/notesMaster" Target="../notesMasters/notesMaster1.xml"/><Relationship Id="Rb710798162b24f26"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7a42c500dfcb4ae7" Type="http://schemas.openxmlformats.org/officeDocument/2006/relationships/notesMaster" Target="../notesMasters/notesMaster1.xml"/><Relationship Id="R91c61e27df3e44fc"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cbbf9692d944f3b" Type="http://schemas.openxmlformats.org/officeDocument/2006/relationships/slide" Target="../slides/slide5.xml"/><Relationship Id="Rf05a0d5204544c97"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abcf926f0eba42ac" Type="http://schemas.openxmlformats.org/officeDocument/2006/relationships/slide" Target="../slides/slide6.xml"/><Relationship Id="Rd72ae926edab4866"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806d8614bccf48a7" Type="http://schemas.openxmlformats.org/officeDocument/2006/relationships/slide" Target="../slides/slide7.xml"/><Relationship Id="Rb438331fec424408"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1cd347e9c49941c7" Type="http://schemas.openxmlformats.org/officeDocument/2006/relationships/slide" Target="../slides/slide8.xml"/><Relationship Id="Ra73bec88492c483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533f7b05f8f4243" Type="http://schemas.openxmlformats.org/officeDocument/2006/relationships/notesMaster" Target="../notesMasters/notesMaster1.xml"/><Relationship Id="Rbf303592d833460b"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3539f6149e9a4182" Type="http://schemas.openxmlformats.org/officeDocument/2006/relationships/notesMaster" Target="../notesMasters/notesMaster1.xml"/><Relationship Id="R6f65e3a33bb3463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bb799ac591ef4369" Type="http://schemas.openxmlformats.org/officeDocument/2006/relationships/slide" Target="../slides/slide11.xml"/><Relationship Id="Rf17a98789de14e00"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533f7bc6da6f4a79" Type="http://schemas.openxmlformats.org/officeDocument/2006/relationships/notesMaster" Target="../notesMasters/notesMaster1.xml"/><Relationship Id="R751afbcf789a4e8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12324066b25e4d4d" Type="http://schemas.openxmlformats.org/officeDocument/2006/relationships/notesMaster" Target="../notesMasters/notesMaster1.xml"/><Relationship Id="R16309bdbdbdf46d5"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835b3b6009994545" Type="http://schemas.openxmlformats.org/officeDocument/2006/relationships/notesMaster" Target="../notesMasters/notesMaster1.xml"/><Relationship Id="Rce110b3a89594794"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03363a86322c4198" Type="http://schemas.openxmlformats.org/officeDocument/2006/relationships/notesMaster" Target="../notesMasters/notesMaster1.xml"/><Relationship Id="R4895ee119ffc4cb3"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2e34abe897a54c6f" Type="http://schemas.openxmlformats.org/officeDocument/2006/relationships/slide" Target="../slides/slide16.xml"/><Relationship Id="R8d82d9ef971b42c6"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323be471edb340e5" Type="http://schemas.openxmlformats.org/officeDocument/2006/relationships/slide" Target="../slides/slide17.xml"/><Relationship Id="Rc7061d4ebc87407c"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01c8fe2d98f842dc" Type="http://schemas.openxmlformats.org/officeDocument/2006/relationships/slide" Target="../slides/slide18.xml"/><Relationship Id="Rad65ad70381b42bb"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691123d705dd4d7a" Type="http://schemas.openxmlformats.org/officeDocument/2006/relationships/slide" Target="../slides/slide19.xml"/><Relationship Id="Re3fc1adfb29242dc"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a08655d88ccf4264" Type="http://schemas.openxmlformats.org/officeDocument/2006/relationships/notesMaster" Target="../notesMasters/notesMaster1.xml"/><Relationship Id="Raab2cab24f6d4d23"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703299853ce64efa" Type="http://schemas.openxmlformats.org/officeDocument/2006/relationships/slide" Target="../slides/slide21.xml"/><Relationship Id="Racbf3ed6780b45c6"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f242b40bb7994b19" Type="http://schemas.openxmlformats.org/officeDocument/2006/relationships/slide" Target="../slides/slide22.xml"/><Relationship Id="Rf5f3b208d8b04173"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1982c3513f874f4a" Type="http://schemas.openxmlformats.org/officeDocument/2006/relationships/slide" Target="../slides/slide23.xml"/><Relationship Id="Rc68cc40a17d1489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Open personally: I did not meet Peter Thiel through politics or Palantir. I met him as a puzzle—an investor who seemed to see around corners. This talk asks what makes that puzzle coherent, then tests the flattering and frightening versions against the record.</a:t>
            </a:r>
          </a:p>
          <a:p xmlns:a="http://schemas.openxmlformats.org/drawingml/2006/main">
            <a:r>
              <a:t/>
            </a:r>
          </a:p>
          <a:p xmlns:a="http://schemas.openxmlformats.org/drawingml/2006/main">
            <a:r>
              <a:t>[Sources]</a:t>
            </a:r>
          </a:p>
          <a:p xmlns:a="http://schemas.openxmlformats.org/drawingml/2006/main">
            <a:r>
              <a:t>- https://commons.wikimedia.org/wiki/File:Peter_Thiel_-_Photo-_Dan_Taylor_-_dantaylor.me-1.jpg — cover image credit and license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Tell the origin honestly. Tim Ferriss published episode #28 with Thiel on September 9, 2014; the supplied YouTube URL is a July 7, 2026 repost. The exact recording day is not public. Ferriss says the episode was asynchronous because he was on medical leave, with Blake Masters reading the questions. Tools of Titans arrived in December 2016. The phrase I remembered—‘Oracle of Silicon Valley’—was attached to Reid Hoffman in Ferriss’s material. My memory stitched two PayPal-era figures together. But the question it created was real and very Thiel-like: what does someone see before everyone else sees it?</a:t>
            </a:r>
          </a:p>
          <a:p xmlns:a="http://schemas.openxmlformats.org/drawingml/2006/main">
            <a:r>
              <a:t/>
            </a:r>
          </a:p>
          <a:p xmlns:a="http://schemas.openxmlformats.org/drawingml/2006/main">
            <a:r>
              <a:t>[Sources]</a:t>
            </a:r>
          </a:p>
          <a:p xmlns:a="http://schemas.openxmlformats.org/drawingml/2006/main">
            <a:r>
              <a:t>- https://tim.blog/2014/09/peter-thiel/ — Ferriss interview date and episode</a:t>
            </a:r>
          </a:p>
          <a:p xmlns:a="http://schemas.openxmlformats.org/drawingml/2006/main">
            <a:r>
              <a:t>- https://www.youtube.com/watch?v=kSHehMhSUq4 — July 7, 2026 repost of Tim Ferriss Show episode #28</a:t>
            </a:r>
          </a:p>
          <a:p xmlns:a="http://schemas.openxmlformats.org/drawingml/2006/main">
            <a:r>
              <a:t>- https://www.penguin.co.uk/books/435625/tools-of-titans-by-timothy-ferriss/9781785041273 — Tools of Titans publication date</a:t>
            </a:r>
          </a:p>
          <a:p xmlns:a="http://schemas.openxmlformats.org/drawingml/2006/main">
            <a:r>
              <a:t>- https://tim.blog/wp-content/uploads/2021/08/Tools-of-Titans-and-Tribe-of-Mentors-Introductions-and-Profiles.pdf — ‘Oracle of Silicon Valley’ attribution to Reid Hoffman</a:t>
            </a:r>
          </a:p>
          <a:p xmlns:a="http://schemas.openxmlformats.org/drawingml/2006/main">
            <a:r>
              <a:t>- https://commons.wikimedia.org/wiki/File:Timothy_Ferriss.jpg — image credit and license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the organizing frame for the deck. Thiel searches for secrets, treats unusually stubborn founder conviction as information, and builds networks that make a contrarian idea consequential. None of those qualities is inherently good or evil. The moral question appears when the method meets institutions with asymmetric power.</a:t>
            </a:r>
          </a:p>
          <a:p xmlns:a="http://schemas.openxmlformats.org/drawingml/2006/main">
            <a:r>
              <a:t/>
            </a:r>
          </a:p>
          <a:p xmlns:a="http://schemas.openxmlformats.org/drawingml/2006/main">
            <a:r>
              <a:t>[Sources]</a:t>
            </a:r>
          </a:p>
          <a:p xmlns:a="http://schemas.openxmlformats.org/drawingml/2006/main">
            <a:r>
              <a:t>- https://www.penguinrandomhouse.com/books/234730/zero-to-one-by-peter-thiel-with-blake-masters/9780804139304/ — Zero to One overview and publication context</a:t>
            </a:r>
          </a:p>
          <a:p xmlns:a="http://schemas.openxmlformats.org/drawingml/2006/main">
            <a:r>
              <a:t>- https://blakemasters.tumblr.com/peter-thiels-cs183-startup — Stanford CS183 notes that became Zero to One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story expands in scale. Thiel begins by building a company, then becomes a capital allocator who chooses builders, then becomes a political patron who helps choose the people shaping the state. The throughline is not merely wealth. It is leverage over which future becomes real.</a:t>
            </a:r>
          </a:p>
          <a:p xmlns:a="http://schemas.openxmlformats.org/drawingml/2006/main">
            <a:r>
              <a:t/>
            </a:r>
          </a:p>
          <a:p xmlns:a="http://schemas.openxmlformats.org/drawingml/2006/main">
            <a:r>
              <a:t>[Sources]</a:t>
            </a:r>
          </a:p>
          <a:p xmlns:a="http://schemas.openxmlformats.org/drawingml/2006/main">
            <a:r>
              <a:t>- https://www.sec.gov/Archives/edgar/data/1103415/000091205702009834/a2073071z10-k405.htm — PayPal corporate history</a:t>
            </a:r>
          </a:p>
          <a:p xmlns:a="http://schemas.openxmlformats.org/drawingml/2006/main">
            <a:r>
              <a:t>- https://investors.palantir.com/files/2025%20FY%20PLTR%2010-K.pdf — Palantir founding and leadership</a:t>
            </a:r>
          </a:p>
          <a:p xmlns:a="http://schemas.openxmlformats.org/drawingml/2006/main">
            <a:r>
              <a:t>- https://money.cnn.com/2012/08/20/technology/facebook-peter-thiel/index.html — Facebook investment</a:t>
            </a:r>
          </a:p>
          <a:p xmlns:a="http://schemas.openxmlformats.org/drawingml/2006/main">
            <a:r>
              <a:t>- https://www.press.org/sites/default/files/20161031_thiel.pdf — Thiel’s 2016 Trump support and political argument</a:t>
            </a:r>
          </a:p>
          <a:p xmlns:a="http://schemas.openxmlformats.org/drawingml/2006/main">
            <a:r>
              <a:t>- https://apnews.com/article/c3a6c7d2daba501caf8152558ac2d743 — Thiel, Vance, and current political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Correct the familiar shorthand. Thiel and Musk did not simply sit down and invent PayPal together. Thiel led Confinity; Musk led X.com. The companies were competitors, then merged in March 2000. Confinity already had the PayPal product. Their later conflict makes more sense when we remember that the merger joined rival visions and rival power centers.</a:t>
            </a:r>
          </a:p>
          <a:p xmlns:a="http://schemas.openxmlformats.org/drawingml/2006/main">
            <a:r>
              <a:t/>
            </a:r>
          </a:p>
          <a:p xmlns:a="http://schemas.openxmlformats.org/drawingml/2006/main">
            <a:r>
              <a:t>[Sources]</a:t>
            </a:r>
          </a:p>
          <a:p xmlns:a="http://schemas.openxmlformats.org/drawingml/2006/main">
            <a:r>
              <a:t>- https://www.sec.gov/Archives/edgar/data/1103415/000091205702009834/a2073071z10-k405.htm — SEC-filed PayPal corporate history and March 2000 merger</a:t>
            </a:r>
          </a:p>
          <a:p xmlns:a="http://schemas.openxmlformats.org/drawingml/2006/main">
            <a:r>
              <a:t>- https://www.paypalobjects.com/webstatic/en_US/mktg/pages/stories/pdf/paypal_infogrpahic_-_key_milestones.pdf — PayPal milestones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changes the scale of the PayPal story. In Tim Ferriss Show episode #28, Thiel says PayPal was not merely intended to make online checkout easier. The team was trying to create a new currency, using a new payment system as the starting point. He also admits that PayPal became powerful as a payment system but never fully achieved the currency goal. The supplied YouTube video is a July 7, 2026 repost; the original episode was published September 9, 2014. The relevant answer begins around 7:16 and runs through about 8:05.</a:t>
            </a:r>
          </a:p>
          <a:p xmlns:a="http://schemas.openxmlformats.org/drawingml/2006/main">
            <a:r>
              <a:t/>
            </a:r>
          </a:p>
          <a:p xmlns:a="http://schemas.openxmlformats.org/drawingml/2006/main">
            <a:r>
              <a:t>[Sources]</a:t>
            </a:r>
          </a:p>
          <a:p xmlns:a="http://schemas.openxmlformats.org/drawingml/2006/main">
            <a:r>
              <a:t>- https://tim.blog/2014/09/09/peter-thiel/ — original Tim Ferriss Show episode #28, published September 9, 2014</a:t>
            </a:r>
          </a:p>
          <a:p xmlns:a="http://schemas.openxmlformats.org/drawingml/2006/main">
            <a:r>
              <a:t>- https://tim.blog/wp-content/uploads/2018/07/28-peter-thiel.pdf — official transcript, Bitcoin/PayPal currency passage</a:t>
            </a:r>
          </a:p>
          <a:p xmlns:a="http://schemas.openxmlformats.org/drawingml/2006/main">
            <a:r>
              <a:t>- https://youtu.be/kSHehMhSUq4?t=436 — supplied repost, currency discussion beginning around 7:16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Keep the drama, but get the mechanism right. A group of senior employees and directors moved against Musk while he was on honeymoon in Australia. Thiel returned as CEO. The event plainly mattered to Musk, and both men later expressed respect for one another. But the claim that it clinically caused an aversion to vacations is a colorful inference, not something the public record establishes.</a:t>
            </a:r>
          </a:p>
          <a:p xmlns:a="http://schemas.openxmlformats.org/drawingml/2006/main">
            <a:r>
              <a:t/>
            </a:r>
          </a:p>
          <a:p xmlns:a="http://schemas.openxmlformats.org/drawingml/2006/main">
            <a:r>
              <a:t>[Sources]</a:t>
            </a:r>
          </a:p>
          <a:p xmlns:a="http://schemas.openxmlformats.org/drawingml/2006/main">
            <a:r>
              <a:t>- https://www.sec.gov/Archives/edgar/data/1103415/000091205702009834/a2073071z10-k405.htm — Thiel’s return as CEO in September 2000</a:t>
            </a:r>
          </a:p>
          <a:p xmlns:a="http://schemas.openxmlformats.org/drawingml/2006/main">
            <a:r>
              <a:t>- https://www.newyorker.com/news/letter-from-silicon-valley/what-is-it-about-peter-thiel — account of PayPal conflict and Thiel’s role</a:t>
            </a:r>
          </a:p>
          <a:p xmlns:a="http://schemas.openxmlformats.org/drawingml/2006/main">
            <a:r>
              <a:t>- https://www.washingtonpost.com/history/2023/07/25/elon-musk-paypal-twitter-x-rebrand/ — Musk’s honeymoon and board ouster</a:t>
            </a:r>
          </a:p>
          <a:p xmlns:a="http://schemas.openxmlformats.org/drawingml/2006/main">
            <a:r>
              <a:t>- https://commons.wikimedia.org/wiki/File:Elon_Musk_2015.jpg — image credit and license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‘PayPal Mafia’ is not a story about Thiel personally commanding every later company. It is a story about a dense network of experienced operators, friendships, grudges, shared capital, and mutual credibility. Thiel’s advantage is partly an information advantage: he is connected to people who see unusual companies before most investors do.</a:t>
            </a:r>
          </a:p>
          <a:p xmlns:a="http://schemas.openxmlformats.org/drawingml/2006/main">
            <a:r>
              <a:t/>
            </a:r>
          </a:p>
          <a:p xmlns:a="http://schemas.openxmlformats.org/drawingml/2006/main">
            <a:r>
              <a:t>[Sources]</a:t>
            </a:r>
          </a:p>
          <a:p xmlns:a="http://schemas.openxmlformats.org/drawingml/2006/main">
            <a:r>
              <a:t>- https://www.newyorker.com/news/letter-from-silicon-valley/what-is-it-about-peter-thiel — PayPal alumni network and Thiel profile</a:t>
            </a:r>
          </a:p>
          <a:p xmlns:a="http://schemas.openxmlformats.org/drawingml/2006/main">
            <a:r>
              <a:t>- https://www.sec.gov/Archives/edgar/data/1103415/000091205702009834/a2073071z10-k405.htm — PayPal leadership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Thiel invested $500,000 in Facebook in 2004 and joined the board. Two years later Yahoo offered roughly $1 billion. Thiel later recalled that he and Jim Breyer were inclined to consider selling, while Zuckerberg treated the meeting as a formality. The key insight is not that Thiel predicted every detail of social media. It is that Zuckerberg’s refusal revealed the scale of the founder’s internal model.</a:t>
            </a:r>
          </a:p>
          <a:p xmlns:a="http://schemas.openxmlformats.org/drawingml/2006/main">
            <a:r>
              <a:t/>
            </a:r>
          </a:p>
          <a:p xmlns:a="http://schemas.openxmlformats.org/drawingml/2006/main">
            <a:r>
              <a:t>[Sources]</a:t>
            </a:r>
          </a:p>
          <a:p xmlns:a="http://schemas.openxmlformats.org/drawingml/2006/main">
            <a:r>
              <a:t>- https://money.cnn.com/2012/08/20/technology/facebook-peter-thiel/index.html — $500,000 investment and board role</a:t>
            </a:r>
          </a:p>
          <a:p xmlns:a="http://schemas.openxmlformats.org/drawingml/2006/main">
            <a:r>
              <a:t>- https://www.inc.com/allison-fass/peter-thiel-mark-zuckerberg-luck-day-facebook-turned-down-billion-dollars.html — Thiel’s account of Zuckerberg rejecting Yahoo’s offer</a:t>
            </a:r>
          </a:p>
          <a:p xmlns:a="http://schemas.openxmlformats.org/drawingml/2006/main">
            <a:r>
              <a:t>- https://commons.wikimedia.org/wiki/File:MarkZuckerberg.jpg — image credit and license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Blake Masters’s notes from Thiel’s 2012 Stanford course became Zero to One in 2014. The book matters because it gives names to the method: secrets, monopoly, and definite optimism. The famous interview question is often misquoted. The book’s wording is: ‘What important truth do very few people agree with you on?’</a:t>
            </a:r>
          </a:p>
          <a:p xmlns:a="http://schemas.openxmlformats.org/drawingml/2006/main">
            <a:r>
              <a:t/>
            </a:r>
          </a:p>
          <a:p xmlns:a="http://schemas.openxmlformats.org/drawingml/2006/main">
            <a:r>
              <a:t>[Sources]</a:t>
            </a:r>
          </a:p>
          <a:p xmlns:a="http://schemas.openxmlformats.org/drawingml/2006/main">
            <a:r>
              <a:t>- https://blakemasters.tumblr.com/about — Masters’s notes and origin of the book</a:t>
            </a:r>
          </a:p>
          <a:p xmlns:a="http://schemas.openxmlformats.org/drawingml/2006/main">
            <a:r>
              <a:t>- https://blakemasters.tumblr.com/peter-thiels-cs183-startup — CS183 course notes</a:t>
            </a:r>
          </a:p>
          <a:p xmlns:a="http://schemas.openxmlformats.org/drawingml/2006/main">
            <a:r>
              <a:t>- https://www.penguinrandomhouse.com/books/234730/zero-to-one-by-peter-thiel-with-blake-masters/9780804139304/ — publication date and book description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Explain ontology without mysticism. Different systems may refer to the same real-world person, place, asset, or event using incompatible fields. Palantir’s ontology maps those records into shared objects, relationships, and actions. That gives users a common operational picture while the platform tracks provenance, permissions, and changes. The novelty is not simply search. It is a governed semantic layer between data and decisions.</a:t>
            </a:r>
          </a:p>
          <a:p xmlns:a="http://schemas.openxmlformats.org/drawingml/2006/main">
            <a:r>
              <a:t/>
            </a:r>
          </a:p>
          <a:p xmlns:a="http://schemas.openxmlformats.org/drawingml/2006/main">
            <a:r>
              <a:t>[Sources]</a:t>
            </a:r>
          </a:p>
          <a:p xmlns:a="http://schemas.openxmlformats.org/drawingml/2006/main">
            <a:r>
              <a:t>- https://www.palantir.com/docs/foundry/getting-started/introductory-concepts — official ontology concepts: objects, links, actions, and organizational representation</a:t>
            </a:r>
          </a:p>
          <a:p xmlns:a="http://schemas.openxmlformats.org/drawingml/2006/main">
            <a:r>
              <a:t>- https://www.palantir.com/docs/foundry/security/overview — security, access control, and audit model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Present the steelman and the risk together. Palantir documents granular permissions, audit logs, lineage, and a privacy-and-civil-liberties function. Critics argue that the same integration makes surveillance and enforcement more scalable, especially when oversight is weak. The system’s moral character cannot be read from the software alone. It emerges from contracts, users, rules, and accountability.</a:t>
            </a:r>
          </a:p>
          <a:p xmlns:a="http://schemas.openxmlformats.org/drawingml/2006/main">
            <a:r>
              <a:t/>
            </a:r>
          </a:p>
          <a:p xmlns:a="http://schemas.openxmlformats.org/drawingml/2006/main">
            <a:r>
              <a:t>[Sources]</a:t>
            </a:r>
          </a:p>
          <a:p xmlns:a="http://schemas.openxmlformats.org/drawingml/2006/main">
            <a:r>
              <a:t>- https://www.palantir.com/pcl/technologies/ — Palantir privacy and civil-liberties controls</a:t>
            </a:r>
          </a:p>
          <a:p xmlns:a="http://schemas.openxmlformats.org/drawingml/2006/main">
            <a:r>
              <a:t>- https://www.palantir.com/docs/foundry/security/overview — Palantir security, audit, and access controls</a:t>
            </a:r>
          </a:p>
          <a:p xmlns:a="http://schemas.openxmlformats.org/drawingml/2006/main">
            <a:r>
              <a:t>- https://www.aclu.org/news/privacy-technology/palantir-deportation-roundup — civil-liberties critique of Palantir’s government work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a useful demonstration of epistemic hygiene. Palantir was founded for intelligence and counterterrorism work, so the rumor feels plausible. Public accounts of the bin Laden operation emphasize the fusion of intelligence and operations, but they do not authoritatively identify Palantir as the tool that located him. The supplied Free Press interview repeats the claim as settled biography in Bari Weiss’s introduction around 4:43. That is a useful example of a compelling rumor hardening into conventional wisdom. Say ‘rumored’ or ‘lore,’ not ‘Palantir found bin Laden.’</a:t>
            </a:r>
          </a:p>
          <a:p xmlns:a="http://schemas.openxmlformats.org/drawingml/2006/main">
            <a:r>
              <a:t/>
            </a:r>
          </a:p>
          <a:p xmlns:a="http://schemas.openxmlformats.org/drawingml/2006/main">
            <a:r>
              <a:t>[Sources]</a:t>
            </a:r>
          </a:p>
          <a:p xmlns:a="http://schemas.openxmlformats.org/drawingml/2006/main">
            <a:r>
              <a:t>- https://investors.palantir.com/files/2025%20FY%20PLTR%2010-K.pdf — Palantir founding purpose and government work</a:t>
            </a:r>
          </a:p>
          <a:p xmlns:a="http://schemas.openxmlformats.org/drawingml/2006/main">
            <a:r>
              <a:t>- https://www.af.mil/News/Article-Display/Article/113320/gates-perfect-fusion-made-bin-laden-raid-succeed/ — official public account of intelligence-operation fusion; does not identify Palantir</a:t>
            </a:r>
          </a:p>
          <a:p xmlns:a="http://schemas.openxmlformats.org/drawingml/2006/main">
            <a:r>
              <a:t>- https://youtu.be/wwJV_NuN43Y?t=283 — Free Press introduction repeating the Palantir/bin Laden claim around 4:43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Thiel has repeatedly contrasted decentralized crypto with centralizing AI. In 2018 he compressed the argument into the provocative line that crypto is libertarian and AI is communist. In 2021 he said AI is what a surveillance society needs. Palantir therefore creates a genuine tension: he fears centralized surveillance while chairing a company that can make centralized institutions dramatically more capable. That is the deck’s central contradiction.</a:t>
            </a:r>
          </a:p>
          <a:p xmlns:a="http://schemas.openxmlformats.org/drawingml/2006/main">
            <a:r>
              <a:t/>
            </a:r>
          </a:p>
          <a:p xmlns:a="http://schemas.openxmlformats.org/drawingml/2006/main">
            <a:r>
              <a:t>[Sources]</a:t>
            </a:r>
          </a:p>
          <a:p xmlns:a="http://schemas.openxmlformats.org/drawingml/2006/main">
            <a:r>
              <a:t>- https://www.hoover.org/node/91149 — 2018 Stanford/Hoover debate context</a:t>
            </a:r>
          </a:p>
          <a:p xmlns:a="http://schemas.openxmlformats.org/drawingml/2006/main">
            <a:r>
              <a:t>- https://www.axios.com/2018/02/13/peter-thiel-ai-is-communist-1518541570 — ‘crypto is libertarian and AI is communist’ quotation</a:t>
            </a:r>
          </a:p>
          <a:p xmlns:a="http://schemas.openxmlformats.org/drawingml/2006/main">
            <a:r>
              <a:t>- https://nixonseminar.com/2021/04/the-nixon-seminar-april-6-2021-transcript/ — ‘AI is what you need for a surveillance society’</a:t>
            </a:r>
          </a:p>
          <a:p xmlns:a="http://schemas.openxmlformats.org/drawingml/2006/main">
            <a:r>
              <a:t>- https://investors.palantir.com/files/2025%20FY%20PLTR%2010-K.pdf — Thiel remains chairman; Karp is CEO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the experimental Thiel: fund an escape route from geography, aging, or political constraint. Seasteading received real support but did not become the new-world platform imagined. Young-blood stories demonstrate how curiosity becomes lore. Thiel expressed interest in parabiosis research; that is different from proof he personally used transfusions. And the Silicon Valley ‘blood boy’ scene belongs to Gavin Belson, not Peter Gregory—the character partly inspired by Thiel.</a:t>
            </a:r>
          </a:p>
          <a:p xmlns:a="http://schemas.openxmlformats.org/drawingml/2006/main">
            <a:r>
              <a:t/>
            </a:r>
          </a:p>
          <a:p xmlns:a="http://schemas.openxmlformats.org/drawingml/2006/main">
            <a:r>
              <a:t>[Sources]</a:t>
            </a:r>
          </a:p>
          <a:p xmlns:a="http://schemas.openxmlformats.org/drawingml/2006/main">
            <a:r>
              <a:t>- https://finance.yahoo.com/news/peter-thiel-no-longer-thinks-005900481.html — Thiel on seasteading feasibility and past funding</a:t>
            </a:r>
          </a:p>
          <a:p xmlns:a="http://schemas.openxmlformats.org/drawingml/2006/main">
            <a:r>
              <a:t>- https://time.com/4579899/young-blood-transfusion-aging/ — documented interest in parabiosis and lack of confirmed personal transfusion</a:t>
            </a:r>
          </a:p>
          <a:p xmlns:a="http://schemas.openxmlformats.org/drawingml/2006/main">
            <a:r>
              <a:t>- https://www.newyorker.com/culture/culture-desk/how-silicon-valley-nails-silicon-valley — Peter Gregory as a partial Thiel inspiration</a:t>
            </a:r>
          </a:p>
          <a:p xmlns:a="http://schemas.openxmlformats.org/drawingml/2006/main">
            <a:r>
              <a:t>- https://techcrunch.com/2014/05/06/silicon-valley-show-disrupt/ — Mike Judge on the show’s composites and inspirations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Gawker’s Valleywag site publicly outed Thiel in 2007. Years later, Thiel secretly funded Hulk Hogan’s privacy suit over a published sex tape. A jury awarded Hogan $140 million; Gawker filed for bankruptcy and eventually settled. Thiel framed the fight as privacy, not libel. The case can be understood both as accountability for a publisher that crossed ethical lines and as a demonstration of how private wealth can impose existential legal costs on a media institution.</a:t>
            </a:r>
          </a:p>
          <a:p xmlns:a="http://schemas.openxmlformats.org/drawingml/2006/main">
            <a:r>
              <a:t/>
            </a:r>
          </a:p>
          <a:p xmlns:a="http://schemas.openxmlformats.org/drawingml/2006/main">
            <a:r>
              <a:t>[Sources]</a:t>
            </a:r>
          </a:p>
          <a:p xmlns:a="http://schemas.openxmlformats.org/drawingml/2006/main">
            <a:r>
              <a:t>- https://time.com/4348840/peter-thiel-gawker-lawsuit-hulk-hogan/ — Thiel funding, outing context, and verdict</a:t>
            </a:r>
          </a:p>
          <a:p xmlns:a="http://schemas.openxmlformats.org/drawingml/2006/main">
            <a:r>
              <a:t>- https://apnews.com/article/9e0034fdbbaf8d0a60ee19acab49ec80 — retrospective on Hogan, Gawker bankruptcy, and settlement</a:t>
            </a:r>
          </a:p>
          <a:p xmlns:a="http://schemas.openxmlformats.org/drawingml/2006/main">
            <a:r>
              <a:t>- https://www.press.org/sites/default/files/20161031_thiel.pdf — Thiel’s defense of the case as a privacy issue</a:t>
            </a:r>
          </a:p>
          <a:p xmlns:a="http://schemas.openxmlformats.org/drawingml/2006/main">
            <a:r>
              <a:t>- https://commons.wikimedia.org/wiki/File:Hulk_Hogan.jpg — image credit and public-domain status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Thiel’s politics should be understood as a new investment arena. He backed Trump publicly in 2016, spoke at the Republican National Convention, and donated heavily. He later supported J.D. Vance and Blake Masters. Vance had worked at Thiel-linked Mithril Capital; Thiel contributed roughly $15 million to a pro-Vance super PAC. In the supplied Free Press interview, the Vance section begins around 1:22:06. Thiel says around 1:22:37 that he first met Vance at Yale Law School in 2011 and that Vance later worked for one of his venture funds. Masters was the 2022 Republican nominee for U.S. Senate in Arizona—not governor—and lost. Vance became vice president in 2025.</a:t>
            </a:r>
          </a:p>
          <a:p xmlns:a="http://schemas.openxmlformats.org/drawingml/2006/main">
            <a:r>
              <a:t/>
            </a:r>
          </a:p>
          <a:p xmlns:a="http://schemas.openxmlformats.org/drawingml/2006/main">
            <a:r>
              <a:t>[Sources]</a:t>
            </a:r>
          </a:p>
          <a:p xmlns:a="http://schemas.openxmlformats.org/drawingml/2006/main">
            <a:r>
              <a:t>- https://www.press.org/sites/default/files/20161031_thiel.pdf — Thiel’s 2016 endorsement and political argument</a:t>
            </a:r>
          </a:p>
          <a:p xmlns:a="http://schemas.openxmlformats.org/drawingml/2006/main">
            <a:r>
              <a:t>- https://www.latimes.com/business/la-fi-peter-thiel-20180215-story.html — move to Los Angeles and ‘one-party state’ framing</a:t>
            </a:r>
          </a:p>
          <a:p xmlns:a="http://schemas.openxmlformats.org/drawingml/2006/main">
            <a:r>
              <a:t>- https://techcrunch.com/author/j-d-vance/ — Vance biography and Mithril Capital role</a:t>
            </a:r>
          </a:p>
          <a:p xmlns:a="http://schemas.openxmlformats.org/drawingml/2006/main">
            <a:r>
              <a:t>- https://www.fec.gov/data/committee/C00783142/?cycle=2022 — Protect Ohio Values PAC records</a:t>
            </a:r>
          </a:p>
          <a:p xmlns:a="http://schemas.openxmlformats.org/drawingml/2006/main">
            <a:r>
              <a:t>- https://elections.maricopa.gov/asset/jcr%3Ab2fea8aa-6f09-4fb1-906c-78773eaa9999/11-08-2022-1%20Final%20Official%20Summary%20Report.pdf — 2022 Arizona U.S. Senate result</a:t>
            </a:r>
          </a:p>
          <a:p xmlns:a="http://schemas.openxmlformats.org/drawingml/2006/main">
            <a:r>
              <a:t>- https://apnews.com/article/c3a6c7d2daba501caf8152558ac2d743 — Vance/Thiel relationship and vice-presidential context</a:t>
            </a:r>
          </a:p>
          <a:p xmlns:a="http://schemas.openxmlformats.org/drawingml/2006/main">
            <a:r>
              <a:t>- https://youtu.be/wwJV_NuN43Y?t=4926 — Free Press Vance discussion beginning around 1:22:06</a:t>
            </a:r>
          </a:p>
          <a:p xmlns:a="http://schemas.openxmlformats.org/drawingml/2006/main">
            <a:r>
              <a:t>- https://commons.wikimedia.org/wiki/File:Peter_Thiel_2016_RNC_(2).jpg — image credit and public-domain source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Do not claim Thiel invented MAGA. Trump filed a trademark application for the slogan in November 2012, years before Thiel’s public 2016 endorsement; Ronald Reagan had used similar language decades earlier. What Thiel did provide was an intellectual interpretation. In his 2016 speech he argued that Trump was naming stagnation and elite denial, and said the agenda was also about making America a ‘normal country.’</a:t>
            </a:r>
          </a:p>
          <a:p xmlns:a="http://schemas.openxmlformats.org/drawingml/2006/main">
            <a:r>
              <a:t/>
            </a:r>
          </a:p>
          <a:p xmlns:a="http://schemas.openxmlformats.org/drawingml/2006/main">
            <a:r>
              <a:t>[Sources]</a:t>
            </a:r>
          </a:p>
          <a:p xmlns:a="http://schemas.openxmlformats.org/drawingml/2006/main">
            <a:r>
              <a:t>- https://tmog.uspto.gov/eOG/case/178051/info.pdf — official trademark record for MAKE AMERICA GREAT AGAIN, filed November 19, 2012</a:t>
            </a:r>
          </a:p>
          <a:p xmlns:a="http://schemas.openxmlformats.org/drawingml/2006/main">
            <a:r>
              <a:t>- https://www.washingtonpost.com/politics/how-donald-trump-came-up-with-make-america-great-again/2017/01/17/fb6acf5e-dbf7-11e6-ad42-f3375f271c9c_story.html — slogan history and Trump’s account</a:t>
            </a:r>
          </a:p>
          <a:p xmlns:a="http://schemas.openxmlformats.org/drawingml/2006/main">
            <a:r>
              <a:t>- https://www.press.org/sites/default/files/20161031_thiel.pdf — Thiel’s 2016 interpretation of Trump’s appeal and ‘normal country’ language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supplied timestamp lands at the beginning of a revealing sequence. At about 33:02, Bari Weiss asks whether Thiel feels vindicated after being early to Trump. Around 34:07, Thiel explains the deeper 2016 thesis: American society is stagnant, progress is slowing, and the intergenerational compact is breaking. Around 34:38, he calls Make America Great Again the most pessimistic slogan used by a major candidate in roughly a century, because it begins by admitting the country is no longer great. By 35:09, he says the first step is to level-set and admit where the country is. Later, around 37:13, he describes the Silicon Valley political shift as a preference cascade, with Elon Musk giving others cover around 37:46. This is the clearest evidence for the stronger claim on the previous slide: Thiel did not author MAGA, but he supplied an unusually coherent theory of what it meant.</a:t>
            </a:r>
          </a:p>
          <a:p xmlns:a="http://schemas.openxmlformats.org/drawingml/2006/main">
            <a:r>
              <a:t/>
            </a:r>
          </a:p>
          <a:p xmlns:a="http://schemas.openxmlformats.org/drawingml/2006/main">
            <a:r>
              <a:t>[Sources]</a:t>
            </a:r>
          </a:p>
          <a:p xmlns:a="http://schemas.openxmlformats.org/drawingml/2006/main">
            <a:r>
              <a:t>- https://www.thefp.com/p/peter-thiel-honestly-trump-jd-vance — original Free Press publication, November 14, 2024, and edited transcript</a:t>
            </a:r>
          </a:p>
          <a:p xmlns:a="http://schemas.openxmlformats.org/drawingml/2006/main">
            <a:r>
              <a:t>- https://youtu.be/wwJV_NuN43Y?t=1982 — supplied video beginning at 33:02; stagnation and MAGA discussion runs to about 35:40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Use the startup analogy carefully. Equity aligns everyone around shared upside and downside. Thiel’s New Zealand citizenship, added to his American citizenship, creates a sovereign hedge: a legal right to live somewhere else if the United States becomes unstable or unattractive. That does not establish that he wants America to fail or is indifferent to its success—his wealth, companies, relationships, and political project remain heavily American. The sharper critique is asymmetric downside: he can help shape U.S. institutions while retaining more exit capacity than the citizens who must absorb the consequences. This is an incentive and accountability argument, not proof of motive or disloyalty.</a:t>
            </a:r>
          </a:p>
          <a:p xmlns:a="http://schemas.openxmlformats.org/drawingml/2006/main">
            <a:r>
              <a:t/>
            </a:r>
          </a:p>
          <a:p xmlns:a="http://schemas.openxmlformats.org/drawingml/2006/main">
            <a:r>
              <a:t>[Sources]</a:t>
            </a:r>
          </a:p>
          <a:p xmlns:a="http://schemas.openxmlformats.org/drawingml/2006/main">
            <a:r>
              <a:t>- https://ao.parliament.nz/2017/peter-thiel — New Zealand Audit Office: citizenship approved in June 2011 under the special-cases provision of section 9(1)(c)</a:t>
            </a:r>
          </a:p>
          <a:p xmlns:a="http://schemas.openxmlformats.org/drawingml/2006/main">
            <a:r>
              <a:t>- https://www.theguardian.com/technology/2017/feb/01/documents-reveal-how-peter-thiel-was-granted-new-zealand-citizenship — released citizenship documents, American citizenship context, and public controversy</a:t>
            </a:r>
          </a:p>
          <a:p xmlns:a="http://schemas.openxmlformats.org/drawingml/2006/main">
            <a:r>
              <a:t>- The incentive analysis and startup-equity analogy are the presenter’s interpretation; no claim about Thiel’s private motive is asserted.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Secrets connect the biography, the investment method, and the networks. Thiel’s sexuality was private until Valleywag publicized it. Zero to One tells founders to search for hidden truths. PayPal created a trust network with privileged access. Dialog, co-founded by Thiel and Auren Hoffman, is an invitation-only forum organized around candid, off-record discussion. Private exchange can create epistemic advantage; it also creates opacity when the participants hold public power. The Free Press interview adds a revealing complication around 1:48:19: Thiel argues that a technologically advanced society may require experts, intelligence agencies, and secrets. He does not oppose secrecy in principle; he is concerned with which institutions possess it and how they use it.</a:t>
            </a:r>
          </a:p>
          <a:p xmlns:a="http://schemas.openxmlformats.org/drawingml/2006/main">
            <a:r>
              <a:t/>
            </a:r>
          </a:p>
          <a:p xmlns:a="http://schemas.openxmlformats.org/drawingml/2006/main">
            <a:r>
              <a:t>[Sources]</a:t>
            </a:r>
          </a:p>
          <a:p xmlns:a="http://schemas.openxmlformats.org/drawingml/2006/main">
            <a:r>
              <a:t>- https://time.com/4348840/peter-thiel-gawker-lawsuit-hulk-hogan/ — outing and privacy context</a:t>
            </a:r>
          </a:p>
          <a:p xmlns:a="http://schemas.openxmlformats.org/drawingml/2006/main">
            <a:r>
              <a:t>- https://www.penguinrandomhouse.com/books/234730/zero-to-one-by-peter-thiel-with-blake-masters/9780804139304/ — secrets in Zero to One</a:t>
            </a:r>
          </a:p>
          <a:p xmlns:a="http://schemas.openxmlformats.org/drawingml/2006/main">
            <a:r>
              <a:t>- https://www.axios.com/2025/08/07/dialog-secret-network-thiel-hoffman — Dialog’s origins and invitation-only structure</a:t>
            </a:r>
          </a:p>
          <a:p xmlns:a="http://schemas.openxmlformats.org/drawingml/2006/main">
            <a:r>
              <a:t>- https://www.wired.com/story/leak-exposes-members-of-peter-thiels-secretive-dialog-society/ — reporting on Dialog membership and opacity</a:t>
            </a:r>
          </a:p>
          <a:p xmlns:a="http://schemas.openxmlformats.org/drawingml/2006/main">
            <a:r>
              <a:t>- https://youtu.be/wwJV_NuN43Y?t=6499 — Thiel on advanced technological society, experts, intelligence agencies, and secrets around 1:48:19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Present this as the speaker’s interpretive lens, not a diagnosis. The Type 6 pattern helps organize visible behaviors: threat scanning, testing loyalty, building alliances, and using powerful systems to manage uncertainty. The counterphobic version can move toward danger and control rather than away from it. The provocative application is that an intense fear of surveillance may motivate systems that expand surveillance capacity. This lens may explain a pattern; it does not excuse consequences or prove motive.</a:t>
            </a:r>
          </a:p>
          <a:p xmlns:a="http://schemas.openxmlformats.org/drawingml/2006/main">
            <a:r>
              <a:t/>
            </a:r>
          </a:p>
          <a:p xmlns:a="http://schemas.openxmlformats.org/drawingml/2006/main">
            <a:r>
              <a:t>[Sources]</a:t>
            </a:r>
          </a:p>
          <a:p xmlns:a="http://schemas.openxmlformats.org/drawingml/2006/main">
            <a:r>
              <a:t>- Interpretation based on the presenter’s Enneagram framework; no public self-typing by Peter Thiel is claimed.</a:t>
            </a:r>
          </a:p>
          <a:p xmlns:a="http://schemas.openxmlformats.org/drawingml/2006/main">
            <a:r>
              <a:t>- https://www.hoover.org/node/91149 — Thiel’s public argument about centralization and AI</a:t>
            </a:r>
          </a:p>
          <a:p xmlns:a="http://schemas.openxmlformats.org/drawingml/2006/main">
            <a:r>
              <a:t>- https://nixonseminar.com/2021/04/the-nixon-seminar-april-6-2021-transcript/ — surveillance-society concern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Land on a distinction, not an acquittal. ‘Not a cartoon villain’ does not mean harmless, benevolent, or unaccountable. Evaluate intention, method, and institutional impact separately. The rebrand is not cosmetic. It is governance: state the positive goal, make safeguards legible, and invite scrutiny before concentrated power forces it. The final question remains open: can someone obsessed with freedom build powerful systems without building surveillance?</a:t>
            </a:r>
          </a:p>
          <a:p xmlns:a="http://schemas.openxmlformats.org/drawingml/2006/main">
            <a:r>
              <a:t/>
            </a:r>
          </a:p>
          <a:p xmlns:a="http://schemas.openxmlformats.org/drawingml/2006/main">
            <a:r>
              <a:t>[Sources]</a:t>
            </a:r>
          </a:p>
          <a:p xmlns:a="http://schemas.openxmlformats.org/drawingml/2006/main">
            <a:r>
              <a:t>- Synthesis and recommendations are the presenter’s analysis, built from the factual record cited throughout the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34a8f07dd03249d9"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67c50f6dea04379" Type="http://schemas.openxmlformats.org/officeDocument/2006/relationships/slideLayout" Target="../slideLayouts/slideLayout1.xml"/><Relationship Id="Re9aef073ca144206"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7c50f6dea043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d1e84e028bbc46ac" Type="http://schemas.openxmlformats.org/officeDocument/2006/relationships/image" Target="../media/image.jpeg"/><Relationship Id="Rd3c878f7f8704a87" Type="http://schemas.openxmlformats.org/officeDocument/2006/relationships/slideLayout" Target="../slideLayouts/slideLayout1.xml"/><Relationship Id="Reb8c14016b3941de"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8dd619255c554d11" Type="http://schemas.openxmlformats.org/officeDocument/2006/relationships/image" Target="../media/image2.jpeg"/><Relationship Id="R90b41a3f01c44da9" Type="http://schemas.openxmlformats.org/officeDocument/2006/relationships/hyperlink" Target="https://www.youtube.com/watch?v=kSHehMhSUq4" TargetMode="External"/><Relationship Id="Rb5183596ded84443" Type="http://schemas.openxmlformats.org/officeDocument/2006/relationships/slideLayout" Target="../slideLayouts/slideLayout1.xml"/><Relationship Id="Rfb866509a0d947b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6a63da477b3f4e10" Type="http://schemas.openxmlformats.org/officeDocument/2006/relationships/slideLayout" Target="../slideLayouts/slideLayout1.xml"/><Relationship Id="Re1b241fb727141be"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a300da5ee7d74119" Type="http://schemas.openxmlformats.org/officeDocument/2006/relationships/slideLayout" Target="../slideLayouts/slideLayout1.xml"/><Relationship Id="Re761c652dcf849f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53000b62a80b4b80" Type="http://schemas.openxmlformats.org/officeDocument/2006/relationships/notesSlide" Target="../notesSlides/notesSlide5.xml"/><Relationship Id="R5ee3a16997664abd"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14982439f4b842bd" Type="http://schemas.openxmlformats.org/officeDocument/2006/relationships/hyperlink" Target="https://youtu.be/kSHehMhSUq4?t=436" TargetMode="External"/><Relationship Id="R78d875bf1b3d4b0b" Type="http://schemas.openxmlformats.org/officeDocument/2006/relationships/notesSlide" Target="../notesSlides/notesSlide6.xml"/><Relationship Id="Rbd6922d2b5344ec6"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1e0d72347334416a" Type="http://schemas.openxmlformats.org/officeDocument/2006/relationships/notesSlide" Target="../notesSlides/notesSlide7.xml"/><Relationship Id="R45018c54ce3140a2" Type="http://schemas.openxmlformats.org/officeDocument/2006/relationships/slideLayout" Target="../slideLayouts/slideLayout1.xml"/><Relationship Id="Rac1b1da64b394dc6" Type="http://schemas.openxmlformats.org/officeDocument/2006/relationships/image" Target="../media/image3.jpeg"/></Relationships>
</file>

<file path=ppt/slides/_rels/slide8.xml.rels><?xml version='1.0' encoding='UTF-8' standalone='yes'?>
<Relationships xmlns="http://schemas.openxmlformats.org/package/2006/relationships"><Relationship Id="Rda1ca03dab0646f3" Type="http://schemas.openxmlformats.org/officeDocument/2006/relationships/notesSlide" Target="../notesSlides/notesSlide8.xml"/><Relationship Id="Rf319fb7b70ec48c6"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30f01347965549e4" Type="http://schemas.openxmlformats.org/officeDocument/2006/relationships/image" Target="../media/image4.jpeg"/><Relationship Id="Rbc9fad0d1f854f73" Type="http://schemas.openxmlformats.org/officeDocument/2006/relationships/slideLayout" Target="../slideLayouts/slideLayout1.xml"/><Relationship Id="Re804e0d5aa69434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986a92b753540a1" Type="http://schemas.openxmlformats.org/officeDocument/2006/relationships/slideLayout" Target="../slideLayouts/slideLayout1.xml"/><Relationship Id="R51d82eaa28e3482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9b9f52a75b1c43ef" Type="http://schemas.openxmlformats.org/officeDocument/2006/relationships/slideLayout" Target="../slideLayouts/slideLayout1.xml"/><Relationship Id="R9bff1c33f835477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8fec6551be1940b7" Type="http://schemas.openxmlformats.org/officeDocument/2006/relationships/slideLayout" Target="../slideLayouts/slideLayout1.xml"/><Relationship Id="Rf50afdd6ab1c4c6a"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c4de6675647434d" Type="http://schemas.openxmlformats.org/officeDocument/2006/relationships/notesSlide" Target="../notesSlides/notesSlide13.xml"/><Relationship Id="Ra7ae9518621b4db0"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1675e773a254402d" Type="http://schemas.openxmlformats.org/officeDocument/2006/relationships/notesSlide" Target="../notesSlides/notesSlide14.xml"/><Relationship Id="R79e6e5682800459f"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21d3ac6c1c6846db" Type="http://schemas.openxmlformats.org/officeDocument/2006/relationships/notesSlide" Target="../notesSlides/notesSlide15.xml"/><Relationship Id="Rc9a38d1f87394d30"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734c99d4e08e49d8" Type="http://schemas.openxmlformats.org/officeDocument/2006/relationships/slideLayout" Target="../slideLayouts/slideLayout1.xml"/><Relationship Id="R95d9e16f5ed44fb2" Type="http://schemas.openxmlformats.org/officeDocument/2006/relationships/notesSlide" Target="../notesSlides/notesSlide16.xml"/><Relationship Id="Rdcf5d0dcb9d3484d" Type="http://schemas.openxmlformats.org/officeDocument/2006/relationships/image" Target="../media/image5.jpeg"/></Relationships>
</file>

<file path=ppt/slides/_rels/slide17.xml.rels><?xml version='1.0' encoding='UTF-8' standalone='yes'?>
<Relationships xmlns="http://schemas.openxmlformats.org/package/2006/relationships"><Relationship Id="R8670f67d8798492e" Type="http://schemas.openxmlformats.org/officeDocument/2006/relationships/slideLayout" Target="../slideLayouts/slideLayout1.xml"/><Relationship Id="Rd1bb102f32e940af" Type="http://schemas.openxmlformats.org/officeDocument/2006/relationships/notesSlide" Target="../notesSlides/notesSlide17.xml"/><Relationship Id="Reb2ba6b3539f4986" Type="http://schemas.openxmlformats.org/officeDocument/2006/relationships/image" Target="../media/image6.jpeg"/></Relationships>
</file>

<file path=ppt/slides/_rels/slide18.xml.rels><?xml version='1.0' encoding='UTF-8' standalone='yes'?>
<Relationships xmlns="http://schemas.openxmlformats.org/package/2006/relationships"><Relationship Id="R3b2427fa1e184ea9" Type="http://schemas.openxmlformats.org/officeDocument/2006/relationships/notesSlide" Target="../notesSlides/notesSlide18.xml"/><Relationship Id="R9ab076d05191475b"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0088ae8a632049d5" Type="http://schemas.openxmlformats.org/officeDocument/2006/relationships/notesSlide" Target="../notesSlides/notesSlide19.xml"/><Relationship Id="R4313959ce43d4607" Type="http://schemas.openxmlformats.org/officeDocument/2006/relationships/hyperlink" Target="https://youtu.be/wwJV_NuN43Y?t=1982" TargetMode="External"/><Relationship Id="Rd47cadf65c6f4b4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94ead5e65c774c50" Type="http://schemas.openxmlformats.org/officeDocument/2006/relationships/notesSlide" Target="../notesSlides/notesSlide20.xml"/><Relationship Id="Re58f955204b8413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0f587bd5de584a70" Type="http://schemas.openxmlformats.org/officeDocument/2006/relationships/slideLayout" Target="../slideLayouts/slideLayout1.xml"/><Relationship Id="R63c72192f2f8443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1ae9ea7a353a4b5d" Type="http://schemas.openxmlformats.org/officeDocument/2006/relationships/slideLayout" Target="../slideLayouts/slideLayout1.xml"/><Relationship Id="Rf4cd259d9c81429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a00a824177684479" Type="http://schemas.openxmlformats.org/officeDocument/2006/relationships/slideLayout" Target="../slideLayouts/slideLayout1.xml"/><Relationship Id="Re44223e25cc04127" Type="http://schemas.openxmlformats.org/officeDocument/2006/relationships/notesSlide" Target="../notesSlides/notesSlide23.xml"/></Relationships>
</file>

<file path=ppt/slides/slide1.xml><?xml version="1.0" encoding="utf-8"?>
<p:sld xmlns:p="http://schemas.openxmlformats.org/presentationml/2006/main">
  <p:cSld>
    <p:bg>
      <p:bgPr>
        <a:solidFill xmlns:a="http://schemas.openxmlformats.org/drawingml/2006/main">
          <a:srgbClr val="05060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790A6F-8C3E-4EF6-B974-58BE6F213830}"/>
              </a:ext>
            </a:extLst>
          </p:cNvPr>
          <p:cNvSpPr>
            <a:spLocks xmlns:a="http://schemas.openxmlformats.org/drawingml/2006/main" noGrp="1"/>
          </p:cNvSpPr>
          <p:nvPr/>
        </p:nvSpPr>
        <p:spPr>
          <a:xfrm xmlns:a="http://schemas.openxmlformats.org/drawingml/2006/main">
            <a:off x="0" y="0"/>
            <a:ext cx="7143750" cy="6858000"/>
          </a:xfrm>
          <a:prstGeom xmlns:a="http://schemas.openxmlformats.org/drawingml/2006/main" prst="rect">
            <a:avLst/>
          </a:prstGeom>
          <a:solidFill xmlns:a="http://schemas.openxmlformats.org/drawingml/2006/main">
            <a:srgbClr val="05060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1e84e028bbc46ac"/>
          <a:srcRect xmlns:a="http://schemas.openxmlformats.org/drawingml/2006/main" l="0" t="3781" r="0" b="3781"/>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EF54A70-86B3-4CA8-A1A1-C401D870D1FA}"/>
              </a:ext>
            </a:extLst>
          </p:cNvPr>
          <p:cNvSpPr>
            <a:spLocks xmlns:a="http://schemas.openxmlformats.org/drawingml/2006/main" noGrp="1"/>
          </p:cNvSpPr>
          <p:nvPr/>
        </p:nvSpPr>
        <p:spPr>
          <a:xfrm xmlns:a="http://schemas.openxmlformats.org/drawingml/2006/main">
            <a:off x="457200" y="552450"/>
            <a:ext cx="571500" cy="57150"/>
          </a:xfrm>
          <a:prstGeom xmlns:a="http://schemas.openxmlformats.org/drawingml/2006/main" prst="rect">
            <a:avLst/>
          </a:prstGeom>
          <a:solidFill xmlns:a="http://schemas.openxmlformats.org/drawingml/2006/main">
            <a:srgbClr val="277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E2787CC-FEA8-4046-AC33-36A138B45136}"/>
              </a:ext>
            </a:extLst>
          </p:cNvPr>
          <p:cNvSpPr>
            <a:spLocks xmlns:a="http://schemas.openxmlformats.org/drawingml/2006/main" noGrp="1"/>
          </p:cNvSpPr>
          <p:nvPr/>
        </p:nvSpPr>
        <p:spPr>
          <a:xfrm xmlns:a="http://schemas.openxmlformats.org/drawingml/2006/main">
            <a:off x="457200" y="7810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62D2FF"/>
                </a:solidFill>
              </a:defRPr>
            </a:pPr>
            <a:r>
              <a:rPr sz="1125" b="1" i="0">
                <a:solidFill>
                  <a:srgbClr val="62D2FF"/>
                </a:solidFill>
              </a:rPr>
              <a:t>PETER THIEL</a:t>
            </a:r>
          </a:p>
        </p:txBody>
      </p:sp>
      <p:sp>
        <p:nvSpPr>
          <p:cNvPr id="5" name="">
            <a:extLst xmlns:a="http://schemas.openxmlformats.org/drawingml/2006/main">
              <a:ext uri="{FF2B5EF4-FFF2-40B4-BE49-F238E27FC236}">
                <a16:creationId xmlns:a16="http://schemas.microsoft.com/office/drawing/2014/main" id="{E7A56C55-7F3B-4270-89C0-C873856B73F7}"/>
              </a:ext>
            </a:extLst>
          </p:cNvPr>
          <p:cNvSpPr>
            <a:spLocks xmlns:a="http://schemas.openxmlformats.org/drawingml/2006/main" noGrp="1"/>
          </p:cNvSpPr>
          <p:nvPr/>
        </p:nvSpPr>
        <p:spPr>
          <a:xfrm xmlns:a="http://schemas.openxmlformats.org/drawingml/2006/main">
            <a:off x="457200" y="1390650"/>
            <a:ext cx="6286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1" i="0">
                <a:solidFill>
                  <a:srgbClr val="FFFFFF"/>
                </a:solidFill>
              </a:defRPr>
            </a:pPr>
            <a:r>
              <a:rPr sz="4950" b="1" i="0">
                <a:solidFill>
                  <a:srgbClr val="FFFFFF"/>
                </a:solidFill>
              </a:rPr>
              <a:t>Not a cartoon</a:t>
            </a:r>
          </a:p>
          <a:p xmlns:a="http://schemas.openxmlformats.org/drawingml/2006/main">
            <a:pPr algn="l">
              <a:defRPr sz="4950" b="1" i="0">
                <a:solidFill>
                  <a:srgbClr val="FFFFFF"/>
                </a:solidFill>
              </a:defRPr>
            </a:pPr>
            <a:r>
              <a:rPr sz="4950" b="1" i="0">
                <a:solidFill>
                  <a:srgbClr val="FFFFFF"/>
                </a:solidFill>
              </a:rPr>
              <a:t>villain.</a:t>
            </a:r>
          </a:p>
        </p:txBody>
      </p:sp>
      <p:sp>
        <p:nvSpPr>
          <p:cNvPr id="6" name="">
            <a:extLst xmlns:a="http://schemas.openxmlformats.org/drawingml/2006/main">
              <a:ext uri="{FF2B5EF4-FFF2-40B4-BE49-F238E27FC236}">
                <a16:creationId xmlns:a16="http://schemas.microsoft.com/office/drawing/2014/main" id="{3984D710-EA3B-4699-A0B4-0A239DCCC7CB}"/>
              </a:ext>
            </a:extLst>
          </p:cNvPr>
          <p:cNvSpPr>
            <a:spLocks xmlns:a="http://schemas.openxmlformats.org/drawingml/2006/main" noGrp="1"/>
          </p:cNvSpPr>
          <p:nvPr/>
        </p:nvSpPr>
        <p:spPr>
          <a:xfrm xmlns:a="http://schemas.openxmlformats.org/drawingml/2006/main">
            <a:off x="495300" y="3314700"/>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0" i="0">
                <a:solidFill>
                  <a:srgbClr val="B9C3CE"/>
                </a:solidFill>
              </a:defRPr>
            </a:pPr>
            <a:r>
              <a:rPr sz="2100" b="0" i="0">
                <a:solidFill>
                  <a:srgbClr val="B9C3CE"/>
                </a:solidFill>
              </a:rPr>
              <a:t>Secrets, fear, and the architecture of power</a:t>
            </a:r>
          </a:p>
        </p:txBody>
      </p:sp>
      <p:sp>
        <p:nvSpPr>
          <p:cNvPr id="7" name="">
            <a:extLst xmlns:a="http://schemas.openxmlformats.org/drawingml/2006/main">
              <a:ext uri="{FF2B5EF4-FFF2-40B4-BE49-F238E27FC236}">
                <a16:creationId xmlns:a16="http://schemas.microsoft.com/office/drawing/2014/main" id="{385EF0CD-01BE-41DB-BEBD-EBC0DA89951A}"/>
              </a:ext>
            </a:extLst>
          </p:cNvPr>
          <p:cNvSpPr>
            <a:spLocks xmlns:a="http://schemas.openxmlformats.org/drawingml/2006/main" noGrp="1"/>
          </p:cNvSpPr>
          <p:nvPr/>
        </p:nvSpPr>
        <p:spPr>
          <a:xfrm xmlns:a="http://schemas.openxmlformats.org/drawingml/2006/main">
            <a:off x="495300" y="5562600"/>
            <a:ext cx="581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7E8996"/>
                </a:solidFill>
              </a:defRPr>
            </a:pPr>
            <a:r>
              <a:rPr sz="1200" b="0" i="0">
                <a:solidFill>
                  <a:srgbClr val="7E8996"/>
                </a:solidFill>
              </a:rPr>
              <a:t>A personal inquiry — fact, interpretation, and lore kept separate</a:t>
            </a:r>
          </a:p>
        </p:txBody>
      </p:sp>
      <p:sp>
        <p:nvSpPr>
          <p:cNvPr id="8" name="">
            <a:extLst xmlns:a="http://schemas.openxmlformats.org/drawingml/2006/main">
              <a:ext uri="{FF2B5EF4-FFF2-40B4-BE49-F238E27FC236}">
                <a16:creationId xmlns:a16="http://schemas.microsoft.com/office/drawing/2014/main" id="{7823AC40-A1DB-4A6D-A05D-1C6FA9A584F7}"/>
              </a:ext>
            </a:extLst>
          </p:cNvPr>
          <p:cNvSpPr>
            <a:spLocks xmlns:a="http://schemas.openxmlformats.org/drawingml/2006/main" noGrp="1"/>
          </p:cNvSpPr>
          <p:nvPr/>
        </p:nvSpPr>
        <p:spPr>
          <a:xfrm xmlns:a="http://schemas.openxmlformats.org/drawingml/2006/main">
            <a:off x="6477000" y="63436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65707D"/>
                </a:solidFill>
              </a:defRPr>
            </a:pPr>
            <a:r>
              <a:rPr sz="750" b="1" i="0">
                <a:solidFill>
                  <a:srgbClr val="65707D"/>
                </a:solidFill>
              </a:rPr>
              <a:t>01</a:t>
            </a:r>
          </a:p>
        </p:txBody>
      </p:sp>
    </p:spTree>
    <p:extLst>
      <p:ext uri="{BB962C8B-B14F-4D97-AF65-F5344CB8AC3E}">
        <p14:creationId xmlns:p14="http://schemas.microsoft.com/office/powerpoint/2010/main" val="12993864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B22056A-44E9-4F55-8187-89D961AC5F85}"/>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ORIGIN STORY</a:t>
            </a:r>
          </a:p>
        </p:txBody>
      </p:sp>
      <p:sp>
        <p:nvSpPr>
          <p:cNvPr id="2" name="slide-title">
            <a:extLst xmlns:a="http://schemas.openxmlformats.org/drawingml/2006/main">
              <a:ext uri="{FF2B5EF4-FFF2-40B4-BE49-F238E27FC236}">
                <a16:creationId xmlns:a16="http://schemas.microsoft.com/office/drawing/2014/main" id="{C4E6F993-1E56-46F2-A18B-596F548ABE64}"/>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I met Thiel through Tim Ferriss—and memory blurred the cast.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dd619255c554d11"/>
          <a:srcRect xmlns:a="http://schemas.openxmlformats.org/drawingml/2006/main" l="0" t="36" r="0" b="36"/>
          <a:stretch xmlns:a="http://schemas.openxmlformats.org/drawingml/2006/main">
            <a:fillRect l="0" t="0" r="0" b="0"/>
          </a:stretch>
        </p:blipFill>
        <p:spPr>
          <a:xfrm xmlns:a="http://schemas.openxmlformats.org/drawingml/2006/main">
            <a:off x="457200" y="1581150"/>
            <a:ext cx="3143250" cy="4324350"/>
          </a:xfrm>
          <a:prstGeom xmlns:a="http://schemas.openxmlformats.org/drawingml/2006/main" prst="roundRect">
            <a:avLst>
              <a:gd name="adj" fmla="val 4848"/>
            </a:avLst>
          </a:prstGeom>
        </p:spPr>
      </p:pic>
      <p:sp>
        <p:nvSpPr>
          <p:cNvPr id="4" name="">
            <a:extLst xmlns:a="http://schemas.openxmlformats.org/drawingml/2006/main">
              <a:ext uri="{FF2B5EF4-FFF2-40B4-BE49-F238E27FC236}">
                <a16:creationId xmlns:a16="http://schemas.microsoft.com/office/drawing/2014/main" id="{CE8EB749-F734-4936-A0F1-96138EBCDE89}"/>
              </a:ext>
            </a:extLst>
          </p:cNvPr>
          <p:cNvSpPr>
            <a:spLocks xmlns:a="http://schemas.openxmlformats.org/drawingml/2006/main" noGrp="1"/>
          </p:cNvSpPr>
          <p:nvPr/>
        </p:nvSpPr>
        <p:spPr>
          <a:xfrm xmlns:a="http://schemas.openxmlformats.org/drawingml/2006/main">
            <a:off x="3943350" y="1695450"/>
            <a:ext cx="1181100" cy="304800"/>
          </a:xfrm>
          <a:prstGeom xmlns:a="http://schemas.openxmlformats.org/drawingml/2006/main" prst="roundRect">
            <a:avLst>
              <a:gd name="adj" fmla="val 50000"/>
            </a:avLst>
          </a:prstGeom>
          <a:solidFill xmlns:a="http://schemas.openxmlformats.org/drawingml/2006/main">
            <a:srgbClr val="E9F2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86D3A40-2003-47A9-BCC2-526BC86DB6B9}"/>
              </a:ext>
            </a:extLst>
          </p:cNvPr>
          <p:cNvSpPr>
            <a:spLocks xmlns:a="http://schemas.openxmlformats.org/drawingml/2006/main" noGrp="1"/>
          </p:cNvSpPr>
          <p:nvPr/>
        </p:nvSpPr>
        <p:spPr>
          <a:xfrm xmlns:a="http://schemas.openxmlformats.org/drawingml/2006/main">
            <a:off x="4038600" y="1714500"/>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277DFF"/>
                </a:solidFill>
              </a:defRPr>
            </a:pPr>
            <a:r>
              <a:rPr sz="975" b="1" i="0">
                <a:solidFill>
                  <a:srgbClr val="277DFF"/>
                </a:solidFill>
              </a:rPr>
              <a:t>SEP 9, 2014</a:t>
            </a:r>
          </a:p>
        </p:txBody>
      </p:sp>
      <p:sp>
        <p:nvSpPr>
          <p:cNvPr id="6" name="">
            <a:extLst xmlns:a="http://schemas.openxmlformats.org/drawingml/2006/main">
              <a:ext uri="{FF2B5EF4-FFF2-40B4-BE49-F238E27FC236}">
                <a16:creationId xmlns:a16="http://schemas.microsoft.com/office/drawing/2014/main" id="{5F3AA243-7BC7-4D03-A869-2823D12F101C}"/>
              </a:ext>
            </a:extLst>
          </p:cNvPr>
          <p:cNvSpPr>
            <a:spLocks xmlns:a="http://schemas.openxmlformats.org/drawingml/2006/main" noGrp="1"/>
          </p:cNvSpPr>
          <p:nvPr/>
        </p:nvSpPr>
        <p:spPr>
          <a:xfrm xmlns:a="http://schemas.openxmlformats.org/drawingml/2006/main">
            <a:off x="8572500" y="171450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277DFF"/>
                </a:solidFill>
              </a:defRPr>
            </a:pPr>
            <a:r>
              <a:rPr sz="825" b="1" i="0" u="sng">
                <a:solidFill>
                  <a:srgbClr val="277DFF"/>
                </a:solidFill>
                <a:hlinkClick xmlns:r="http://schemas.openxmlformats.org/officeDocument/2006/relationships" r:id="R90b41a3f01c44da9"/>
              </a:rPr>
              <a:t>COPY UPLOADED · JUL 7, 2026</a:t>
            </a:r>
          </a:p>
        </p:txBody>
      </p:sp>
      <p:sp>
        <p:nvSpPr>
          <p:cNvPr id="7" name="">
            <a:extLst xmlns:a="http://schemas.openxmlformats.org/drawingml/2006/main">
              <a:ext uri="{FF2B5EF4-FFF2-40B4-BE49-F238E27FC236}">
                <a16:creationId xmlns:a16="http://schemas.microsoft.com/office/drawing/2014/main" id="{EDC26B42-4978-4218-8AF4-9124C725B1D5}"/>
              </a:ext>
            </a:extLst>
          </p:cNvPr>
          <p:cNvSpPr>
            <a:spLocks xmlns:a="http://schemas.openxmlformats.org/drawingml/2006/main" noGrp="1"/>
          </p:cNvSpPr>
          <p:nvPr/>
        </p:nvSpPr>
        <p:spPr>
          <a:xfrm xmlns:a="http://schemas.openxmlformats.org/drawingml/2006/main">
            <a:off x="3943350" y="2114550"/>
            <a:ext cx="695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i="0">
                <a:solidFill>
                  <a:srgbClr val="101318"/>
                </a:solidFill>
              </a:defRPr>
            </a:pPr>
            <a:r>
              <a:rPr sz="2025" b="1" i="0">
                <a:solidFill>
                  <a:srgbClr val="101318"/>
                </a:solidFill>
              </a:rPr>
              <a:t>Ferriss publishes his Peter Thiel interview</a:t>
            </a:r>
          </a:p>
        </p:txBody>
      </p:sp>
      <p:sp>
        <p:nvSpPr>
          <p:cNvPr id="8" name="">
            <a:extLst xmlns:a="http://schemas.openxmlformats.org/drawingml/2006/main">
              <a:ext uri="{FF2B5EF4-FFF2-40B4-BE49-F238E27FC236}">
                <a16:creationId xmlns:a16="http://schemas.microsoft.com/office/drawing/2014/main" id="{11B9A8EA-30E1-4BFA-856A-84BEE183F2CD}"/>
              </a:ext>
            </a:extLst>
          </p:cNvPr>
          <p:cNvSpPr>
            <a:spLocks xmlns:a="http://schemas.openxmlformats.org/drawingml/2006/main" noGrp="1"/>
          </p:cNvSpPr>
          <p:nvPr/>
        </p:nvSpPr>
        <p:spPr>
          <a:xfrm xmlns:a="http://schemas.openxmlformats.org/drawingml/2006/main">
            <a:off x="3943350" y="2647950"/>
            <a:ext cx="6896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68717D"/>
                </a:solidFill>
              </a:defRPr>
            </a:pPr>
            <a:r>
              <a:rPr sz="1500" b="0" i="0">
                <a:solidFill>
                  <a:srgbClr val="68717D"/>
                </a:solidFill>
              </a:rPr>
              <a:t>The startup question lands: how does one person keep spotting important companies early?</a:t>
            </a:r>
          </a:p>
        </p:txBody>
      </p:sp>
      <p:sp>
        <p:nvSpPr>
          <p:cNvPr id="9" name="">
            <a:extLst xmlns:a="http://schemas.openxmlformats.org/drawingml/2006/main">
              <a:ext uri="{FF2B5EF4-FFF2-40B4-BE49-F238E27FC236}">
                <a16:creationId xmlns:a16="http://schemas.microsoft.com/office/drawing/2014/main" id="{6918A04D-CF48-4E9D-BDCE-BD04E183DD4A}"/>
              </a:ext>
            </a:extLst>
          </p:cNvPr>
          <p:cNvSpPr>
            <a:spLocks xmlns:a="http://schemas.openxmlformats.org/drawingml/2006/main" noGrp="1"/>
          </p:cNvSpPr>
          <p:nvPr/>
        </p:nvSpPr>
        <p:spPr>
          <a:xfrm xmlns:a="http://schemas.openxmlformats.org/drawingml/2006/main">
            <a:off x="3943350" y="3695700"/>
            <a:ext cx="1181100" cy="304800"/>
          </a:xfrm>
          <a:prstGeom xmlns:a="http://schemas.openxmlformats.org/drawingml/2006/main" prst="roundRect">
            <a:avLst>
              <a:gd name="adj" fmla="val 50000"/>
            </a:avLst>
          </a:prstGeom>
          <a:solidFill xmlns:a="http://schemas.openxmlformats.org/drawingml/2006/main">
            <a:srgbClr val="F2F5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C5C8B76-604D-4752-8D30-C08C700AAD04}"/>
              </a:ext>
            </a:extLst>
          </p:cNvPr>
          <p:cNvSpPr>
            <a:spLocks xmlns:a="http://schemas.openxmlformats.org/drawingml/2006/main" noGrp="1"/>
          </p:cNvSpPr>
          <p:nvPr/>
        </p:nvSpPr>
        <p:spPr>
          <a:xfrm xmlns:a="http://schemas.openxmlformats.org/drawingml/2006/main">
            <a:off x="4038600" y="3714750"/>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242A32"/>
                </a:solidFill>
              </a:defRPr>
            </a:pPr>
            <a:r>
              <a:rPr sz="975" b="1" i="0">
                <a:solidFill>
                  <a:srgbClr val="242A32"/>
                </a:solidFill>
              </a:rPr>
              <a:t>DEC 6, 2016</a:t>
            </a:r>
          </a:p>
        </p:txBody>
      </p:sp>
      <p:sp>
        <p:nvSpPr>
          <p:cNvPr id="11" name="">
            <a:extLst xmlns:a="http://schemas.openxmlformats.org/drawingml/2006/main">
              <a:ext uri="{FF2B5EF4-FFF2-40B4-BE49-F238E27FC236}">
                <a16:creationId xmlns:a16="http://schemas.microsoft.com/office/drawing/2014/main" id="{4C79DEE1-6907-4A3A-86F4-2A063A918880}"/>
              </a:ext>
            </a:extLst>
          </p:cNvPr>
          <p:cNvSpPr>
            <a:spLocks xmlns:a="http://schemas.openxmlformats.org/drawingml/2006/main" noGrp="1"/>
          </p:cNvSpPr>
          <p:nvPr/>
        </p:nvSpPr>
        <p:spPr>
          <a:xfrm xmlns:a="http://schemas.openxmlformats.org/drawingml/2006/main">
            <a:off x="3943350" y="409575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101318"/>
                </a:solidFill>
              </a:defRPr>
            </a:pPr>
            <a:r>
              <a:rPr sz="1875" b="1" i="0">
                <a:solidFill>
                  <a:srgbClr val="101318"/>
                </a:solidFill>
              </a:rPr>
              <a:t>Tools of Titans is published</a:t>
            </a:r>
          </a:p>
        </p:txBody>
      </p:sp>
      <p:sp>
        <p:nvSpPr>
          <p:cNvPr id="12" name="">
            <a:extLst xmlns:a="http://schemas.openxmlformats.org/drawingml/2006/main">
              <a:ext uri="{FF2B5EF4-FFF2-40B4-BE49-F238E27FC236}">
                <a16:creationId xmlns:a16="http://schemas.microsoft.com/office/drawing/2014/main" id="{BE61F5C1-72D5-4DAB-8B4F-493BCD4A2409}"/>
              </a:ext>
            </a:extLst>
          </p:cNvPr>
          <p:cNvSpPr>
            <a:spLocks xmlns:a="http://schemas.openxmlformats.org/drawingml/2006/main" noGrp="1"/>
          </p:cNvSpPr>
          <p:nvPr/>
        </p:nvSpPr>
        <p:spPr>
          <a:xfrm xmlns:a="http://schemas.openxmlformats.org/drawingml/2006/main">
            <a:off x="3943350" y="4819650"/>
            <a:ext cx="7296150" cy="1085850"/>
          </a:xfrm>
          <a:prstGeom xmlns:a="http://schemas.openxmlformats.org/drawingml/2006/main" prst="roundRect">
            <a:avLst>
              <a:gd name="adj" fmla="val 10526"/>
            </a:avLst>
          </a:prstGeom>
          <a:solidFill xmlns:a="http://schemas.openxmlformats.org/drawingml/2006/main">
            <a:srgbClr val="FFF0E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3612486-4253-47C8-BE5C-282096B715F4}"/>
              </a:ext>
            </a:extLst>
          </p:cNvPr>
          <p:cNvSpPr>
            <a:spLocks xmlns:a="http://schemas.openxmlformats.org/drawingml/2006/main" noGrp="1"/>
          </p:cNvSpPr>
          <p:nvPr/>
        </p:nvSpPr>
        <p:spPr>
          <a:xfrm xmlns:a="http://schemas.openxmlformats.org/drawingml/2006/main">
            <a:off x="4152900" y="49720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FF8A3D"/>
                </a:solidFill>
              </a:defRPr>
            </a:pPr>
            <a:r>
              <a:rPr sz="975" b="1" i="0">
                <a:solidFill>
                  <a:srgbClr val="FF8A3D"/>
                </a:solidFill>
              </a:rPr>
              <a:t>CORRECTION</a:t>
            </a:r>
          </a:p>
        </p:txBody>
      </p:sp>
      <p:sp>
        <p:nvSpPr>
          <p:cNvPr id="14" name="">
            <a:extLst xmlns:a="http://schemas.openxmlformats.org/drawingml/2006/main">
              <a:ext uri="{FF2B5EF4-FFF2-40B4-BE49-F238E27FC236}">
                <a16:creationId xmlns:a16="http://schemas.microsoft.com/office/drawing/2014/main" id="{F8C6ABD4-E1AB-4D47-A877-6745A5E62397}"/>
              </a:ext>
            </a:extLst>
          </p:cNvPr>
          <p:cNvSpPr>
            <a:spLocks xmlns:a="http://schemas.openxmlformats.org/drawingml/2006/main" noGrp="1"/>
          </p:cNvSpPr>
          <p:nvPr/>
        </p:nvSpPr>
        <p:spPr>
          <a:xfrm xmlns:a="http://schemas.openxmlformats.org/drawingml/2006/main">
            <a:off x="4152900" y="5238750"/>
            <a:ext cx="672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101318"/>
                </a:solidFill>
              </a:defRPr>
            </a:pPr>
            <a:r>
              <a:rPr sz="1575" b="1" i="0">
                <a:solidFill>
                  <a:srgbClr val="101318"/>
                </a:solidFill>
              </a:rPr>
              <a:t>“Oracle of Silicon Valley” referred to Reid Hoffman—not Thiel.</a:t>
            </a:r>
          </a:p>
        </p:txBody>
      </p:sp>
      <p:sp>
        <p:nvSpPr>
          <p:cNvPr id="15" name="">
            <a:extLst xmlns:a="http://schemas.openxmlformats.org/drawingml/2006/main">
              <a:ext uri="{FF2B5EF4-FFF2-40B4-BE49-F238E27FC236}">
                <a16:creationId xmlns:a16="http://schemas.microsoft.com/office/drawing/2014/main" id="{BB059026-769C-41CD-BAE1-931F10C9D163}"/>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DE121B6-3611-4762-BF21-8650E8D8A596}"/>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17" name="">
            <a:extLst xmlns:a="http://schemas.openxmlformats.org/drawingml/2006/main">
              <a:ext uri="{FF2B5EF4-FFF2-40B4-BE49-F238E27FC236}">
                <a16:creationId xmlns:a16="http://schemas.microsoft.com/office/drawing/2014/main" id="{B42DA2A4-75A0-4CA3-84BA-CC39B99A2A86}"/>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02</a:t>
            </a:r>
          </a:p>
        </p:txBody>
      </p:sp>
    </p:spTree>
    <p:extLst>
      <p:ext uri="{BB962C8B-B14F-4D97-AF65-F5344CB8AC3E}">
        <p14:creationId xmlns:p14="http://schemas.microsoft.com/office/powerpoint/2010/main" val="1279582174"/>
      </p:ext>
    </p:extLst>
  </p:cSld>
</p:sld>
</file>

<file path=ppt/slides/slide3.xml><?xml version="1.0" encoding="utf-8"?>
<p:sld xmlns:p="http://schemas.openxmlformats.org/presentationml/2006/main">
  <p:cSld>
    <p:bg>
      <p:bgPr>
        <a:solidFill xmlns:a="http://schemas.openxmlformats.org/drawingml/2006/main">
          <a:srgbClr val="F2F5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074F4F2-0E1E-420D-9452-77ABEBD40771}"/>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THE REAL QUESTION</a:t>
            </a:r>
          </a:p>
        </p:txBody>
      </p:sp>
      <p:sp>
        <p:nvSpPr>
          <p:cNvPr id="2" name="slide-title">
            <a:extLst xmlns:a="http://schemas.openxmlformats.org/drawingml/2006/main">
              <a:ext uri="{FF2B5EF4-FFF2-40B4-BE49-F238E27FC236}">
                <a16:creationId xmlns:a16="http://schemas.microsoft.com/office/drawing/2014/main" id="{CFE93554-BDF9-4C08-9624-84ECA308F88E}"/>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What is his method for seeing around corners?</a:t>
            </a:r>
          </a:p>
        </p:txBody>
      </p:sp>
      <p:sp>
        <p:nvSpPr>
          <p:cNvPr id="3" name="">
            <a:extLst xmlns:a="http://schemas.openxmlformats.org/drawingml/2006/main">
              <a:ext uri="{FF2B5EF4-FFF2-40B4-BE49-F238E27FC236}">
                <a16:creationId xmlns:a16="http://schemas.microsoft.com/office/drawing/2014/main" id="{55C49F12-A6C7-43BB-9BB6-780D934CC6BC}"/>
              </a:ext>
            </a:extLst>
          </p:cNvPr>
          <p:cNvSpPr>
            <a:spLocks xmlns:a="http://schemas.openxmlformats.org/drawingml/2006/main" noGrp="1"/>
          </p:cNvSpPr>
          <p:nvPr/>
        </p:nvSpPr>
        <p:spPr>
          <a:xfrm xmlns:a="http://schemas.openxmlformats.org/drawingml/2006/main">
            <a:off x="457200" y="1657350"/>
            <a:ext cx="3409950" cy="3143250"/>
          </a:xfrm>
          <a:prstGeom xmlns:a="http://schemas.openxmlformats.org/drawingml/2006/main" prst="roundRect">
            <a:avLst>
              <a:gd name="adj" fmla="val 4469"/>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F32B0DF-66B7-4913-8EBB-B09DECA7498F}"/>
              </a:ext>
            </a:extLst>
          </p:cNvPr>
          <p:cNvSpPr>
            <a:spLocks xmlns:a="http://schemas.openxmlformats.org/drawingml/2006/main" noGrp="1"/>
          </p:cNvSpPr>
          <p:nvPr/>
        </p:nvSpPr>
        <p:spPr>
          <a:xfrm xmlns:a="http://schemas.openxmlformats.org/drawingml/2006/main">
            <a:off x="666750" y="1828800"/>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277DFF"/>
                </a:solidFill>
              </a:defRPr>
            </a:pPr>
            <a:r>
              <a:rPr sz="1125" b="1" i="0">
                <a:solidFill>
                  <a:srgbClr val="277DFF"/>
                </a:solidFill>
              </a:rPr>
              <a:t>01</a:t>
            </a:r>
          </a:p>
        </p:txBody>
      </p:sp>
      <p:sp>
        <p:nvSpPr>
          <p:cNvPr id="5" name="">
            <a:extLst xmlns:a="http://schemas.openxmlformats.org/drawingml/2006/main">
              <a:ext uri="{FF2B5EF4-FFF2-40B4-BE49-F238E27FC236}">
                <a16:creationId xmlns:a16="http://schemas.microsoft.com/office/drawing/2014/main" id="{20DD4757-BF00-433F-A184-72A9392FCD23}"/>
              </a:ext>
            </a:extLst>
          </p:cNvPr>
          <p:cNvSpPr>
            <a:spLocks xmlns:a="http://schemas.openxmlformats.org/drawingml/2006/main" noGrp="1"/>
          </p:cNvSpPr>
          <p:nvPr/>
        </p:nvSpPr>
        <p:spPr>
          <a:xfrm xmlns:a="http://schemas.openxmlformats.org/drawingml/2006/main">
            <a:off x="666750" y="2152650"/>
            <a:ext cx="2990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01318"/>
                </a:solidFill>
              </a:defRPr>
            </a:pPr>
            <a:r>
              <a:rPr sz="1650" b="1" i="0">
                <a:solidFill>
                  <a:srgbClr val="101318"/>
                </a:solidFill>
              </a:rPr>
              <a:t>Secrets</a:t>
            </a:r>
          </a:p>
        </p:txBody>
      </p:sp>
      <p:sp>
        <p:nvSpPr>
          <p:cNvPr id="6" name="">
            <a:extLst xmlns:a="http://schemas.openxmlformats.org/drawingml/2006/main">
              <a:ext uri="{FF2B5EF4-FFF2-40B4-BE49-F238E27FC236}">
                <a16:creationId xmlns:a16="http://schemas.microsoft.com/office/drawing/2014/main" id="{7843F209-BF1E-4894-9BC2-F8B153D485CE}"/>
              </a:ext>
            </a:extLst>
          </p:cNvPr>
          <p:cNvSpPr>
            <a:spLocks xmlns:a="http://schemas.openxmlformats.org/drawingml/2006/main" noGrp="1"/>
          </p:cNvSpPr>
          <p:nvPr/>
        </p:nvSpPr>
        <p:spPr>
          <a:xfrm xmlns:a="http://schemas.openxmlformats.org/drawingml/2006/main">
            <a:off x="666750" y="2647950"/>
            <a:ext cx="29908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68717D"/>
                </a:solidFill>
              </a:defRPr>
            </a:pPr>
            <a:r>
              <a:rPr sz="1200" b="0" i="0">
                <a:solidFill>
                  <a:srgbClr val="68717D"/>
                </a:solidFill>
              </a:rPr>
              <a:t>Look for truths that are important, defensible—and still unpopular.</a:t>
            </a:r>
          </a:p>
        </p:txBody>
      </p:sp>
      <p:sp>
        <p:nvSpPr>
          <p:cNvPr id="7" name="">
            <a:extLst xmlns:a="http://schemas.openxmlformats.org/drawingml/2006/main">
              <a:ext uri="{FF2B5EF4-FFF2-40B4-BE49-F238E27FC236}">
                <a16:creationId xmlns:a16="http://schemas.microsoft.com/office/drawing/2014/main" id="{FBB6D9FF-ACFD-422A-AAD7-3F1040D95BDD}"/>
              </a:ext>
            </a:extLst>
          </p:cNvPr>
          <p:cNvSpPr>
            <a:spLocks xmlns:a="http://schemas.openxmlformats.org/drawingml/2006/main" noGrp="1"/>
          </p:cNvSpPr>
          <p:nvPr/>
        </p:nvSpPr>
        <p:spPr>
          <a:xfrm xmlns:a="http://schemas.openxmlformats.org/drawingml/2006/main">
            <a:off x="4391025" y="1657350"/>
            <a:ext cx="3409950" cy="3143250"/>
          </a:xfrm>
          <a:prstGeom xmlns:a="http://schemas.openxmlformats.org/drawingml/2006/main" prst="roundRect">
            <a:avLst>
              <a:gd name="adj" fmla="val 4469"/>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A0432C8-1968-407F-B7A1-1CD2DC20A64F}"/>
              </a:ext>
            </a:extLst>
          </p:cNvPr>
          <p:cNvSpPr>
            <a:spLocks xmlns:a="http://schemas.openxmlformats.org/drawingml/2006/main" noGrp="1"/>
          </p:cNvSpPr>
          <p:nvPr/>
        </p:nvSpPr>
        <p:spPr>
          <a:xfrm xmlns:a="http://schemas.openxmlformats.org/drawingml/2006/main">
            <a:off x="4600575" y="1828800"/>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277DFF"/>
                </a:solidFill>
              </a:defRPr>
            </a:pPr>
            <a:r>
              <a:rPr sz="1125" b="1" i="0">
                <a:solidFill>
                  <a:srgbClr val="277DFF"/>
                </a:solidFill>
              </a:rPr>
              <a:t>02</a:t>
            </a:r>
          </a:p>
        </p:txBody>
      </p:sp>
      <p:sp>
        <p:nvSpPr>
          <p:cNvPr id="9" name="">
            <a:extLst xmlns:a="http://schemas.openxmlformats.org/drawingml/2006/main">
              <a:ext uri="{FF2B5EF4-FFF2-40B4-BE49-F238E27FC236}">
                <a16:creationId xmlns:a16="http://schemas.microsoft.com/office/drawing/2014/main" id="{2FB73775-1131-4048-A0FB-EEA3D8A4E538}"/>
              </a:ext>
            </a:extLst>
          </p:cNvPr>
          <p:cNvSpPr>
            <a:spLocks xmlns:a="http://schemas.openxmlformats.org/drawingml/2006/main" noGrp="1"/>
          </p:cNvSpPr>
          <p:nvPr/>
        </p:nvSpPr>
        <p:spPr>
          <a:xfrm xmlns:a="http://schemas.openxmlformats.org/drawingml/2006/main">
            <a:off x="4600575" y="2152650"/>
            <a:ext cx="2990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01318"/>
                </a:solidFill>
              </a:defRPr>
            </a:pPr>
            <a:r>
              <a:rPr sz="1650" b="1" i="0">
                <a:solidFill>
                  <a:srgbClr val="101318"/>
                </a:solidFill>
              </a:rPr>
              <a:t>Founder conviction</a:t>
            </a:r>
          </a:p>
        </p:txBody>
      </p:sp>
      <p:sp>
        <p:nvSpPr>
          <p:cNvPr id="10" name="">
            <a:extLst xmlns:a="http://schemas.openxmlformats.org/drawingml/2006/main">
              <a:ext uri="{FF2B5EF4-FFF2-40B4-BE49-F238E27FC236}">
                <a16:creationId xmlns:a16="http://schemas.microsoft.com/office/drawing/2014/main" id="{41B1C087-B9B0-4AC8-8FF7-565E0DCD2A2F}"/>
              </a:ext>
            </a:extLst>
          </p:cNvPr>
          <p:cNvSpPr>
            <a:spLocks xmlns:a="http://schemas.openxmlformats.org/drawingml/2006/main" noGrp="1"/>
          </p:cNvSpPr>
          <p:nvPr/>
        </p:nvSpPr>
        <p:spPr>
          <a:xfrm xmlns:a="http://schemas.openxmlformats.org/drawingml/2006/main">
            <a:off x="4600575" y="2647950"/>
            <a:ext cx="29908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68717D"/>
                </a:solidFill>
              </a:defRPr>
            </a:pPr>
            <a:r>
              <a:rPr sz="1200" b="0" i="0">
                <a:solidFill>
                  <a:srgbClr val="68717D"/>
                </a:solidFill>
              </a:rPr>
              <a:t>Back people whose vision survives the pressure to conform, sell, or retreat.</a:t>
            </a:r>
          </a:p>
        </p:txBody>
      </p:sp>
      <p:sp>
        <p:nvSpPr>
          <p:cNvPr id="11" name="">
            <a:extLst xmlns:a="http://schemas.openxmlformats.org/drawingml/2006/main">
              <a:ext uri="{FF2B5EF4-FFF2-40B4-BE49-F238E27FC236}">
                <a16:creationId xmlns:a16="http://schemas.microsoft.com/office/drawing/2014/main" id="{DD72C9BA-EF76-46AD-A30C-3BF5C511ACD6}"/>
              </a:ext>
            </a:extLst>
          </p:cNvPr>
          <p:cNvSpPr>
            <a:spLocks xmlns:a="http://schemas.openxmlformats.org/drawingml/2006/main" noGrp="1"/>
          </p:cNvSpPr>
          <p:nvPr/>
        </p:nvSpPr>
        <p:spPr>
          <a:xfrm xmlns:a="http://schemas.openxmlformats.org/drawingml/2006/main">
            <a:off x="8324850" y="1657350"/>
            <a:ext cx="3409950" cy="3143250"/>
          </a:xfrm>
          <a:prstGeom xmlns:a="http://schemas.openxmlformats.org/drawingml/2006/main" prst="roundRect">
            <a:avLst>
              <a:gd name="adj" fmla="val 4469"/>
            </a:avLst>
          </a:prstGeom>
          <a:solidFill xmlns:a="http://schemas.openxmlformats.org/drawingml/2006/main">
            <a:srgbClr val="10131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BA1BFB6-657A-4B19-B203-562136F173D5}"/>
              </a:ext>
            </a:extLst>
          </p:cNvPr>
          <p:cNvSpPr>
            <a:spLocks xmlns:a="http://schemas.openxmlformats.org/drawingml/2006/main" noGrp="1"/>
          </p:cNvSpPr>
          <p:nvPr/>
        </p:nvSpPr>
        <p:spPr>
          <a:xfrm xmlns:a="http://schemas.openxmlformats.org/drawingml/2006/main">
            <a:off x="8534400" y="1828800"/>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62D2FF"/>
                </a:solidFill>
              </a:defRPr>
            </a:pPr>
            <a:r>
              <a:rPr sz="1125" b="1" i="0">
                <a:solidFill>
                  <a:srgbClr val="62D2FF"/>
                </a:solidFill>
              </a:rPr>
              <a:t>03</a:t>
            </a:r>
          </a:p>
        </p:txBody>
      </p:sp>
      <p:sp>
        <p:nvSpPr>
          <p:cNvPr id="13" name="">
            <a:extLst xmlns:a="http://schemas.openxmlformats.org/drawingml/2006/main">
              <a:ext uri="{FF2B5EF4-FFF2-40B4-BE49-F238E27FC236}">
                <a16:creationId xmlns:a16="http://schemas.microsoft.com/office/drawing/2014/main" id="{7C60E058-75FA-46F1-9AF7-E1FC5267544B}"/>
              </a:ext>
            </a:extLst>
          </p:cNvPr>
          <p:cNvSpPr>
            <a:spLocks xmlns:a="http://schemas.openxmlformats.org/drawingml/2006/main" noGrp="1"/>
          </p:cNvSpPr>
          <p:nvPr/>
        </p:nvSpPr>
        <p:spPr>
          <a:xfrm xmlns:a="http://schemas.openxmlformats.org/drawingml/2006/main">
            <a:off x="8534400" y="2152650"/>
            <a:ext cx="2990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FFFFFF"/>
                </a:solidFill>
              </a:defRPr>
            </a:pPr>
            <a:r>
              <a:rPr sz="1650" b="1" i="0">
                <a:solidFill>
                  <a:srgbClr val="FFFFFF"/>
                </a:solidFill>
              </a:rPr>
              <a:t>Power</a:t>
            </a:r>
          </a:p>
        </p:txBody>
      </p:sp>
      <p:sp>
        <p:nvSpPr>
          <p:cNvPr id="14" name="">
            <a:extLst xmlns:a="http://schemas.openxmlformats.org/drawingml/2006/main">
              <a:ext uri="{FF2B5EF4-FFF2-40B4-BE49-F238E27FC236}">
                <a16:creationId xmlns:a16="http://schemas.microsoft.com/office/drawing/2014/main" id="{7DEE70BF-5799-4F03-9CB2-EF8130CB4AD3}"/>
              </a:ext>
            </a:extLst>
          </p:cNvPr>
          <p:cNvSpPr>
            <a:spLocks xmlns:a="http://schemas.openxmlformats.org/drawingml/2006/main" noGrp="1"/>
          </p:cNvSpPr>
          <p:nvPr/>
        </p:nvSpPr>
        <p:spPr>
          <a:xfrm xmlns:a="http://schemas.openxmlformats.org/drawingml/2006/main">
            <a:off x="8534400" y="2647950"/>
            <a:ext cx="29908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B6C0CB"/>
                </a:solidFill>
              </a:defRPr>
            </a:pPr>
            <a:r>
              <a:rPr sz="1200" b="0" i="0">
                <a:solidFill>
                  <a:srgbClr val="B6C0CB"/>
                </a:solidFill>
              </a:rPr>
              <a:t>Build networks and institutions that can turn unusual ideas into durable leverage.</a:t>
            </a:r>
          </a:p>
        </p:txBody>
      </p:sp>
      <p:sp>
        <p:nvSpPr>
          <p:cNvPr id="15" name="">
            <a:extLst xmlns:a="http://schemas.openxmlformats.org/drawingml/2006/main">
              <a:ext uri="{FF2B5EF4-FFF2-40B4-BE49-F238E27FC236}">
                <a16:creationId xmlns:a16="http://schemas.microsoft.com/office/drawing/2014/main" id="{F40F1D93-76E9-40B6-956A-8CB148418FA8}"/>
              </a:ext>
            </a:extLst>
          </p:cNvPr>
          <p:cNvSpPr>
            <a:spLocks xmlns:a="http://schemas.openxmlformats.org/drawingml/2006/main" noGrp="1"/>
          </p:cNvSpPr>
          <p:nvPr/>
        </p:nvSpPr>
        <p:spPr>
          <a:xfrm xmlns:a="http://schemas.openxmlformats.org/drawingml/2006/main">
            <a:off x="2324100" y="5391150"/>
            <a:ext cx="7543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242A32"/>
                </a:solidFill>
              </a:defRPr>
            </a:pPr>
            <a:r>
              <a:rPr sz="1425" b="1" i="0">
                <a:solidFill>
                  <a:srgbClr val="242A32"/>
                </a:solidFill>
              </a:rPr>
              <a:t>The same method can discover breakthroughs—or rationalize dangerous systems.</a:t>
            </a:r>
          </a:p>
        </p:txBody>
      </p:sp>
      <p:sp>
        <p:nvSpPr>
          <p:cNvPr id="16" name="">
            <a:extLst xmlns:a="http://schemas.openxmlformats.org/drawingml/2006/main">
              <a:ext uri="{FF2B5EF4-FFF2-40B4-BE49-F238E27FC236}">
                <a16:creationId xmlns:a16="http://schemas.microsoft.com/office/drawing/2014/main" id="{7C8F3BAF-7048-4FE4-8E04-242F77C3544E}"/>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7F5479C5-13F9-4BF2-A62E-8600F051CEED}"/>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18" name="">
            <a:extLst xmlns:a="http://schemas.openxmlformats.org/drawingml/2006/main">
              <a:ext uri="{FF2B5EF4-FFF2-40B4-BE49-F238E27FC236}">
                <a16:creationId xmlns:a16="http://schemas.microsoft.com/office/drawing/2014/main" id="{FB585D73-6C00-414A-8F02-00C68C6B94C1}"/>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03</a:t>
            </a:r>
          </a:p>
        </p:txBody>
      </p:sp>
    </p:spTree>
    <p:extLst>
      <p:ext uri="{BB962C8B-B14F-4D97-AF65-F5344CB8AC3E}">
        <p14:creationId xmlns:p14="http://schemas.microsoft.com/office/powerpoint/2010/main" val="7805330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A7EA070-20B1-48DE-AFC2-8149BA7FE75F}"/>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THE ARC</a:t>
            </a:r>
          </a:p>
        </p:txBody>
      </p:sp>
      <p:sp>
        <p:nvSpPr>
          <p:cNvPr id="2" name="slide-title">
            <a:extLst xmlns:a="http://schemas.openxmlformats.org/drawingml/2006/main">
              <a:ext uri="{FF2B5EF4-FFF2-40B4-BE49-F238E27FC236}">
                <a16:creationId xmlns:a16="http://schemas.microsoft.com/office/drawing/2014/main" id="{2DBCB719-BF5E-49C8-A91C-59181063903D}"/>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One career, three expanding arenas of influence.</a:t>
            </a:r>
          </a:p>
        </p:txBody>
      </p:sp>
      <p:sp>
        <p:nvSpPr>
          <p:cNvPr id="3" name="">
            <a:extLst xmlns:a="http://schemas.openxmlformats.org/drawingml/2006/main">
              <a:ext uri="{FF2B5EF4-FFF2-40B4-BE49-F238E27FC236}">
                <a16:creationId xmlns:a16="http://schemas.microsoft.com/office/drawing/2014/main" id="{3E7FEEDD-B202-4939-A90D-3F300A586FB6}"/>
              </a:ext>
            </a:extLst>
          </p:cNvPr>
          <p:cNvSpPr>
            <a:spLocks xmlns:a="http://schemas.openxmlformats.org/drawingml/2006/main" noGrp="1"/>
          </p:cNvSpPr>
          <p:nvPr/>
        </p:nvSpPr>
        <p:spPr>
          <a:xfrm xmlns:a="http://schemas.openxmlformats.org/drawingml/2006/main">
            <a:off x="857250" y="3105150"/>
            <a:ext cx="9429750" cy="38100"/>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7D96B7-88AF-48AA-8D26-2859CFB700CF}"/>
              </a:ext>
            </a:extLst>
          </p:cNvPr>
          <p:cNvSpPr>
            <a:spLocks xmlns:a="http://schemas.openxmlformats.org/drawingml/2006/main" noGrp="1"/>
          </p:cNvSpPr>
          <p:nvPr/>
        </p:nvSpPr>
        <p:spPr>
          <a:xfrm xmlns:a="http://schemas.openxmlformats.org/drawingml/2006/main">
            <a:off x="781050" y="3048000"/>
            <a:ext cx="152400" cy="15240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0B4D5D-DA78-4B67-A1AA-7A3D3EC5C2DB}"/>
              </a:ext>
            </a:extLst>
          </p:cNvPr>
          <p:cNvSpPr>
            <a:spLocks xmlns:a="http://schemas.openxmlformats.org/drawingml/2006/main" noGrp="1"/>
          </p:cNvSpPr>
          <p:nvPr/>
        </p:nvSpPr>
        <p:spPr>
          <a:xfrm xmlns:a="http://schemas.openxmlformats.org/drawingml/2006/main">
            <a:off x="381000" y="25717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68717D"/>
                </a:solidFill>
              </a:defRPr>
            </a:pPr>
            <a:r>
              <a:rPr sz="1125" b="1" i="0">
                <a:solidFill>
                  <a:srgbClr val="68717D"/>
                </a:solidFill>
              </a:rPr>
              <a:t>1998</a:t>
            </a:r>
          </a:p>
        </p:txBody>
      </p:sp>
      <p:sp>
        <p:nvSpPr>
          <p:cNvPr id="6" name="">
            <a:extLst xmlns:a="http://schemas.openxmlformats.org/drawingml/2006/main">
              <a:ext uri="{FF2B5EF4-FFF2-40B4-BE49-F238E27FC236}">
                <a16:creationId xmlns:a16="http://schemas.microsoft.com/office/drawing/2014/main" id="{3E833511-D981-4ACB-834F-4F495D9DBC3D}"/>
              </a:ext>
            </a:extLst>
          </p:cNvPr>
          <p:cNvSpPr>
            <a:spLocks xmlns:a="http://schemas.openxmlformats.org/drawingml/2006/main" noGrp="1"/>
          </p:cNvSpPr>
          <p:nvPr/>
        </p:nvSpPr>
        <p:spPr>
          <a:xfrm xmlns:a="http://schemas.openxmlformats.org/drawingml/2006/main">
            <a:off x="257175" y="33337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Confinity</a:t>
            </a:r>
          </a:p>
        </p:txBody>
      </p:sp>
      <p:sp>
        <p:nvSpPr>
          <p:cNvPr id="7" name="">
            <a:extLst xmlns:a="http://schemas.openxmlformats.org/drawingml/2006/main">
              <a:ext uri="{FF2B5EF4-FFF2-40B4-BE49-F238E27FC236}">
                <a16:creationId xmlns:a16="http://schemas.microsoft.com/office/drawing/2014/main" id="{8B8D11DA-125E-46B1-B786-94712958ACCC}"/>
              </a:ext>
            </a:extLst>
          </p:cNvPr>
          <p:cNvSpPr>
            <a:spLocks xmlns:a="http://schemas.openxmlformats.org/drawingml/2006/main" noGrp="1"/>
          </p:cNvSpPr>
          <p:nvPr/>
        </p:nvSpPr>
        <p:spPr>
          <a:xfrm xmlns:a="http://schemas.openxmlformats.org/drawingml/2006/main">
            <a:off x="2352675" y="3048000"/>
            <a:ext cx="152400" cy="15240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1EE8D02-FA19-42C7-8CB0-487F08788426}"/>
              </a:ext>
            </a:extLst>
          </p:cNvPr>
          <p:cNvSpPr>
            <a:spLocks xmlns:a="http://schemas.openxmlformats.org/drawingml/2006/main" noGrp="1"/>
          </p:cNvSpPr>
          <p:nvPr/>
        </p:nvSpPr>
        <p:spPr>
          <a:xfrm xmlns:a="http://schemas.openxmlformats.org/drawingml/2006/main">
            <a:off x="1952625" y="25717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68717D"/>
                </a:solidFill>
              </a:defRPr>
            </a:pPr>
            <a:r>
              <a:rPr sz="1125" b="1" i="0">
                <a:solidFill>
                  <a:srgbClr val="68717D"/>
                </a:solidFill>
              </a:rPr>
              <a:t>2000</a:t>
            </a:r>
          </a:p>
        </p:txBody>
      </p:sp>
      <p:sp>
        <p:nvSpPr>
          <p:cNvPr id="9" name="">
            <a:extLst xmlns:a="http://schemas.openxmlformats.org/drawingml/2006/main">
              <a:ext uri="{FF2B5EF4-FFF2-40B4-BE49-F238E27FC236}">
                <a16:creationId xmlns:a16="http://schemas.microsoft.com/office/drawing/2014/main" id="{568EC047-F717-42BF-B108-0E1F943FEF16}"/>
              </a:ext>
            </a:extLst>
          </p:cNvPr>
          <p:cNvSpPr>
            <a:spLocks xmlns:a="http://schemas.openxmlformats.org/drawingml/2006/main" noGrp="1"/>
          </p:cNvSpPr>
          <p:nvPr/>
        </p:nvSpPr>
        <p:spPr>
          <a:xfrm xmlns:a="http://schemas.openxmlformats.org/drawingml/2006/main">
            <a:off x="1828800" y="33337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PayPal CEO</a:t>
            </a:r>
          </a:p>
        </p:txBody>
      </p:sp>
      <p:sp>
        <p:nvSpPr>
          <p:cNvPr id="10" name="">
            <a:extLst xmlns:a="http://schemas.openxmlformats.org/drawingml/2006/main">
              <a:ext uri="{FF2B5EF4-FFF2-40B4-BE49-F238E27FC236}">
                <a16:creationId xmlns:a16="http://schemas.microsoft.com/office/drawing/2014/main" id="{78179E16-E109-4565-93F1-CCFD82238CDD}"/>
              </a:ext>
            </a:extLst>
          </p:cNvPr>
          <p:cNvSpPr>
            <a:spLocks xmlns:a="http://schemas.openxmlformats.org/drawingml/2006/main" noGrp="1"/>
          </p:cNvSpPr>
          <p:nvPr/>
        </p:nvSpPr>
        <p:spPr>
          <a:xfrm xmlns:a="http://schemas.openxmlformats.org/drawingml/2006/main">
            <a:off x="3924300" y="3048000"/>
            <a:ext cx="152400" cy="15240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7BE291-4258-4093-B1AB-CBD2C5DB0780}"/>
              </a:ext>
            </a:extLst>
          </p:cNvPr>
          <p:cNvSpPr>
            <a:spLocks xmlns:a="http://schemas.openxmlformats.org/drawingml/2006/main" noGrp="1"/>
          </p:cNvSpPr>
          <p:nvPr/>
        </p:nvSpPr>
        <p:spPr>
          <a:xfrm xmlns:a="http://schemas.openxmlformats.org/drawingml/2006/main">
            <a:off x="3524250" y="25717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68717D"/>
                </a:solidFill>
              </a:defRPr>
            </a:pPr>
            <a:r>
              <a:rPr sz="1125" b="1" i="0">
                <a:solidFill>
                  <a:srgbClr val="68717D"/>
                </a:solidFill>
              </a:rPr>
              <a:t>2003</a:t>
            </a:r>
          </a:p>
        </p:txBody>
      </p:sp>
      <p:sp>
        <p:nvSpPr>
          <p:cNvPr id="12" name="">
            <a:extLst xmlns:a="http://schemas.openxmlformats.org/drawingml/2006/main">
              <a:ext uri="{FF2B5EF4-FFF2-40B4-BE49-F238E27FC236}">
                <a16:creationId xmlns:a16="http://schemas.microsoft.com/office/drawing/2014/main" id="{531DE6DA-DF8B-4A00-8276-8C32D3B0E3C3}"/>
              </a:ext>
            </a:extLst>
          </p:cNvPr>
          <p:cNvSpPr>
            <a:spLocks xmlns:a="http://schemas.openxmlformats.org/drawingml/2006/main" noGrp="1"/>
          </p:cNvSpPr>
          <p:nvPr/>
        </p:nvSpPr>
        <p:spPr>
          <a:xfrm xmlns:a="http://schemas.openxmlformats.org/drawingml/2006/main">
            <a:off x="3400425" y="33337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Palantir</a:t>
            </a:r>
          </a:p>
        </p:txBody>
      </p:sp>
      <p:sp>
        <p:nvSpPr>
          <p:cNvPr id="13" name="">
            <a:extLst xmlns:a="http://schemas.openxmlformats.org/drawingml/2006/main">
              <a:ext uri="{FF2B5EF4-FFF2-40B4-BE49-F238E27FC236}">
                <a16:creationId xmlns:a16="http://schemas.microsoft.com/office/drawing/2014/main" id="{EDC220D2-CC24-47B7-B339-DE050EEB691F}"/>
              </a:ext>
            </a:extLst>
          </p:cNvPr>
          <p:cNvSpPr>
            <a:spLocks xmlns:a="http://schemas.openxmlformats.org/drawingml/2006/main" noGrp="1"/>
          </p:cNvSpPr>
          <p:nvPr/>
        </p:nvSpPr>
        <p:spPr>
          <a:xfrm xmlns:a="http://schemas.openxmlformats.org/drawingml/2006/main">
            <a:off x="5495925" y="3048000"/>
            <a:ext cx="152400" cy="15240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3B06B61-3E60-4F27-9B00-DC7AB5F97A42}"/>
              </a:ext>
            </a:extLst>
          </p:cNvPr>
          <p:cNvSpPr>
            <a:spLocks xmlns:a="http://schemas.openxmlformats.org/drawingml/2006/main" noGrp="1"/>
          </p:cNvSpPr>
          <p:nvPr/>
        </p:nvSpPr>
        <p:spPr>
          <a:xfrm xmlns:a="http://schemas.openxmlformats.org/drawingml/2006/main">
            <a:off x="5095875" y="25717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68717D"/>
                </a:solidFill>
              </a:defRPr>
            </a:pPr>
            <a:r>
              <a:rPr sz="1125" b="1" i="0">
                <a:solidFill>
                  <a:srgbClr val="68717D"/>
                </a:solidFill>
              </a:rPr>
              <a:t>2004</a:t>
            </a:r>
          </a:p>
        </p:txBody>
      </p:sp>
      <p:sp>
        <p:nvSpPr>
          <p:cNvPr id="15" name="">
            <a:extLst xmlns:a="http://schemas.openxmlformats.org/drawingml/2006/main">
              <a:ext uri="{FF2B5EF4-FFF2-40B4-BE49-F238E27FC236}">
                <a16:creationId xmlns:a16="http://schemas.microsoft.com/office/drawing/2014/main" id="{A79952B3-F5F1-46BD-B824-52C9A3C24BBB}"/>
              </a:ext>
            </a:extLst>
          </p:cNvPr>
          <p:cNvSpPr>
            <a:spLocks xmlns:a="http://schemas.openxmlformats.org/drawingml/2006/main" noGrp="1"/>
          </p:cNvSpPr>
          <p:nvPr/>
        </p:nvSpPr>
        <p:spPr>
          <a:xfrm xmlns:a="http://schemas.openxmlformats.org/drawingml/2006/main">
            <a:off x="4972050" y="33337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Facebook</a:t>
            </a:r>
          </a:p>
        </p:txBody>
      </p:sp>
      <p:sp>
        <p:nvSpPr>
          <p:cNvPr id="16" name="">
            <a:extLst xmlns:a="http://schemas.openxmlformats.org/drawingml/2006/main">
              <a:ext uri="{FF2B5EF4-FFF2-40B4-BE49-F238E27FC236}">
                <a16:creationId xmlns:a16="http://schemas.microsoft.com/office/drawing/2014/main" id="{4B2F0E7C-1293-431E-90A3-CCB0E3474601}"/>
              </a:ext>
            </a:extLst>
          </p:cNvPr>
          <p:cNvSpPr>
            <a:spLocks xmlns:a="http://schemas.openxmlformats.org/drawingml/2006/main" noGrp="1"/>
          </p:cNvSpPr>
          <p:nvPr/>
        </p:nvSpPr>
        <p:spPr>
          <a:xfrm xmlns:a="http://schemas.openxmlformats.org/drawingml/2006/main">
            <a:off x="7067550" y="3048000"/>
            <a:ext cx="152400" cy="152400"/>
          </a:xfrm>
          <a:prstGeom xmlns:a="http://schemas.openxmlformats.org/drawingml/2006/main" prst="ellipse">
            <a:avLst/>
          </a:prstGeom>
          <a:solidFill xmlns:a="http://schemas.openxmlformats.org/drawingml/2006/main">
            <a:srgbClr val="FF8A3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8E81CC-4A2B-4F6E-ABB9-202049101F41}"/>
              </a:ext>
            </a:extLst>
          </p:cNvPr>
          <p:cNvSpPr>
            <a:spLocks xmlns:a="http://schemas.openxmlformats.org/drawingml/2006/main" noGrp="1"/>
          </p:cNvSpPr>
          <p:nvPr/>
        </p:nvSpPr>
        <p:spPr>
          <a:xfrm xmlns:a="http://schemas.openxmlformats.org/drawingml/2006/main">
            <a:off x="6667500" y="25717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68717D"/>
                </a:solidFill>
              </a:defRPr>
            </a:pPr>
            <a:r>
              <a:rPr sz="1125" b="1" i="0">
                <a:solidFill>
                  <a:srgbClr val="68717D"/>
                </a:solidFill>
              </a:rPr>
              <a:t>2014</a:t>
            </a:r>
          </a:p>
        </p:txBody>
      </p:sp>
      <p:sp>
        <p:nvSpPr>
          <p:cNvPr id="18" name="">
            <a:extLst xmlns:a="http://schemas.openxmlformats.org/drawingml/2006/main">
              <a:ext uri="{FF2B5EF4-FFF2-40B4-BE49-F238E27FC236}">
                <a16:creationId xmlns:a16="http://schemas.microsoft.com/office/drawing/2014/main" id="{33445DDC-93DC-4CD1-913F-69FE0E3FDDB1}"/>
              </a:ext>
            </a:extLst>
          </p:cNvPr>
          <p:cNvSpPr>
            <a:spLocks xmlns:a="http://schemas.openxmlformats.org/drawingml/2006/main" noGrp="1"/>
          </p:cNvSpPr>
          <p:nvPr/>
        </p:nvSpPr>
        <p:spPr>
          <a:xfrm xmlns:a="http://schemas.openxmlformats.org/drawingml/2006/main">
            <a:off x="6543675" y="33337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Zero to One</a:t>
            </a:r>
          </a:p>
        </p:txBody>
      </p:sp>
      <p:sp>
        <p:nvSpPr>
          <p:cNvPr id="19" name="">
            <a:extLst xmlns:a="http://schemas.openxmlformats.org/drawingml/2006/main">
              <a:ext uri="{FF2B5EF4-FFF2-40B4-BE49-F238E27FC236}">
                <a16:creationId xmlns:a16="http://schemas.microsoft.com/office/drawing/2014/main" id="{D57F3564-2FF5-4AAB-BBDB-24D67DB51FE6}"/>
              </a:ext>
            </a:extLst>
          </p:cNvPr>
          <p:cNvSpPr>
            <a:spLocks xmlns:a="http://schemas.openxmlformats.org/drawingml/2006/main" noGrp="1"/>
          </p:cNvSpPr>
          <p:nvPr/>
        </p:nvSpPr>
        <p:spPr>
          <a:xfrm xmlns:a="http://schemas.openxmlformats.org/drawingml/2006/main">
            <a:off x="8639175" y="3048000"/>
            <a:ext cx="152400" cy="152400"/>
          </a:xfrm>
          <a:prstGeom xmlns:a="http://schemas.openxmlformats.org/drawingml/2006/main" prst="ellipse">
            <a:avLst/>
          </a:prstGeom>
          <a:solidFill xmlns:a="http://schemas.openxmlformats.org/drawingml/2006/main">
            <a:srgbClr val="FF8A3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21AEC6A-4F19-4A31-8D71-DA328A669345}"/>
              </a:ext>
            </a:extLst>
          </p:cNvPr>
          <p:cNvSpPr>
            <a:spLocks xmlns:a="http://schemas.openxmlformats.org/drawingml/2006/main" noGrp="1"/>
          </p:cNvSpPr>
          <p:nvPr/>
        </p:nvSpPr>
        <p:spPr>
          <a:xfrm xmlns:a="http://schemas.openxmlformats.org/drawingml/2006/main">
            <a:off x="8239125" y="25717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68717D"/>
                </a:solidFill>
              </a:defRPr>
            </a:pPr>
            <a:r>
              <a:rPr sz="1125" b="1" i="0">
                <a:solidFill>
                  <a:srgbClr val="68717D"/>
                </a:solidFill>
              </a:rPr>
              <a:t>2016</a:t>
            </a:r>
          </a:p>
        </p:txBody>
      </p:sp>
      <p:sp>
        <p:nvSpPr>
          <p:cNvPr id="21" name="">
            <a:extLst xmlns:a="http://schemas.openxmlformats.org/drawingml/2006/main">
              <a:ext uri="{FF2B5EF4-FFF2-40B4-BE49-F238E27FC236}">
                <a16:creationId xmlns:a16="http://schemas.microsoft.com/office/drawing/2014/main" id="{31A6EDD8-CEEB-4899-8AE3-15F0DD58C5EF}"/>
              </a:ext>
            </a:extLst>
          </p:cNvPr>
          <p:cNvSpPr>
            <a:spLocks xmlns:a="http://schemas.openxmlformats.org/drawingml/2006/main" noGrp="1"/>
          </p:cNvSpPr>
          <p:nvPr/>
        </p:nvSpPr>
        <p:spPr>
          <a:xfrm xmlns:a="http://schemas.openxmlformats.org/drawingml/2006/main">
            <a:off x="8115300" y="33337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Trump</a:t>
            </a:r>
          </a:p>
        </p:txBody>
      </p:sp>
      <p:sp>
        <p:nvSpPr>
          <p:cNvPr id="22" name="">
            <a:extLst xmlns:a="http://schemas.openxmlformats.org/drawingml/2006/main">
              <a:ext uri="{FF2B5EF4-FFF2-40B4-BE49-F238E27FC236}">
                <a16:creationId xmlns:a16="http://schemas.microsoft.com/office/drawing/2014/main" id="{D391F740-6AF7-49A5-AB4F-389E25E9618C}"/>
              </a:ext>
            </a:extLst>
          </p:cNvPr>
          <p:cNvSpPr>
            <a:spLocks xmlns:a="http://schemas.openxmlformats.org/drawingml/2006/main" noGrp="1"/>
          </p:cNvSpPr>
          <p:nvPr/>
        </p:nvSpPr>
        <p:spPr>
          <a:xfrm xmlns:a="http://schemas.openxmlformats.org/drawingml/2006/main">
            <a:off x="10182225" y="3019425"/>
            <a:ext cx="209550" cy="209550"/>
          </a:xfrm>
          <a:prstGeom xmlns:a="http://schemas.openxmlformats.org/drawingml/2006/main" prst="ellipse">
            <a:avLst/>
          </a:prstGeom>
          <a:solidFill xmlns:a="http://schemas.openxmlformats.org/drawingml/2006/main">
            <a:srgbClr val="10131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7879151-1D60-4C7B-B81C-9FF057ED0CA5}"/>
              </a:ext>
            </a:extLst>
          </p:cNvPr>
          <p:cNvSpPr>
            <a:spLocks xmlns:a="http://schemas.openxmlformats.org/drawingml/2006/main" noGrp="1"/>
          </p:cNvSpPr>
          <p:nvPr/>
        </p:nvSpPr>
        <p:spPr>
          <a:xfrm xmlns:a="http://schemas.openxmlformats.org/drawingml/2006/main">
            <a:off x="9810750" y="25717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68717D"/>
                </a:solidFill>
              </a:defRPr>
            </a:pPr>
            <a:r>
              <a:rPr sz="1125" b="1" i="0">
                <a:solidFill>
                  <a:srgbClr val="68717D"/>
                </a:solidFill>
              </a:rPr>
              <a:t>2022→26</a:t>
            </a:r>
          </a:p>
        </p:txBody>
      </p:sp>
      <p:sp>
        <p:nvSpPr>
          <p:cNvPr id="24" name="">
            <a:extLst xmlns:a="http://schemas.openxmlformats.org/drawingml/2006/main">
              <a:ext uri="{FF2B5EF4-FFF2-40B4-BE49-F238E27FC236}">
                <a16:creationId xmlns:a16="http://schemas.microsoft.com/office/drawing/2014/main" id="{B1D59B37-CE44-4514-B342-781EF0FADD7E}"/>
              </a:ext>
            </a:extLst>
          </p:cNvPr>
          <p:cNvSpPr>
            <a:spLocks xmlns:a="http://schemas.openxmlformats.org/drawingml/2006/main" noGrp="1"/>
          </p:cNvSpPr>
          <p:nvPr/>
        </p:nvSpPr>
        <p:spPr>
          <a:xfrm xmlns:a="http://schemas.openxmlformats.org/drawingml/2006/main">
            <a:off x="9686925" y="33337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Vance era</a:t>
            </a:r>
          </a:p>
        </p:txBody>
      </p:sp>
      <p:sp>
        <p:nvSpPr>
          <p:cNvPr id="25" name="">
            <a:extLst xmlns:a="http://schemas.openxmlformats.org/drawingml/2006/main">
              <a:ext uri="{FF2B5EF4-FFF2-40B4-BE49-F238E27FC236}">
                <a16:creationId xmlns:a16="http://schemas.microsoft.com/office/drawing/2014/main" id="{014BC3B1-D28B-42A4-BCE6-10502D7A4F31}"/>
              </a:ext>
            </a:extLst>
          </p:cNvPr>
          <p:cNvSpPr>
            <a:spLocks xmlns:a="http://schemas.openxmlformats.org/drawingml/2006/main" noGrp="1"/>
          </p:cNvSpPr>
          <p:nvPr/>
        </p:nvSpPr>
        <p:spPr>
          <a:xfrm xmlns:a="http://schemas.openxmlformats.org/drawingml/2006/main">
            <a:off x="666750" y="4171950"/>
            <a:ext cx="3238500" cy="1162050"/>
          </a:xfrm>
          <a:prstGeom xmlns:a="http://schemas.openxmlformats.org/drawingml/2006/main" prst="roundRect">
            <a:avLst>
              <a:gd name="adj" fmla="val 9836"/>
            </a:avLst>
          </a:prstGeom>
          <a:solidFill xmlns:a="http://schemas.openxmlformats.org/drawingml/2006/main">
            <a:srgbClr val="E9F2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0D46790-2381-43D0-8ED8-21AD1B7B504E}"/>
              </a:ext>
            </a:extLst>
          </p:cNvPr>
          <p:cNvSpPr>
            <a:spLocks xmlns:a="http://schemas.openxmlformats.org/drawingml/2006/main" noGrp="1"/>
          </p:cNvSpPr>
          <p:nvPr/>
        </p:nvSpPr>
        <p:spPr>
          <a:xfrm xmlns:a="http://schemas.openxmlformats.org/drawingml/2006/main">
            <a:off x="876300" y="4324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77DFF"/>
                </a:solidFill>
              </a:defRPr>
            </a:pPr>
            <a:r>
              <a:rPr sz="900" b="1" i="0">
                <a:solidFill>
                  <a:srgbClr val="277DFF"/>
                </a:solidFill>
              </a:rPr>
              <a:t>COMPANIES</a:t>
            </a:r>
          </a:p>
        </p:txBody>
      </p:sp>
      <p:sp>
        <p:nvSpPr>
          <p:cNvPr id="27" name="">
            <a:extLst xmlns:a="http://schemas.openxmlformats.org/drawingml/2006/main">
              <a:ext uri="{FF2B5EF4-FFF2-40B4-BE49-F238E27FC236}">
                <a16:creationId xmlns:a16="http://schemas.microsoft.com/office/drawing/2014/main" id="{164C8562-4F73-4BAA-A316-8AE5B731BB2E}"/>
              </a:ext>
            </a:extLst>
          </p:cNvPr>
          <p:cNvSpPr>
            <a:spLocks xmlns:a="http://schemas.openxmlformats.org/drawingml/2006/main" noGrp="1"/>
          </p:cNvSpPr>
          <p:nvPr/>
        </p:nvSpPr>
        <p:spPr>
          <a:xfrm xmlns:a="http://schemas.openxmlformats.org/drawingml/2006/main">
            <a:off x="876300" y="4610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101318"/>
                </a:solidFill>
              </a:defRPr>
            </a:pPr>
            <a:r>
              <a:rPr sz="1800" b="1" i="0">
                <a:solidFill>
                  <a:srgbClr val="101318"/>
                </a:solidFill>
              </a:rPr>
              <a:t>Build new systems</a:t>
            </a:r>
          </a:p>
        </p:txBody>
      </p:sp>
      <p:sp>
        <p:nvSpPr>
          <p:cNvPr id="28" name="">
            <a:extLst xmlns:a="http://schemas.openxmlformats.org/drawingml/2006/main">
              <a:ext uri="{FF2B5EF4-FFF2-40B4-BE49-F238E27FC236}">
                <a16:creationId xmlns:a16="http://schemas.microsoft.com/office/drawing/2014/main" id="{882D2D40-21E6-42C0-9B37-25C3768AA4E3}"/>
              </a:ext>
            </a:extLst>
          </p:cNvPr>
          <p:cNvSpPr>
            <a:spLocks xmlns:a="http://schemas.openxmlformats.org/drawingml/2006/main" noGrp="1"/>
          </p:cNvSpPr>
          <p:nvPr/>
        </p:nvSpPr>
        <p:spPr>
          <a:xfrm xmlns:a="http://schemas.openxmlformats.org/drawingml/2006/main">
            <a:off x="4476750" y="4171950"/>
            <a:ext cx="3238500" cy="1162050"/>
          </a:xfrm>
          <a:prstGeom xmlns:a="http://schemas.openxmlformats.org/drawingml/2006/main" prst="roundRect">
            <a:avLst>
              <a:gd name="adj" fmla="val 9836"/>
            </a:avLst>
          </a:prstGeom>
          <a:solidFill xmlns:a="http://schemas.openxmlformats.org/drawingml/2006/main">
            <a:srgbClr val="FFF0E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C1612A2-6028-48ED-A6B2-CC96FDC09F53}"/>
              </a:ext>
            </a:extLst>
          </p:cNvPr>
          <p:cNvSpPr>
            <a:spLocks xmlns:a="http://schemas.openxmlformats.org/drawingml/2006/main" noGrp="1"/>
          </p:cNvSpPr>
          <p:nvPr/>
        </p:nvSpPr>
        <p:spPr>
          <a:xfrm xmlns:a="http://schemas.openxmlformats.org/drawingml/2006/main">
            <a:off x="4686300" y="4324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FF8A3D"/>
                </a:solidFill>
              </a:defRPr>
            </a:pPr>
            <a:r>
              <a:rPr sz="900" b="1" i="0">
                <a:solidFill>
                  <a:srgbClr val="FF8A3D"/>
                </a:solidFill>
              </a:rPr>
              <a:t>CAPITAL</a:t>
            </a:r>
          </a:p>
        </p:txBody>
      </p:sp>
      <p:sp>
        <p:nvSpPr>
          <p:cNvPr id="30" name="">
            <a:extLst xmlns:a="http://schemas.openxmlformats.org/drawingml/2006/main">
              <a:ext uri="{FF2B5EF4-FFF2-40B4-BE49-F238E27FC236}">
                <a16:creationId xmlns:a16="http://schemas.microsoft.com/office/drawing/2014/main" id="{87E9903F-495B-4436-BA18-DBB48D04936E}"/>
              </a:ext>
            </a:extLst>
          </p:cNvPr>
          <p:cNvSpPr>
            <a:spLocks xmlns:a="http://schemas.openxmlformats.org/drawingml/2006/main" noGrp="1"/>
          </p:cNvSpPr>
          <p:nvPr/>
        </p:nvSpPr>
        <p:spPr>
          <a:xfrm xmlns:a="http://schemas.openxmlformats.org/drawingml/2006/main">
            <a:off x="4686300" y="4610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101318"/>
                </a:solidFill>
              </a:defRPr>
            </a:pPr>
            <a:r>
              <a:rPr sz="1800" b="1" i="0">
                <a:solidFill>
                  <a:srgbClr val="101318"/>
                </a:solidFill>
              </a:rPr>
              <a:t>Choose the builders</a:t>
            </a:r>
          </a:p>
        </p:txBody>
      </p:sp>
      <p:sp>
        <p:nvSpPr>
          <p:cNvPr id="31" name="">
            <a:extLst xmlns:a="http://schemas.openxmlformats.org/drawingml/2006/main">
              <a:ext uri="{FF2B5EF4-FFF2-40B4-BE49-F238E27FC236}">
                <a16:creationId xmlns:a16="http://schemas.microsoft.com/office/drawing/2014/main" id="{73B85C0A-F3F6-4886-AD0E-6A1676115A0C}"/>
              </a:ext>
            </a:extLst>
          </p:cNvPr>
          <p:cNvSpPr>
            <a:spLocks xmlns:a="http://schemas.openxmlformats.org/drawingml/2006/main" noGrp="1"/>
          </p:cNvSpPr>
          <p:nvPr/>
        </p:nvSpPr>
        <p:spPr>
          <a:xfrm xmlns:a="http://schemas.openxmlformats.org/drawingml/2006/main">
            <a:off x="8286750" y="4171950"/>
            <a:ext cx="3238500" cy="1162050"/>
          </a:xfrm>
          <a:prstGeom xmlns:a="http://schemas.openxmlformats.org/drawingml/2006/main" prst="roundRect">
            <a:avLst>
              <a:gd name="adj" fmla="val 9836"/>
            </a:avLst>
          </a:prstGeom>
          <a:solidFill xmlns:a="http://schemas.openxmlformats.org/drawingml/2006/main">
            <a:srgbClr val="10131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B6B4803-C100-4F4C-A903-A72420488C5F}"/>
              </a:ext>
            </a:extLst>
          </p:cNvPr>
          <p:cNvSpPr>
            <a:spLocks xmlns:a="http://schemas.openxmlformats.org/drawingml/2006/main" noGrp="1"/>
          </p:cNvSpPr>
          <p:nvPr/>
        </p:nvSpPr>
        <p:spPr>
          <a:xfrm xmlns:a="http://schemas.openxmlformats.org/drawingml/2006/main">
            <a:off x="8496300" y="4324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2D2FF"/>
                </a:solidFill>
              </a:defRPr>
            </a:pPr>
            <a:r>
              <a:rPr sz="900" b="1" i="0">
                <a:solidFill>
                  <a:srgbClr val="62D2FF"/>
                </a:solidFill>
              </a:rPr>
              <a:t>POLITICS</a:t>
            </a:r>
          </a:p>
        </p:txBody>
      </p:sp>
      <p:sp>
        <p:nvSpPr>
          <p:cNvPr id="33" name="">
            <a:extLst xmlns:a="http://schemas.openxmlformats.org/drawingml/2006/main">
              <a:ext uri="{FF2B5EF4-FFF2-40B4-BE49-F238E27FC236}">
                <a16:creationId xmlns:a16="http://schemas.microsoft.com/office/drawing/2014/main" id="{F3D9375F-5BB2-42B0-BD6C-A9929CBF5AA4}"/>
              </a:ext>
            </a:extLst>
          </p:cNvPr>
          <p:cNvSpPr>
            <a:spLocks xmlns:a="http://schemas.openxmlformats.org/drawingml/2006/main" noGrp="1"/>
          </p:cNvSpPr>
          <p:nvPr/>
        </p:nvSpPr>
        <p:spPr>
          <a:xfrm xmlns:a="http://schemas.openxmlformats.org/drawingml/2006/main">
            <a:off x="8496300" y="4610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FFFFFF"/>
                </a:solidFill>
              </a:defRPr>
            </a:pPr>
            <a:r>
              <a:rPr sz="1800" b="1" i="0">
                <a:solidFill>
                  <a:srgbClr val="FFFFFF"/>
                </a:solidFill>
              </a:rPr>
              <a:t>Choose the state</a:t>
            </a:r>
          </a:p>
        </p:txBody>
      </p:sp>
      <p:sp>
        <p:nvSpPr>
          <p:cNvPr id="34" name="">
            <a:extLst xmlns:a="http://schemas.openxmlformats.org/drawingml/2006/main">
              <a:ext uri="{FF2B5EF4-FFF2-40B4-BE49-F238E27FC236}">
                <a16:creationId xmlns:a16="http://schemas.microsoft.com/office/drawing/2014/main" id="{E3EC0C7B-BF63-4ADA-A811-DEE442442892}"/>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EB20314-24F2-41D4-8989-3F071A7F29D4}"/>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36" name="">
            <a:extLst xmlns:a="http://schemas.openxmlformats.org/drawingml/2006/main">
              <a:ext uri="{FF2B5EF4-FFF2-40B4-BE49-F238E27FC236}">
                <a16:creationId xmlns:a16="http://schemas.microsoft.com/office/drawing/2014/main" id="{2F89D5CD-365B-4C41-8EDA-9D759F9A14D7}"/>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04</a:t>
            </a:r>
          </a:p>
        </p:txBody>
      </p:sp>
    </p:spTree>
    <p:extLst>
      <p:ext uri="{BB962C8B-B14F-4D97-AF65-F5344CB8AC3E}">
        <p14:creationId xmlns:p14="http://schemas.microsoft.com/office/powerpoint/2010/main" val="1797886738"/>
      </p:ext>
    </p:extLst>
  </p:cSld>
</p:sld>
</file>

<file path=ppt/slides/slide5.xml><?xml version="1.0" encoding="utf-8"?>
<p:sld xmlns:p="http://schemas.openxmlformats.org/presentationml/2006/main">
  <p:cSld>
    <p:bg>
      <p:bgPr>
        <a:solidFill xmlns:a="http://schemas.openxmlformats.org/drawingml/2006/main">
          <a:srgbClr val="F2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6CC1C6C-B7B6-484A-9D5B-D4C21EB0A73A}"/>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PAYPAL, BEFORE PAYPAL</a:t>
            </a:r>
          </a:p>
        </p:txBody>
      </p:sp>
      <p:sp>
        <p:nvSpPr>
          <p:cNvPr id="2" name="slide-title">
            <a:extLst xmlns:a="http://schemas.openxmlformats.org/drawingml/2006/main">
              <a:ext uri="{FF2B5EF4-FFF2-40B4-BE49-F238E27FC236}">
                <a16:creationId xmlns:a16="http://schemas.microsoft.com/office/drawing/2014/main" id="{45D0D8F6-0088-454A-B4C2-77A92FD0F7C6}"/>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Two rival companies collided around one urgent idea: money on the internet.</a:t>
            </a:r>
          </a:p>
        </p:txBody>
      </p:sp>
      <p:sp>
        <p:nvSpPr>
          <p:cNvPr id="3" name="">
            <a:extLst xmlns:a="http://schemas.openxmlformats.org/drawingml/2006/main">
              <a:ext uri="{FF2B5EF4-FFF2-40B4-BE49-F238E27FC236}">
                <a16:creationId xmlns:a16="http://schemas.microsoft.com/office/drawing/2014/main" id="{61EBC9D8-A504-4125-BACF-6EAE3F1F0B0F}"/>
              </a:ext>
            </a:extLst>
          </p:cNvPr>
          <p:cNvSpPr>
            <a:spLocks xmlns:a="http://schemas.openxmlformats.org/drawingml/2006/main" noGrp="1"/>
          </p:cNvSpPr>
          <p:nvPr/>
        </p:nvSpPr>
        <p:spPr>
          <a:xfrm xmlns:a="http://schemas.openxmlformats.org/drawingml/2006/main">
            <a:off x="609600" y="1752600"/>
            <a:ext cx="4095750" cy="2990850"/>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004BDBEC-A308-415A-98B0-1813C8A866F9}"/>
              </a:ext>
            </a:extLst>
          </p:cNvPr>
          <p:cNvSpPr>
            <a:spLocks xmlns:a="http://schemas.openxmlformats.org/drawingml/2006/main" noGrp="1"/>
          </p:cNvSpPr>
          <p:nvPr/>
        </p:nvSpPr>
        <p:spPr>
          <a:xfrm xmlns:a="http://schemas.openxmlformats.org/drawingml/2006/main">
            <a:off x="838200" y="19812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277DFF"/>
                </a:solidFill>
              </a:defRPr>
            </a:pPr>
            <a:r>
              <a:rPr sz="975" b="1" i="0">
                <a:solidFill>
                  <a:srgbClr val="277DFF"/>
                </a:solidFill>
              </a:rPr>
              <a:t>CONFINITY</a:t>
            </a:r>
          </a:p>
        </p:txBody>
      </p:sp>
      <p:sp>
        <p:nvSpPr>
          <p:cNvPr id="5" name="">
            <a:extLst xmlns:a="http://schemas.openxmlformats.org/drawingml/2006/main">
              <a:ext uri="{FF2B5EF4-FFF2-40B4-BE49-F238E27FC236}">
                <a16:creationId xmlns:a16="http://schemas.microsoft.com/office/drawing/2014/main" id="{B4B2A316-71EF-4614-BE79-E678A1AA5B82}"/>
              </a:ext>
            </a:extLst>
          </p:cNvPr>
          <p:cNvSpPr>
            <a:spLocks xmlns:a="http://schemas.openxmlformats.org/drawingml/2006/main" noGrp="1"/>
          </p:cNvSpPr>
          <p:nvPr/>
        </p:nvSpPr>
        <p:spPr>
          <a:xfrm xmlns:a="http://schemas.openxmlformats.org/drawingml/2006/main">
            <a:off x="838200" y="2362200"/>
            <a:ext cx="333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101318"/>
                </a:solidFill>
              </a:defRPr>
            </a:pPr>
            <a:r>
              <a:rPr sz="2325" b="1" i="0">
                <a:solidFill>
                  <a:srgbClr val="101318"/>
                </a:solidFill>
              </a:rPr>
              <a:t>Peter Thiel</a:t>
            </a:r>
          </a:p>
          <a:p xmlns:a="http://schemas.openxmlformats.org/drawingml/2006/main">
            <a:pPr algn="l">
              <a:defRPr sz="2325" b="1" i="0">
                <a:solidFill>
                  <a:srgbClr val="101318"/>
                </a:solidFill>
              </a:defRPr>
            </a:pPr>
            <a:r>
              <a:rPr sz="2325" b="1" i="0">
                <a:solidFill>
                  <a:srgbClr val="101318"/>
                </a:solidFill>
              </a:rPr>
              <a:t>Max Levchin</a:t>
            </a:r>
          </a:p>
        </p:txBody>
      </p:sp>
      <p:sp>
        <p:nvSpPr>
          <p:cNvPr id="6" name="">
            <a:extLst xmlns:a="http://schemas.openxmlformats.org/drawingml/2006/main">
              <a:ext uri="{FF2B5EF4-FFF2-40B4-BE49-F238E27FC236}">
                <a16:creationId xmlns:a16="http://schemas.microsoft.com/office/drawing/2014/main" id="{D71C7E8D-C189-4F8B-AE42-B6B34504931B}"/>
              </a:ext>
            </a:extLst>
          </p:cNvPr>
          <p:cNvSpPr>
            <a:spLocks xmlns:a="http://schemas.openxmlformats.org/drawingml/2006/main" noGrp="1"/>
          </p:cNvSpPr>
          <p:nvPr/>
        </p:nvSpPr>
        <p:spPr>
          <a:xfrm xmlns:a="http://schemas.openxmlformats.org/drawingml/2006/main">
            <a:off x="838200" y="3562350"/>
            <a:ext cx="3238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68717D"/>
                </a:solidFill>
              </a:defRPr>
            </a:pPr>
            <a:r>
              <a:rPr sz="1425" b="0" i="0">
                <a:solidFill>
                  <a:srgbClr val="68717D"/>
                </a:solidFill>
              </a:rPr>
              <a:t>Its email-payment product already carried the name PayPal.</a:t>
            </a:r>
          </a:p>
        </p:txBody>
      </p:sp>
      <p:sp>
        <p:nvSpPr>
          <p:cNvPr id="7" name="">
            <a:extLst xmlns:a="http://schemas.openxmlformats.org/drawingml/2006/main">
              <a:ext uri="{FF2B5EF4-FFF2-40B4-BE49-F238E27FC236}">
                <a16:creationId xmlns:a16="http://schemas.microsoft.com/office/drawing/2014/main" id="{D0B37BBA-3346-42EF-90ED-46B8E75D62EC}"/>
              </a:ext>
            </a:extLst>
          </p:cNvPr>
          <p:cNvSpPr>
            <a:spLocks xmlns:a="http://schemas.openxmlformats.org/drawingml/2006/main" noGrp="1"/>
          </p:cNvSpPr>
          <p:nvPr/>
        </p:nvSpPr>
        <p:spPr>
          <a:xfrm xmlns:a="http://schemas.openxmlformats.org/drawingml/2006/main">
            <a:off x="7486650" y="1752600"/>
            <a:ext cx="4095750" cy="2990850"/>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CD386543-FCA2-4218-9177-AD3B704BBF77}"/>
              </a:ext>
            </a:extLst>
          </p:cNvPr>
          <p:cNvSpPr>
            <a:spLocks xmlns:a="http://schemas.openxmlformats.org/drawingml/2006/main" noGrp="1"/>
          </p:cNvSpPr>
          <p:nvPr/>
        </p:nvSpPr>
        <p:spPr>
          <a:xfrm xmlns:a="http://schemas.openxmlformats.org/drawingml/2006/main">
            <a:off x="7715250" y="19812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FF8A3D"/>
                </a:solidFill>
              </a:defRPr>
            </a:pPr>
            <a:r>
              <a:rPr sz="975" b="1" i="0">
                <a:solidFill>
                  <a:srgbClr val="FF8A3D"/>
                </a:solidFill>
              </a:rPr>
              <a:t>X.COM</a:t>
            </a:r>
          </a:p>
        </p:txBody>
      </p:sp>
      <p:sp>
        <p:nvSpPr>
          <p:cNvPr id="9" name="">
            <a:extLst xmlns:a="http://schemas.openxmlformats.org/drawingml/2006/main">
              <a:ext uri="{FF2B5EF4-FFF2-40B4-BE49-F238E27FC236}">
                <a16:creationId xmlns:a16="http://schemas.microsoft.com/office/drawing/2014/main" id="{E0752C6B-591D-47D7-95F6-624757B43558}"/>
              </a:ext>
            </a:extLst>
          </p:cNvPr>
          <p:cNvSpPr>
            <a:spLocks xmlns:a="http://schemas.openxmlformats.org/drawingml/2006/main" noGrp="1"/>
          </p:cNvSpPr>
          <p:nvPr/>
        </p:nvSpPr>
        <p:spPr>
          <a:xfrm xmlns:a="http://schemas.openxmlformats.org/drawingml/2006/main">
            <a:off x="7715250" y="23622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i="0">
                <a:solidFill>
                  <a:srgbClr val="101318"/>
                </a:solidFill>
              </a:defRPr>
            </a:pPr>
            <a:r>
              <a:rPr sz="2325" b="1" i="0">
                <a:solidFill>
                  <a:srgbClr val="101318"/>
                </a:solidFill>
              </a:rPr>
              <a:t>Elon Musk</a:t>
            </a:r>
          </a:p>
        </p:txBody>
      </p:sp>
      <p:sp>
        <p:nvSpPr>
          <p:cNvPr id="10" name="">
            <a:extLst xmlns:a="http://schemas.openxmlformats.org/drawingml/2006/main">
              <a:ext uri="{FF2B5EF4-FFF2-40B4-BE49-F238E27FC236}">
                <a16:creationId xmlns:a16="http://schemas.microsoft.com/office/drawing/2014/main" id="{CE22CF3A-628A-4512-BC87-A651DEA533CC}"/>
              </a:ext>
            </a:extLst>
          </p:cNvPr>
          <p:cNvSpPr>
            <a:spLocks xmlns:a="http://schemas.openxmlformats.org/drawingml/2006/main" noGrp="1"/>
          </p:cNvSpPr>
          <p:nvPr/>
        </p:nvSpPr>
        <p:spPr>
          <a:xfrm xmlns:a="http://schemas.openxmlformats.org/drawingml/2006/main">
            <a:off x="7715250" y="3257550"/>
            <a:ext cx="323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68717D"/>
                </a:solidFill>
              </a:defRPr>
            </a:pPr>
            <a:r>
              <a:rPr sz="1425" b="0" i="0">
                <a:solidFill>
                  <a:srgbClr val="68717D"/>
                </a:solidFill>
              </a:rPr>
              <a:t>A broader online financial-services vision—and a fierce competitor.</a:t>
            </a:r>
          </a:p>
        </p:txBody>
      </p:sp>
      <p:sp>
        <p:nvSpPr>
          <p:cNvPr id="11" name="">
            <a:extLst xmlns:a="http://schemas.openxmlformats.org/drawingml/2006/main">
              <a:ext uri="{FF2B5EF4-FFF2-40B4-BE49-F238E27FC236}">
                <a16:creationId xmlns:a16="http://schemas.microsoft.com/office/drawing/2014/main" id="{730BC353-1EE6-4ADD-9472-F12A7281105E}"/>
              </a:ext>
            </a:extLst>
          </p:cNvPr>
          <p:cNvSpPr>
            <a:spLocks xmlns:a="http://schemas.openxmlformats.org/drawingml/2006/main" noGrp="1"/>
          </p:cNvSpPr>
          <p:nvPr/>
        </p:nvSpPr>
        <p:spPr>
          <a:xfrm xmlns:a="http://schemas.openxmlformats.org/drawingml/2006/main">
            <a:off x="4705350" y="3219450"/>
            <a:ext cx="2781300" cy="38100"/>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307246D-9091-44F9-84B5-5C96F4C7717E}"/>
              </a:ext>
            </a:extLst>
          </p:cNvPr>
          <p:cNvSpPr>
            <a:spLocks xmlns:a="http://schemas.openxmlformats.org/drawingml/2006/main" noGrp="1"/>
          </p:cNvSpPr>
          <p:nvPr/>
        </p:nvSpPr>
        <p:spPr>
          <a:xfrm xmlns:a="http://schemas.openxmlformats.org/drawingml/2006/main">
            <a:off x="5772150" y="2914650"/>
            <a:ext cx="647700" cy="647700"/>
          </a:xfrm>
          <a:prstGeom xmlns:a="http://schemas.openxmlformats.org/drawingml/2006/main" prst="ellipse">
            <a:avLst/>
          </a:prstGeom>
          <a:solidFill xmlns:a="http://schemas.openxmlformats.org/drawingml/2006/main">
            <a:srgbClr val="10131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D49B45B-B90F-46AB-8544-3281850E383E}"/>
              </a:ext>
            </a:extLst>
          </p:cNvPr>
          <p:cNvSpPr>
            <a:spLocks xmlns:a="http://schemas.openxmlformats.org/drawingml/2006/main" noGrp="1"/>
          </p:cNvSpPr>
          <p:nvPr/>
        </p:nvSpPr>
        <p:spPr>
          <a:xfrm xmlns:a="http://schemas.openxmlformats.org/drawingml/2006/main">
            <a:off x="5772150" y="3105150"/>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FFFFFF"/>
                </a:solidFill>
              </a:defRPr>
            </a:pPr>
            <a:r>
              <a:rPr sz="900" b="1" i="0">
                <a:solidFill>
                  <a:srgbClr val="FFFFFF"/>
                </a:solidFill>
              </a:rPr>
              <a:t>MERGE</a:t>
            </a:r>
          </a:p>
        </p:txBody>
      </p:sp>
      <p:sp>
        <p:nvSpPr>
          <p:cNvPr id="14" name="">
            <a:extLst xmlns:a="http://schemas.openxmlformats.org/drawingml/2006/main">
              <a:ext uri="{FF2B5EF4-FFF2-40B4-BE49-F238E27FC236}">
                <a16:creationId xmlns:a16="http://schemas.microsoft.com/office/drawing/2014/main" id="{A9E18851-4B5C-4C7F-8250-021CBC45D397}"/>
              </a:ext>
            </a:extLst>
          </p:cNvPr>
          <p:cNvSpPr>
            <a:spLocks xmlns:a="http://schemas.openxmlformats.org/drawingml/2006/main" noGrp="1"/>
          </p:cNvSpPr>
          <p:nvPr/>
        </p:nvSpPr>
        <p:spPr>
          <a:xfrm xmlns:a="http://schemas.openxmlformats.org/drawingml/2006/main">
            <a:off x="5372100" y="5010150"/>
            <a:ext cx="1447800" cy="304800"/>
          </a:xfrm>
          <a:prstGeom xmlns:a="http://schemas.openxmlformats.org/drawingml/2006/main" prst="roundRect">
            <a:avLst>
              <a:gd name="adj" fmla="val 50000"/>
            </a:avLst>
          </a:prstGeom>
          <a:solidFill xmlns:a="http://schemas.openxmlformats.org/drawingml/2006/main">
            <a:srgbClr val="10131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23A1AD9-5CF0-40E7-9ABE-539D4D3A163E}"/>
              </a:ext>
            </a:extLst>
          </p:cNvPr>
          <p:cNvSpPr>
            <a:spLocks xmlns:a="http://schemas.openxmlformats.org/drawingml/2006/main" noGrp="1"/>
          </p:cNvSpPr>
          <p:nvPr/>
        </p:nvSpPr>
        <p:spPr>
          <a:xfrm xmlns:a="http://schemas.openxmlformats.org/drawingml/2006/main">
            <a:off x="5467350" y="502920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MARCH 2000</a:t>
            </a:r>
          </a:p>
        </p:txBody>
      </p:sp>
      <p:sp>
        <p:nvSpPr>
          <p:cNvPr id="16" name="">
            <a:extLst xmlns:a="http://schemas.openxmlformats.org/drawingml/2006/main">
              <a:ext uri="{FF2B5EF4-FFF2-40B4-BE49-F238E27FC236}">
                <a16:creationId xmlns:a16="http://schemas.microsoft.com/office/drawing/2014/main" id="{E3238489-D0D1-4D9E-9233-CC093A9B30AC}"/>
              </a:ext>
            </a:extLst>
          </p:cNvPr>
          <p:cNvSpPr>
            <a:spLocks xmlns:a="http://schemas.openxmlformats.org/drawingml/2006/main" noGrp="1"/>
          </p:cNvSpPr>
          <p:nvPr/>
        </p:nvSpPr>
        <p:spPr>
          <a:xfrm xmlns:a="http://schemas.openxmlformats.org/drawingml/2006/main">
            <a:off x="2533650" y="5524500"/>
            <a:ext cx="7124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101318"/>
                </a:solidFill>
              </a:defRPr>
            </a:pPr>
            <a:r>
              <a:rPr sz="1575" b="1" i="0">
                <a:solidFill>
                  <a:srgbClr val="101318"/>
                </a:solidFill>
              </a:rPr>
              <a:t>The merger did not erase the rivalry. It moved it inside the company.</a:t>
            </a:r>
          </a:p>
        </p:txBody>
      </p:sp>
      <p:sp>
        <p:nvSpPr>
          <p:cNvPr id="17" name="">
            <a:extLst xmlns:a="http://schemas.openxmlformats.org/drawingml/2006/main">
              <a:ext uri="{FF2B5EF4-FFF2-40B4-BE49-F238E27FC236}">
                <a16:creationId xmlns:a16="http://schemas.microsoft.com/office/drawing/2014/main" id="{F1A532C2-59D6-435E-B978-3C71F5989379}"/>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DAE84A7-8CE8-4DFE-8628-472865A121A1}"/>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19" name="">
            <a:extLst xmlns:a="http://schemas.openxmlformats.org/drawingml/2006/main">
              <a:ext uri="{FF2B5EF4-FFF2-40B4-BE49-F238E27FC236}">
                <a16:creationId xmlns:a16="http://schemas.microsoft.com/office/drawing/2014/main" id="{45C3750B-EDFF-4A4B-ACD4-5CC17187C6D5}"/>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05</a:t>
            </a:r>
          </a:p>
        </p:txBody>
      </p:sp>
    </p:spTree>
    <p:extLst>
      <p:ext uri="{BB962C8B-B14F-4D97-AF65-F5344CB8AC3E}">
        <p14:creationId xmlns:p14="http://schemas.microsoft.com/office/powerpoint/2010/main" val="1910811751"/>
      </p:ext>
    </p:extLst>
  </p:cSld>
</p:sld>
</file>

<file path=ppt/slides/slide6.xml><?xml version="1.0" encoding="utf-8"?>
<p:sld xmlns:p="http://schemas.openxmlformats.org/presentationml/2006/main">
  <p:cSld>
    <p:bg>
      <p:bgPr>
        <a:solidFill xmlns:a="http://schemas.openxmlformats.org/drawingml/2006/main">
          <a:srgbClr val="10131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78A53A2-3C19-46BC-A62E-77E8F0613554}"/>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2D2FF"/>
                </a:solidFill>
              </a:defRPr>
            </a:pPr>
            <a:r>
              <a:rPr sz="1050" b="1" i="0">
                <a:solidFill>
                  <a:srgbClr val="62D2FF"/>
                </a:solidFill>
              </a:rPr>
              <a:t>THE ORIGINAL SCALE</a:t>
            </a:r>
          </a:p>
        </p:txBody>
      </p:sp>
      <p:sp>
        <p:nvSpPr>
          <p:cNvPr id="2" name="slide-title">
            <a:extLst xmlns:a="http://schemas.openxmlformats.org/drawingml/2006/main">
              <a:ext uri="{FF2B5EF4-FFF2-40B4-BE49-F238E27FC236}">
                <a16:creationId xmlns:a16="http://schemas.microsoft.com/office/drawing/2014/main" id="{852E5355-6470-46E4-997E-D2E998CC347F}"/>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FFFFFF"/>
                </a:solidFill>
              </a:defRPr>
            </a:pPr>
            <a:r>
              <a:rPr sz="3000" b="1" i="0">
                <a:solidFill>
                  <a:srgbClr val="FFFFFF"/>
                </a:solidFill>
              </a:rPr>
              <a:t>PayPal’s real ambition was a new currency.</a:t>
            </a:r>
          </a:p>
        </p:txBody>
      </p:sp>
      <p:sp>
        <p:nvSpPr>
          <p:cNvPr id="3" name="">
            <a:extLst xmlns:a="http://schemas.openxmlformats.org/drawingml/2006/main">
              <a:ext uri="{FF2B5EF4-FFF2-40B4-BE49-F238E27FC236}">
                <a16:creationId xmlns:a16="http://schemas.microsoft.com/office/drawing/2014/main" id="{CF406857-5D97-4D1A-8526-2381B15FCB23}"/>
              </a:ext>
            </a:extLst>
          </p:cNvPr>
          <p:cNvSpPr>
            <a:spLocks xmlns:a="http://schemas.openxmlformats.org/drawingml/2006/main" noGrp="1"/>
          </p:cNvSpPr>
          <p:nvPr/>
        </p:nvSpPr>
        <p:spPr>
          <a:xfrm xmlns:a="http://schemas.openxmlformats.org/drawingml/2006/main">
            <a:off x="590550" y="1714500"/>
            <a:ext cx="71056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75" b="1" i="0">
                <a:solidFill>
                  <a:srgbClr val="FFFFFF"/>
                </a:solidFill>
              </a:defRPr>
            </a:pPr>
            <a:r>
              <a:rPr sz="3675" b="1" i="0">
                <a:solidFill>
                  <a:srgbClr val="FFFFFF"/>
                </a:solidFill>
              </a:rPr>
              <a:t>“We, too, tried to create</a:t>
            </a:r>
          </a:p>
          <a:p xmlns:a="http://schemas.openxmlformats.org/drawingml/2006/main">
            <a:pPr algn="l">
              <a:defRPr sz="3675" b="1" i="0">
                <a:solidFill>
                  <a:srgbClr val="FFFFFF"/>
                </a:solidFill>
              </a:defRPr>
            </a:pPr>
            <a:r>
              <a:rPr sz="3675" b="1" i="0">
                <a:solidFill>
                  <a:srgbClr val="FFFFFF"/>
                </a:solidFill>
              </a:rPr>
              <a:t>a new currency.”</a:t>
            </a:r>
          </a:p>
        </p:txBody>
      </p:sp>
      <p:sp>
        <p:nvSpPr>
          <p:cNvPr id="4" name="">
            <a:extLst xmlns:a="http://schemas.openxmlformats.org/drawingml/2006/main">
              <a:ext uri="{FF2B5EF4-FFF2-40B4-BE49-F238E27FC236}">
                <a16:creationId xmlns:a16="http://schemas.microsoft.com/office/drawing/2014/main" id="{6E98C070-0FF7-4EAF-9717-8D58A28412C4}"/>
              </a:ext>
            </a:extLst>
          </p:cNvPr>
          <p:cNvSpPr>
            <a:spLocks xmlns:a="http://schemas.openxmlformats.org/drawingml/2006/main" noGrp="1"/>
          </p:cNvSpPr>
          <p:nvPr/>
        </p:nvSpPr>
        <p:spPr>
          <a:xfrm xmlns:a="http://schemas.openxmlformats.org/drawingml/2006/main">
            <a:off x="628650" y="4038600"/>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62D2FF"/>
                </a:solidFill>
              </a:defRPr>
            </a:pPr>
            <a:r>
              <a:rPr sz="1125" b="1" i="0">
                <a:solidFill>
                  <a:srgbClr val="62D2FF"/>
                </a:solidFill>
              </a:rPr>
              <a:t>PAYMENT SYSTEM</a:t>
            </a:r>
          </a:p>
        </p:txBody>
      </p:sp>
      <p:sp>
        <p:nvSpPr>
          <p:cNvPr id="5" name="">
            <a:extLst xmlns:a="http://schemas.openxmlformats.org/drawingml/2006/main">
              <a:ext uri="{FF2B5EF4-FFF2-40B4-BE49-F238E27FC236}">
                <a16:creationId xmlns:a16="http://schemas.microsoft.com/office/drawing/2014/main" id="{2296CBF8-C606-43AC-9AF1-27DCB01AFF33}"/>
              </a:ext>
            </a:extLst>
          </p:cNvPr>
          <p:cNvSpPr>
            <a:spLocks xmlns:a="http://schemas.openxmlformats.org/drawingml/2006/main" noGrp="1"/>
          </p:cNvSpPr>
          <p:nvPr/>
        </p:nvSpPr>
        <p:spPr>
          <a:xfrm xmlns:a="http://schemas.openxmlformats.org/drawingml/2006/main">
            <a:off x="3105150" y="396240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53606E"/>
                </a:solidFill>
              </a:defRPr>
            </a:pPr>
            <a:r>
              <a:rPr sz="2550" b="1" i="0">
                <a:solidFill>
                  <a:srgbClr val="53606E"/>
                </a:solidFill>
              </a:rPr>
              <a:t>→</a:t>
            </a:r>
          </a:p>
        </p:txBody>
      </p:sp>
      <p:sp>
        <p:nvSpPr>
          <p:cNvPr id="6" name="">
            <a:extLst xmlns:a="http://schemas.openxmlformats.org/drawingml/2006/main">
              <a:ext uri="{FF2B5EF4-FFF2-40B4-BE49-F238E27FC236}">
                <a16:creationId xmlns:a16="http://schemas.microsoft.com/office/drawing/2014/main" id="{72C30049-938C-4BD9-83AD-A62F37ECCCA1}"/>
              </a:ext>
            </a:extLst>
          </p:cNvPr>
          <p:cNvSpPr>
            <a:spLocks xmlns:a="http://schemas.openxmlformats.org/drawingml/2006/main" noGrp="1"/>
          </p:cNvSpPr>
          <p:nvPr/>
        </p:nvSpPr>
        <p:spPr>
          <a:xfrm xmlns:a="http://schemas.openxmlformats.org/drawingml/2006/main">
            <a:off x="4000500" y="4038600"/>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FF8A3D"/>
                </a:solidFill>
              </a:defRPr>
            </a:pPr>
            <a:r>
              <a:rPr sz="1125" b="1" i="0">
                <a:solidFill>
                  <a:srgbClr val="FF8A3D"/>
                </a:solidFill>
              </a:rPr>
              <a:t>NEW CURRENCY</a:t>
            </a:r>
          </a:p>
        </p:txBody>
      </p:sp>
      <p:sp>
        <p:nvSpPr>
          <p:cNvPr id="7" name="">
            <a:extLst xmlns:a="http://schemas.openxmlformats.org/drawingml/2006/main">
              <a:ext uri="{FF2B5EF4-FFF2-40B4-BE49-F238E27FC236}">
                <a16:creationId xmlns:a16="http://schemas.microsoft.com/office/drawing/2014/main" id="{8A52C647-C286-4861-9075-0289F953EF84}"/>
              </a:ext>
            </a:extLst>
          </p:cNvPr>
          <p:cNvSpPr>
            <a:spLocks xmlns:a="http://schemas.openxmlformats.org/drawingml/2006/main" noGrp="1"/>
          </p:cNvSpPr>
          <p:nvPr/>
        </p:nvSpPr>
        <p:spPr>
          <a:xfrm xmlns:a="http://schemas.openxmlformats.org/drawingml/2006/main">
            <a:off x="723900" y="4533900"/>
            <a:ext cx="6324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0" i="0">
                <a:solidFill>
                  <a:srgbClr val="B9C3CE"/>
                </a:solidFill>
              </a:defRPr>
            </a:pPr>
            <a:r>
              <a:rPr sz="1650" b="0" i="0">
                <a:solidFill>
                  <a:srgbClr val="B9C3CE"/>
                </a:solidFill>
              </a:rPr>
              <a:t>The payment product was the wedge. Monetary sovereignty was the destination.</a:t>
            </a:r>
          </a:p>
        </p:txBody>
      </p:sp>
      <p:sp>
        <p:nvSpPr>
          <p:cNvPr id="8" name="">
            <a:extLst xmlns:a="http://schemas.openxmlformats.org/drawingml/2006/main">
              <a:ext uri="{FF2B5EF4-FFF2-40B4-BE49-F238E27FC236}">
                <a16:creationId xmlns:a16="http://schemas.microsoft.com/office/drawing/2014/main" id="{0827E116-3D82-47FF-89F3-D03EAFFDA427}"/>
              </a:ext>
            </a:extLst>
          </p:cNvPr>
          <p:cNvSpPr>
            <a:spLocks xmlns:a="http://schemas.openxmlformats.org/drawingml/2006/main" noGrp="1"/>
          </p:cNvSpPr>
          <p:nvPr/>
        </p:nvSpPr>
        <p:spPr>
          <a:xfrm xmlns:a="http://schemas.openxmlformats.org/drawingml/2006/main">
            <a:off x="7981950" y="1657350"/>
            <a:ext cx="3638550" cy="3657600"/>
          </a:xfrm>
          <a:prstGeom xmlns:a="http://schemas.openxmlformats.org/drawingml/2006/main" prst="roundRect">
            <a:avLst>
              <a:gd name="adj" fmla="val 4188"/>
            </a:avLst>
          </a:prstGeom>
          <a:solidFill xmlns:a="http://schemas.openxmlformats.org/drawingml/2006/main">
            <a:srgbClr val="277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A45F28E-1FC1-4420-BD45-BD192B474E3B}"/>
              </a:ext>
            </a:extLst>
          </p:cNvPr>
          <p:cNvSpPr>
            <a:spLocks xmlns:a="http://schemas.openxmlformats.org/drawingml/2006/main" noGrp="1"/>
          </p:cNvSpPr>
          <p:nvPr/>
        </p:nvSpPr>
        <p:spPr>
          <a:xfrm xmlns:a="http://schemas.openxmlformats.org/drawingml/2006/main">
            <a:off x="8305800" y="19621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FFFFFF"/>
                </a:solidFill>
              </a:defRPr>
            </a:pPr>
            <a:r>
              <a:rPr sz="900" b="1" i="0">
                <a:solidFill>
                  <a:srgbClr val="FFFFFF"/>
                </a:solidFill>
              </a:rPr>
              <a:t>2014 RETROSPECTIVE</a:t>
            </a:r>
          </a:p>
        </p:txBody>
      </p:sp>
      <p:sp>
        <p:nvSpPr>
          <p:cNvPr id="10" name="">
            <a:extLst xmlns:a="http://schemas.openxmlformats.org/drawingml/2006/main">
              <a:ext uri="{FF2B5EF4-FFF2-40B4-BE49-F238E27FC236}">
                <a16:creationId xmlns:a16="http://schemas.microsoft.com/office/drawing/2014/main" id="{F5512312-E319-46CF-95FF-B048DFB80082}"/>
              </a:ext>
            </a:extLst>
          </p:cNvPr>
          <p:cNvSpPr>
            <a:spLocks xmlns:a="http://schemas.openxmlformats.org/drawingml/2006/main" noGrp="1"/>
          </p:cNvSpPr>
          <p:nvPr/>
        </p:nvSpPr>
        <p:spPr>
          <a:xfrm xmlns:a="http://schemas.openxmlformats.org/drawingml/2006/main">
            <a:off x="8305800" y="2533650"/>
            <a:ext cx="285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FFFFFF"/>
                </a:solidFill>
              </a:defRPr>
            </a:pPr>
            <a:r>
              <a:rPr sz="1875" b="1" i="0">
                <a:solidFill>
                  <a:srgbClr val="FFFFFF"/>
                </a:solidFill>
              </a:rPr>
              <a:t>PayPal became powerful by linking money and email.</a:t>
            </a:r>
          </a:p>
        </p:txBody>
      </p:sp>
      <p:sp>
        <p:nvSpPr>
          <p:cNvPr id="11" name="">
            <a:extLst xmlns:a="http://schemas.openxmlformats.org/drawingml/2006/main">
              <a:ext uri="{FF2B5EF4-FFF2-40B4-BE49-F238E27FC236}">
                <a16:creationId xmlns:a16="http://schemas.microsoft.com/office/drawing/2014/main" id="{E64BBC2C-FAA2-4CC8-A63D-229AFC42DCE5}"/>
              </a:ext>
            </a:extLst>
          </p:cNvPr>
          <p:cNvSpPr>
            <a:spLocks xmlns:a="http://schemas.openxmlformats.org/drawingml/2006/main" noGrp="1"/>
          </p:cNvSpPr>
          <p:nvPr/>
        </p:nvSpPr>
        <p:spPr>
          <a:xfrm xmlns:a="http://schemas.openxmlformats.org/drawingml/2006/main">
            <a:off x="8305800" y="3695700"/>
            <a:ext cx="895350" cy="47625"/>
          </a:xfrm>
          <a:prstGeom xmlns:a="http://schemas.openxmlformats.org/drawingml/2006/main" prst="rect">
            <a:avLst/>
          </a:prstGeom>
          <a:solidFill xmlns:a="http://schemas.openxmlformats.org/drawingml/2006/main">
            <a:srgbClr val="62D2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39AAD1E-8319-4381-969A-4C76B7A6A09E}"/>
              </a:ext>
            </a:extLst>
          </p:cNvPr>
          <p:cNvSpPr>
            <a:spLocks xmlns:a="http://schemas.openxmlformats.org/drawingml/2006/main" noGrp="1"/>
          </p:cNvSpPr>
          <p:nvPr/>
        </p:nvSpPr>
        <p:spPr>
          <a:xfrm xmlns:a="http://schemas.openxmlformats.org/drawingml/2006/main">
            <a:off x="8305800" y="401955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E6F0FF"/>
                </a:solidFill>
              </a:defRPr>
            </a:pPr>
            <a:r>
              <a:rPr sz="1500" b="0" i="0">
                <a:solidFill>
                  <a:srgbClr val="E6F0FF"/>
                </a:solidFill>
              </a:rPr>
              <a:t>But Thiel said it never fully achieved the currency goal.</a:t>
            </a:r>
          </a:p>
        </p:txBody>
      </p:sp>
      <p:sp>
        <p:nvSpPr>
          <p:cNvPr id="13" name="">
            <a:extLst xmlns:a="http://schemas.openxmlformats.org/drawingml/2006/main">
              <a:ext uri="{FF2B5EF4-FFF2-40B4-BE49-F238E27FC236}">
                <a16:creationId xmlns:a16="http://schemas.microsoft.com/office/drawing/2014/main" id="{8B878385-C75E-4FB9-8423-6350B28B0C86}"/>
              </a:ext>
            </a:extLst>
          </p:cNvPr>
          <p:cNvSpPr>
            <a:spLocks xmlns:a="http://schemas.openxmlformats.org/drawingml/2006/main" noGrp="1"/>
          </p:cNvSpPr>
          <p:nvPr/>
        </p:nvSpPr>
        <p:spPr>
          <a:xfrm xmlns:a="http://schemas.openxmlformats.org/drawingml/2006/main">
            <a:off x="609600" y="56769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2D2FF"/>
                </a:solidFill>
              </a:defRPr>
            </a:pPr>
            <a:r>
              <a:rPr sz="1050" b="1" i="0" u="sng">
                <a:solidFill>
                  <a:srgbClr val="62D2FF"/>
                </a:solidFill>
                <a:hlinkClick xmlns:r="http://schemas.openxmlformats.org/officeDocument/2006/relationships" r:id="R14982439f4b842bd"/>
              </a:rPr>
              <a:t>WATCH THE REPOST · 7:16</a:t>
            </a:r>
          </a:p>
        </p:txBody>
      </p:sp>
      <p:sp>
        <p:nvSpPr>
          <p:cNvPr id="14" name="">
            <a:extLst xmlns:a="http://schemas.openxmlformats.org/drawingml/2006/main">
              <a:ext uri="{FF2B5EF4-FFF2-40B4-BE49-F238E27FC236}">
                <a16:creationId xmlns:a16="http://schemas.microsoft.com/office/drawing/2014/main" id="{6D362232-A4AF-415E-8F84-39E6881663CF}"/>
              </a:ext>
            </a:extLst>
          </p:cNvPr>
          <p:cNvSpPr>
            <a:spLocks xmlns:a="http://schemas.openxmlformats.org/drawingml/2006/main" noGrp="1"/>
          </p:cNvSpPr>
          <p:nvPr/>
        </p:nvSpPr>
        <p:spPr>
          <a:xfrm xmlns:a="http://schemas.openxmlformats.org/drawingml/2006/main">
            <a:off x="6858000" y="5676900"/>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i="0">
                <a:solidFill>
                  <a:srgbClr val="8793A0"/>
                </a:solidFill>
              </a:defRPr>
            </a:pPr>
            <a:r>
              <a:rPr sz="900" b="1" i="0">
                <a:solidFill>
                  <a:srgbClr val="8793A0"/>
                </a:solidFill>
              </a:rPr>
              <a:t>TIM FERRISS SHOW #28 · PUBLISHED SEP 9, 2014</a:t>
            </a:r>
          </a:p>
        </p:txBody>
      </p:sp>
      <p:sp>
        <p:nvSpPr>
          <p:cNvPr id="15" name="">
            <a:extLst xmlns:a="http://schemas.openxmlformats.org/drawingml/2006/main">
              <a:ext uri="{FF2B5EF4-FFF2-40B4-BE49-F238E27FC236}">
                <a16:creationId xmlns:a16="http://schemas.microsoft.com/office/drawing/2014/main" id="{645C6D5B-7E85-4F52-B92E-342575AAF72A}"/>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39424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DEB434F-DE01-4864-8B48-34D97D65A427}"/>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AAB4C0"/>
                </a:solidFill>
              </a:defRPr>
            </a:pPr>
            <a:r>
              <a:rPr sz="750" b="1" i="0">
                <a:solidFill>
                  <a:srgbClr val="AAB4C0"/>
                </a:solidFill>
              </a:rPr>
              <a:t>PETER THIEL — SECRETS, FEAR &amp; POWER</a:t>
            </a:r>
          </a:p>
        </p:txBody>
      </p:sp>
      <p:sp>
        <p:nvSpPr>
          <p:cNvPr id="17" name="">
            <a:extLst xmlns:a="http://schemas.openxmlformats.org/drawingml/2006/main">
              <a:ext uri="{FF2B5EF4-FFF2-40B4-BE49-F238E27FC236}">
                <a16:creationId xmlns:a16="http://schemas.microsoft.com/office/drawing/2014/main" id="{8CA4D4D6-EFEC-46F0-B92F-81906EFC12EF}"/>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AAB4C0"/>
                </a:solidFill>
              </a:defRPr>
            </a:pPr>
            <a:r>
              <a:rPr sz="750" b="1" i="0">
                <a:solidFill>
                  <a:srgbClr val="AAB4C0"/>
                </a:solidFill>
              </a:rPr>
              <a:t>06</a:t>
            </a:r>
          </a:p>
        </p:txBody>
      </p:sp>
    </p:spTree>
    <p:extLst>
      <p:ext uri="{BB962C8B-B14F-4D97-AF65-F5344CB8AC3E}">
        <p14:creationId xmlns:p14="http://schemas.microsoft.com/office/powerpoint/2010/main" val="16178892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57BCE0B-5697-46C6-B58F-B5A4831DAB86}"/>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THE SCAR TISSUE</a:t>
            </a:r>
          </a:p>
        </p:txBody>
      </p:sp>
      <p:sp>
        <p:nvSpPr>
          <p:cNvPr id="2" name="slide-title">
            <a:extLst xmlns:a="http://schemas.openxmlformats.org/drawingml/2006/main">
              <a:ext uri="{FF2B5EF4-FFF2-40B4-BE49-F238E27FC236}">
                <a16:creationId xmlns:a16="http://schemas.microsoft.com/office/drawing/2014/main" id="{3841F9A7-4CF8-4746-A700-BC5B3C74DB21}"/>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The board removed Musk while he was away on his honeymoon.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c1b1da64b394dc6"/>
          <a:srcRect xmlns:a="http://schemas.openxmlformats.org/drawingml/2006/main" l="0" t="8811" r="0" b="8811"/>
          <a:stretch xmlns:a="http://schemas.openxmlformats.org/drawingml/2006/main">
            <a:fillRect l="0" t="0" r="0" b="0"/>
          </a:stretch>
        </p:blipFill>
        <p:spPr>
          <a:xfrm xmlns:a="http://schemas.openxmlformats.org/drawingml/2006/main">
            <a:off x="457200" y="1562100"/>
            <a:ext cx="3733800" cy="4514850"/>
          </a:xfrm>
          <a:prstGeom xmlns:a="http://schemas.openxmlformats.org/drawingml/2006/main" prst="roundRect">
            <a:avLst>
              <a:gd name="adj" fmla="val 4082"/>
            </a:avLst>
          </a:prstGeom>
        </p:spPr>
      </p:pic>
      <p:sp>
        <p:nvSpPr>
          <p:cNvPr id="4" name="">
            <a:extLst xmlns:a="http://schemas.openxmlformats.org/drawingml/2006/main">
              <a:ext uri="{FF2B5EF4-FFF2-40B4-BE49-F238E27FC236}">
                <a16:creationId xmlns:a16="http://schemas.microsoft.com/office/drawing/2014/main" id="{925F4C28-D0C9-4324-887D-29F49BDE19BF}"/>
              </a:ext>
            </a:extLst>
          </p:cNvPr>
          <p:cNvSpPr>
            <a:spLocks xmlns:a="http://schemas.openxmlformats.org/drawingml/2006/main" noGrp="1"/>
          </p:cNvSpPr>
          <p:nvPr/>
        </p:nvSpPr>
        <p:spPr>
          <a:xfrm xmlns:a="http://schemas.openxmlformats.org/drawingml/2006/main">
            <a:off x="4572000" y="1619250"/>
            <a:ext cx="6762750" cy="1733550"/>
          </a:xfrm>
          <a:prstGeom xmlns:a="http://schemas.openxmlformats.org/drawingml/2006/main" prst="roundRect">
            <a:avLst>
              <a:gd name="adj" fmla="val 8791"/>
            </a:avLst>
          </a:prstGeom>
          <a:solidFill xmlns:a="http://schemas.openxmlformats.org/drawingml/2006/main">
            <a:srgbClr val="F2F5F8"/>
          </a:solidFill>
          <a:ln xmlns:a="http://schemas.openxmlformats.org/drawingml/2006/main" w="0">
            <a:noFill/>
            <a:prstDash val="solid"/>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99587F0-B169-4C96-BC1F-B871CF7F154E}"/>
              </a:ext>
            </a:extLst>
          </p:cNvPr>
          <p:cNvSpPr>
            <a:spLocks xmlns:a="http://schemas.openxmlformats.org/drawingml/2006/main" noGrp="1"/>
          </p:cNvSpPr>
          <p:nvPr/>
        </p:nvSpPr>
        <p:spPr>
          <a:xfrm xmlns:a="http://schemas.openxmlformats.org/drawingml/2006/main">
            <a:off x="4819650" y="1809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77DFF"/>
                </a:solidFill>
              </a:defRPr>
            </a:pPr>
            <a:r>
              <a:rPr sz="900" b="1" i="0">
                <a:solidFill>
                  <a:srgbClr val="277DFF"/>
                </a:solidFill>
              </a:rPr>
              <a:t>THE RECORD</a:t>
            </a:r>
          </a:p>
        </p:txBody>
      </p:sp>
      <p:sp>
        <p:nvSpPr>
          <p:cNvPr id="6" name="">
            <a:extLst xmlns:a="http://schemas.openxmlformats.org/drawingml/2006/main">
              <a:ext uri="{FF2B5EF4-FFF2-40B4-BE49-F238E27FC236}">
                <a16:creationId xmlns:a16="http://schemas.microsoft.com/office/drawing/2014/main" id="{C6DD8C58-F056-42CA-B3C4-746E138A1A17}"/>
              </a:ext>
            </a:extLst>
          </p:cNvPr>
          <p:cNvSpPr>
            <a:spLocks xmlns:a="http://schemas.openxmlformats.org/drawingml/2006/main" noGrp="1"/>
          </p:cNvSpPr>
          <p:nvPr/>
        </p:nvSpPr>
        <p:spPr>
          <a:xfrm xmlns:a="http://schemas.openxmlformats.org/drawingml/2006/main">
            <a:off x="4819650" y="2152650"/>
            <a:ext cx="6115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01318"/>
                </a:solidFill>
              </a:defRPr>
            </a:pPr>
            <a:r>
              <a:rPr sz="1800" b="1" i="0">
                <a:solidFill>
                  <a:srgbClr val="101318"/>
                </a:solidFill>
              </a:rPr>
              <a:t>Senior employees and the board replaced Musk with Thiel as CEO in September 2000.</a:t>
            </a:r>
          </a:p>
        </p:txBody>
      </p:sp>
      <p:sp>
        <p:nvSpPr>
          <p:cNvPr id="7" name="">
            <a:extLst xmlns:a="http://schemas.openxmlformats.org/drawingml/2006/main">
              <a:ext uri="{FF2B5EF4-FFF2-40B4-BE49-F238E27FC236}">
                <a16:creationId xmlns:a16="http://schemas.microsoft.com/office/drawing/2014/main" id="{510E9EF4-C2DA-4CF7-87DA-3CDE19BFE1B7}"/>
              </a:ext>
            </a:extLst>
          </p:cNvPr>
          <p:cNvSpPr>
            <a:spLocks xmlns:a="http://schemas.openxmlformats.org/drawingml/2006/main" noGrp="1"/>
          </p:cNvSpPr>
          <p:nvPr/>
        </p:nvSpPr>
        <p:spPr>
          <a:xfrm xmlns:a="http://schemas.openxmlformats.org/drawingml/2006/main">
            <a:off x="4572000" y="3600450"/>
            <a:ext cx="6762750" cy="1733550"/>
          </a:xfrm>
          <a:prstGeom xmlns:a="http://schemas.openxmlformats.org/drawingml/2006/main" prst="roundRect">
            <a:avLst>
              <a:gd name="adj" fmla="val 8791"/>
            </a:avLst>
          </a:prstGeom>
          <a:solidFill xmlns:a="http://schemas.openxmlformats.org/drawingml/2006/main">
            <a:srgbClr val="FFF0E6"/>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3313B5B0-2E0D-4839-A050-B93E861F33EA}"/>
              </a:ext>
            </a:extLst>
          </p:cNvPr>
          <p:cNvSpPr>
            <a:spLocks xmlns:a="http://schemas.openxmlformats.org/drawingml/2006/main" noGrp="1"/>
          </p:cNvSpPr>
          <p:nvPr/>
        </p:nvSpPr>
        <p:spPr>
          <a:xfrm xmlns:a="http://schemas.openxmlformats.org/drawingml/2006/main">
            <a:off x="4819650" y="37909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FF8A3D"/>
                </a:solidFill>
              </a:defRPr>
            </a:pPr>
            <a:r>
              <a:rPr sz="900" b="1" i="0">
                <a:solidFill>
                  <a:srgbClr val="FF8A3D"/>
                </a:solidFill>
              </a:rPr>
              <a:t>THE DRAMATIZATION</a:t>
            </a:r>
          </a:p>
        </p:txBody>
      </p:sp>
      <p:sp>
        <p:nvSpPr>
          <p:cNvPr id="9" name="">
            <a:extLst xmlns:a="http://schemas.openxmlformats.org/drawingml/2006/main">
              <a:ext uri="{FF2B5EF4-FFF2-40B4-BE49-F238E27FC236}">
                <a16:creationId xmlns:a16="http://schemas.microsoft.com/office/drawing/2014/main" id="{777B6EC0-E34C-48D9-A85A-FF1B752412AE}"/>
              </a:ext>
            </a:extLst>
          </p:cNvPr>
          <p:cNvSpPr>
            <a:spLocks xmlns:a="http://schemas.openxmlformats.org/drawingml/2006/main" noGrp="1"/>
          </p:cNvSpPr>
          <p:nvPr/>
        </p:nvSpPr>
        <p:spPr>
          <a:xfrm xmlns:a="http://schemas.openxmlformats.org/drawingml/2006/main">
            <a:off x="4819650" y="4133850"/>
            <a:ext cx="6115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01318"/>
                </a:solidFill>
              </a:defRPr>
            </a:pPr>
            <a:r>
              <a:rPr sz="1800" b="1" i="0">
                <a:solidFill>
                  <a:srgbClr val="101318"/>
                </a:solidFill>
              </a:rPr>
              <a:t>“Thiel stabbed Musk in the back” compresses a board revolt into a two-man betrayal story.</a:t>
            </a:r>
          </a:p>
        </p:txBody>
      </p:sp>
      <p:sp>
        <p:nvSpPr>
          <p:cNvPr id="10" name="">
            <a:extLst xmlns:a="http://schemas.openxmlformats.org/drawingml/2006/main">
              <a:ext uri="{FF2B5EF4-FFF2-40B4-BE49-F238E27FC236}">
                <a16:creationId xmlns:a16="http://schemas.microsoft.com/office/drawing/2014/main" id="{D2572B9C-699E-4FB3-B05B-776E5131743C}"/>
              </a:ext>
            </a:extLst>
          </p:cNvPr>
          <p:cNvSpPr>
            <a:spLocks xmlns:a="http://schemas.openxmlformats.org/drawingml/2006/main" noGrp="1"/>
          </p:cNvSpPr>
          <p:nvPr/>
        </p:nvSpPr>
        <p:spPr>
          <a:xfrm xmlns:a="http://schemas.openxmlformats.org/drawingml/2006/main">
            <a:off x="4800600" y="5600700"/>
            <a:ext cx="693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i="0">
                <a:solidFill>
                  <a:srgbClr val="68717D"/>
                </a:solidFill>
              </a:defRPr>
            </a:pPr>
            <a:r>
              <a:rPr sz="1275" b="0" i="0">
                <a:solidFill>
                  <a:srgbClr val="68717D"/>
                </a:solidFill>
              </a:rPr>
              <a:t>Later respect is real. The ‘PTSD from vacations’ story is lore, not documented fact.</a:t>
            </a:r>
          </a:p>
        </p:txBody>
      </p:sp>
      <p:sp>
        <p:nvSpPr>
          <p:cNvPr id="11" name="">
            <a:extLst xmlns:a="http://schemas.openxmlformats.org/drawingml/2006/main">
              <a:ext uri="{FF2B5EF4-FFF2-40B4-BE49-F238E27FC236}">
                <a16:creationId xmlns:a16="http://schemas.microsoft.com/office/drawing/2014/main" id="{C8D2633A-668B-4E49-A4E7-1522621FEFA3}"/>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697F0DF-0717-4355-9857-8AD8340B9F64}"/>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13" name="">
            <a:extLst xmlns:a="http://schemas.openxmlformats.org/drawingml/2006/main">
              <a:ext uri="{FF2B5EF4-FFF2-40B4-BE49-F238E27FC236}">
                <a16:creationId xmlns:a16="http://schemas.microsoft.com/office/drawing/2014/main" id="{C77838ED-2BD0-4229-BB3E-B7B8C2982D63}"/>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07</a:t>
            </a:r>
          </a:p>
        </p:txBody>
      </p:sp>
    </p:spTree>
    <p:extLst>
      <p:ext uri="{BB962C8B-B14F-4D97-AF65-F5344CB8AC3E}">
        <p14:creationId xmlns:p14="http://schemas.microsoft.com/office/powerpoint/2010/main" val="1128228516"/>
      </p:ext>
    </p:extLst>
  </p:cSld>
</p:sld>
</file>

<file path=ppt/slides/slide8.xml><?xml version="1.0" encoding="utf-8"?>
<p:sld xmlns:p="http://schemas.openxmlformats.org/presentationml/2006/main">
  <p:cSld>
    <p:bg>
      <p:bgPr>
        <a:solidFill xmlns:a="http://schemas.openxmlformats.org/drawingml/2006/main">
          <a:srgbClr val="10131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AA24BB9-BBD5-4623-BB46-74D90052BC3E}"/>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2D2FF"/>
                </a:solidFill>
              </a:defRPr>
            </a:pPr>
            <a:r>
              <a:rPr sz="1050" b="1" i="0">
                <a:solidFill>
                  <a:srgbClr val="62D2FF"/>
                </a:solidFill>
              </a:rPr>
              <a:t>THE NETWORK EFFECT</a:t>
            </a:r>
          </a:p>
        </p:txBody>
      </p:sp>
      <p:sp>
        <p:nvSpPr>
          <p:cNvPr id="2" name="slide-title">
            <a:extLst xmlns:a="http://schemas.openxmlformats.org/drawingml/2006/main">
              <a:ext uri="{FF2B5EF4-FFF2-40B4-BE49-F238E27FC236}">
                <a16:creationId xmlns:a16="http://schemas.microsoft.com/office/drawing/2014/main" id="{51E60D09-21A4-4749-918F-2A5AD01D3D29}"/>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FFFFFF"/>
                </a:solidFill>
              </a:defRPr>
            </a:pPr>
            <a:r>
              <a:rPr sz="3000" b="1" i="0">
                <a:solidFill>
                  <a:srgbClr val="FFFFFF"/>
                </a:solidFill>
              </a:rPr>
              <a:t>PayPal’s most durable product may have been its alumni network.</a:t>
            </a:r>
          </a:p>
        </p:txBody>
      </p:sp>
      <p:sp>
        <p:nvSpPr>
          <p:cNvPr id="3" name="">
            <a:extLst xmlns:a="http://schemas.openxmlformats.org/drawingml/2006/main">
              <a:ext uri="{FF2B5EF4-FFF2-40B4-BE49-F238E27FC236}">
                <a16:creationId xmlns:a16="http://schemas.microsoft.com/office/drawing/2014/main" id="{479CB698-2E05-48F9-9133-DAAB61E5B919}"/>
              </a:ext>
            </a:extLst>
          </p:cNvPr>
          <p:cNvSpPr>
            <a:spLocks xmlns:a="http://schemas.openxmlformats.org/drawingml/2006/main" noGrp="1"/>
          </p:cNvSpPr>
          <p:nvPr/>
        </p:nvSpPr>
        <p:spPr>
          <a:xfrm xmlns:a="http://schemas.openxmlformats.org/drawingml/2006/main" rot="-9683996">
            <a:off x="2584328" y="2745254"/>
            <a:ext cx="2790120" cy="19050"/>
          </a:xfrm>
          <a:prstGeom xmlns:a="http://schemas.openxmlformats.org/drawingml/2006/main" prst="rect">
            <a:avLst/>
          </a:prstGeom>
          <a:solidFill xmlns:a="http://schemas.openxmlformats.org/drawingml/2006/main">
            <a:srgbClr val="46515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7E21BC-1F2B-4A49-B6B3-321C74FAA8DE}"/>
              </a:ext>
            </a:extLst>
          </p:cNvPr>
          <p:cNvSpPr>
            <a:spLocks xmlns:a="http://schemas.openxmlformats.org/drawingml/2006/main" noGrp="1"/>
          </p:cNvSpPr>
          <p:nvPr/>
        </p:nvSpPr>
        <p:spPr>
          <a:xfrm xmlns:a="http://schemas.openxmlformats.org/drawingml/2006/main" rot="-1157403">
            <a:off x="6812867" y="2743626"/>
            <a:ext cx="2645973" cy="19050"/>
          </a:xfrm>
          <a:prstGeom xmlns:a="http://schemas.openxmlformats.org/drawingml/2006/main" prst="rect">
            <a:avLst/>
          </a:prstGeom>
          <a:solidFill xmlns:a="http://schemas.openxmlformats.org/drawingml/2006/main">
            <a:srgbClr val="46515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C57C0A-F65A-4425-B694-C64C788483E2}"/>
              </a:ext>
            </a:extLst>
          </p:cNvPr>
          <p:cNvSpPr>
            <a:spLocks xmlns:a="http://schemas.openxmlformats.org/drawingml/2006/main" noGrp="1"/>
          </p:cNvSpPr>
          <p:nvPr/>
        </p:nvSpPr>
        <p:spPr>
          <a:xfrm xmlns:a="http://schemas.openxmlformats.org/drawingml/2006/main" rot="10065328">
            <a:off x="2122845" y="3973652"/>
            <a:ext cx="3190311" cy="19050"/>
          </a:xfrm>
          <a:prstGeom xmlns:a="http://schemas.openxmlformats.org/drawingml/2006/main" prst="rect">
            <a:avLst/>
          </a:prstGeom>
          <a:solidFill xmlns:a="http://schemas.openxmlformats.org/drawingml/2006/main">
            <a:srgbClr val="46515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522812C-06C5-4A7F-B87A-89DE524F9072}"/>
              </a:ext>
            </a:extLst>
          </p:cNvPr>
          <p:cNvSpPr>
            <a:spLocks xmlns:a="http://schemas.openxmlformats.org/drawingml/2006/main" noGrp="1"/>
          </p:cNvSpPr>
          <p:nvPr/>
        </p:nvSpPr>
        <p:spPr>
          <a:xfrm xmlns:a="http://schemas.openxmlformats.org/drawingml/2006/main" rot="734672">
            <a:off x="6878844" y="3973652"/>
            <a:ext cx="3190311" cy="19050"/>
          </a:xfrm>
          <a:prstGeom xmlns:a="http://schemas.openxmlformats.org/drawingml/2006/main" prst="rect">
            <a:avLst/>
          </a:prstGeom>
          <a:solidFill xmlns:a="http://schemas.openxmlformats.org/drawingml/2006/main">
            <a:srgbClr val="46515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A8919A8-EFD3-43B2-BD4A-9BB2F570641F}"/>
              </a:ext>
            </a:extLst>
          </p:cNvPr>
          <p:cNvSpPr>
            <a:spLocks xmlns:a="http://schemas.openxmlformats.org/drawingml/2006/main" noGrp="1"/>
          </p:cNvSpPr>
          <p:nvPr/>
        </p:nvSpPr>
        <p:spPr>
          <a:xfrm xmlns:a="http://schemas.openxmlformats.org/drawingml/2006/main" rot="8202081">
            <a:off x="4335633" y="4489009"/>
            <a:ext cx="1331568" cy="19050"/>
          </a:xfrm>
          <a:prstGeom xmlns:a="http://schemas.openxmlformats.org/drawingml/2006/main" prst="rect">
            <a:avLst/>
          </a:prstGeom>
          <a:solidFill xmlns:a="http://schemas.openxmlformats.org/drawingml/2006/main">
            <a:srgbClr val="46515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3738BE4-341A-4B51-8467-26C8732FEBA7}"/>
              </a:ext>
            </a:extLst>
          </p:cNvPr>
          <p:cNvSpPr>
            <a:spLocks xmlns:a="http://schemas.openxmlformats.org/drawingml/2006/main" noGrp="1"/>
          </p:cNvSpPr>
          <p:nvPr/>
        </p:nvSpPr>
        <p:spPr>
          <a:xfrm xmlns:a="http://schemas.openxmlformats.org/drawingml/2006/main" rot="2597919">
            <a:off x="6524799" y="4489009"/>
            <a:ext cx="1331568" cy="19050"/>
          </a:xfrm>
          <a:prstGeom xmlns:a="http://schemas.openxmlformats.org/drawingml/2006/main" prst="rect">
            <a:avLst/>
          </a:prstGeom>
          <a:solidFill xmlns:a="http://schemas.openxmlformats.org/drawingml/2006/main">
            <a:srgbClr val="46515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ECA7619-1B42-4B94-A7AF-B5736FB3032D}"/>
              </a:ext>
            </a:extLst>
          </p:cNvPr>
          <p:cNvSpPr>
            <a:spLocks xmlns:a="http://schemas.openxmlformats.org/drawingml/2006/main" noGrp="1"/>
          </p:cNvSpPr>
          <p:nvPr/>
        </p:nvSpPr>
        <p:spPr>
          <a:xfrm xmlns:a="http://schemas.openxmlformats.org/drawingml/2006/main">
            <a:off x="5295900" y="2667000"/>
            <a:ext cx="1600200" cy="160020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0A0FCC5-AF64-4251-B0BD-EA40B69BA789}"/>
              </a:ext>
            </a:extLst>
          </p:cNvPr>
          <p:cNvSpPr>
            <a:spLocks xmlns:a="http://schemas.openxmlformats.org/drawingml/2006/main" noGrp="1"/>
          </p:cNvSpPr>
          <p:nvPr/>
        </p:nvSpPr>
        <p:spPr>
          <a:xfrm xmlns:a="http://schemas.openxmlformats.org/drawingml/2006/main">
            <a:off x="5486400" y="3257550"/>
            <a:ext cx="1219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i="0">
                <a:solidFill>
                  <a:srgbClr val="FFFFFF"/>
                </a:solidFill>
              </a:defRPr>
            </a:pPr>
            <a:r>
              <a:rPr sz="1725" b="1" i="0">
                <a:solidFill>
                  <a:srgbClr val="FFFFFF"/>
                </a:solidFill>
              </a:rPr>
              <a:t>PAYPAL</a:t>
            </a:r>
          </a:p>
        </p:txBody>
      </p:sp>
      <p:sp>
        <p:nvSpPr>
          <p:cNvPr id="11" name="">
            <a:extLst xmlns:a="http://schemas.openxmlformats.org/drawingml/2006/main">
              <a:ext uri="{FF2B5EF4-FFF2-40B4-BE49-F238E27FC236}">
                <a16:creationId xmlns:a16="http://schemas.microsoft.com/office/drawing/2014/main" id="{400D1D9D-5B86-4D5C-AFA3-A36A94152318}"/>
              </a:ext>
            </a:extLst>
          </p:cNvPr>
          <p:cNvSpPr>
            <a:spLocks xmlns:a="http://schemas.openxmlformats.org/drawingml/2006/main" noGrp="1"/>
          </p:cNvSpPr>
          <p:nvPr/>
        </p:nvSpPr>
        <p:spPr>
          <a:xfrm xmlns:a="http://schemas.openxmlformats.org/drawingml/2006/main">
            <a:off x="1600200" y="1600200"/>
            <a:ext cx="1066800" cy="1066800"/>
          </a:xfrm>
          <a:prstGeom xmlns:a="http://schemas.openxmlformats.org/drawingml/2006/main" prst="ellipse">
            <a:avLst/>
          </a:prstGeom>
          <a:solidFill xmlns:a="http://schemas.openxmlformats.org/drawingml/2006/main">
            <a:srgbClr val="2D3641"/>
          </a:solidFill>
          <a:ln xmlns:a="http://schemas.openxmlformats.org/drawingml/2006/main" w="19050">
            <a:solidFill>
              <a:srgbClr val="4D5967"/>
            </a:solidFill>
            <a:prstDash val="solid"/>
          </a:ln>
        </p:spPr>
      </p:sp>
      <p:sp>
        <p:nvSpPr>
          <p:cNvPr id="12" name="">
            <a:extLst xmlns:a="http://schemas.openxmlformats.org/drawingml/2006/main">
              <a:ext uri="{FF2B5EF4-FFF2-40B4-BE49-F238E27FC236}">
                <a16:creationId xmlns:a16="http://schemas.microsoft.com/office/drawing/2014/main" id="{B2CAA48C-DA93-4623-A622-2B7B48F68511}"/>
              </a:ext>
            </a:extLst>
          </p:cNvPr>
          <p:cNvSpPr>
            <a:spLocks xmlns:a="http://schemas.openxmlformats.org/drawingml/2006/main" noGrp="1"/>
          </p:cNvSpPr>
          <p:nvPr/>
        </p:nvSpPr>
        <p:spPr>
          <a:xfrm xmlns:a="http://schemas.openxmlformats.org/drawingml/2006/main">
            <a:off x="1524000" y="1952625"/>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FFFFFF"/>
                </a:solidFill>
              </a:defRPr>
            </a:pPr>
            <a:r>
              <a:rPr sz="900" b="1" i="0">
                <a:solidFill>
                  <a:srgbClr val="FFFFFF"/>
                </a:solidFill>
              </a:rPr>
              <a:t>LINKEDIN</a:t>
            </a:r>
          </a:p>
        </p:txBody>
      </p:sp>
      <p:sp>
        <p:nvSpPr>
          <p:cNvPr id="13" name="">
            <a:extLst xmlns:a="http://schemas.openxmlformats.org/drawingml/2006/main">
              <a:ext uri="{FF2B5EF4-FFF2-40B4-BE49-F238E27FC236}">
                <a16:creationId xmlns:a16="http://schemas.microsoft.com/office/drawing/2014/main" id="{8E79BB4E-AD84-426D-A621-19E9BACC4DD7}"/>
              </a:ext>
            </a:extLst>
          </p:cNvPr>
          <p:cNvSpPr>
            <a:spLocks xmlns:a="http://schemas.openxmlformats.org/drawingml/2006/main" noGrp="1"/>
          </p:cNvSpPr>
          <p:nvPr/>
        </p:nvSpPr>
        <p:spPr>
          <a:xfrm xmlns:a="http://schemas.openxmlformats.org/drawingml/2006/main">
            <a:off x="1447800" y="2209800"/>
            <a:ext cx="1371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i="0">
                <a:solidFill>
                  <a:srgbClr val="AAB4C0"/>
                </a:solidFill>
              </a:defRPr>
            </a:pPr>
            <a:r>
              <a:rPr sz="750" b="0" i="0">
                <a:solidFill>
                  <a:srgbClr val="AAB4C0"/>
                </a:solidFill>
              </a:rPr>
              <a:t>Reid Hoffman</a:t>
            </a:r>
          </a:p>
        </p:txBody>
      </p:sp>
      <p:sp>
        <p:nvSpPr>
          <p:cNvPr id="14" name="">
            <a:extLst xmlns:a="http://schemas.openxmlformats.org/drawingml/2006/main">
              <a:ext uri="{FF2B5EF4-FFF2-40B4-BE49-F238E27FC236}">
                <a16:creationId xmlns:a16="http://schemas.microsoft.com/office/drawing/2014/main" id="{B67F358B-4BAC-40E8-B3E9-1AC3C5467D8A}"/>
              </a:ext>
            </a:extLst>
          </p:cNvPr>
          <p:cNvSpPr>
            <a:spLocks xmlns:a="http://schemas.openxmlformats.org/drawingml/2006/main" noGrp="1"/>
          </p:cNvSpPr>
          <p:nvPr/>
        </p:nvSpPr>
        <p:spPr>
          <a:xfrm xmlns:a="http://schemas.openxmlformats.org/drawingml/2006/main">
            <a:off x="9372600" y="1600200"/>
            <a:ext cx="1066800" cy="1066800"/>
          </a:xfrm>
          <a:prstGeom xmlns:a="http://schemas.openxmlformats.org/drawingml/2006/main" prst="ellipse">
            <a:avLst/>
          </a:prstGeom>
          <a:solidFill xmlns:a="http://schemas.openxmlformats.org/drawingml/2006/main">
            <a:srgbClr val="2D3641"/>
          </a:solidFill>
          <a:ln xmlns:a="http://schemas.openxmlformats.org/drawingml/2006/main" w="19050">
            <a:solidFill>
              <a:srgbClr val="4D5967"/>
            </a:solidFill>
            <a:prstDash val="solid"/>
          </a:ln>
        </p:spPr>
      </p:sp>
      <p:sp>
        <p:nvSpPr>
          <p:cNvPr id="15" name="">
            <a:extLst xmlns:a="http://schemas.openxmlformats.org/drawingml/2006/main">
              <a:ext uri="{FF2B5EF4-FFF2-40B4-BE49-F238E27FC236}">
                <a16:creationId xmlns:a16="http://schemas.microsoft.com/office/drawing/2014/main" id="{1CB298DA-E16F-409E-8205-5A100BA40924}"/>
              </a:ext>
            </a:extLst>
          </p:cNvPr>
          <p:cNvSpPr>
            <a:spLocks xmlns:a="http://schemas.openxmlformats.org/drawingml/2006/main" noGrp="1"/>
          </p:cNvSpPr>
          <p:nvPr/>
        </p:nvSpPr>
        <p:spPr>
          <a:xfrm xmlns:a="http://schemas.openxmlformats.org/drawingml/2006/main">
            <a:off x="9296400" y="1952625"/>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FFFFFF"/>
                </a:solidFill>
              </a:defRPr>
            </a:pPr>
            <a:r>
              <a:rPr sz="900" b="1" i="0">
                <a:solidFill>
                  <a:srgbClr val="FFFFFF"/>
                </a:solidFill>
              </a:rPr>
              <a:t>YOUTUBE</a:t>
            </a:r>
          </a:p>
        </p:txBody>
      </p:sp>
      <p:sp>
        <p:nvSpPr>
          <p:cNvPr id="16" name="">
            <a:extLst xmlns:a="http://schemas.openxmlformats.org/drawingml/2006/main">
              <a:ext uri="{FF2B5EF4-FFF2-40B4-BE49-F238E27FC236}">
                <a16:creationId xmlns:a16="http://schemas.microsoft.com/office/drawing/2014/main" id="{3E722374-57EB-4684-9D03-9C9F2463664C}"/>
              </a:ext>
            </a:extLst>
          </p:cNvPr>
          <p:cNvSpPr>
            <a:spLocks xmlns:a="http://schemas.openxmlformats.org/drawingml/2006/main" noGrp="1"/>
          </p:cNvSpPr>
          <p:nvPr/>
        </p:nvSpPr>
        <p:spPr>
          <a:xfrm xmlns:a="http://schemas.openxmlformats.org/drawingml/2006/main">
            <a:off x="9220200" y="2209800"/>
            <a:ext cx="1371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i="0">
                <a:solidFill>
                  <a:srgbClr val="AAB4C0"/>
                </a:solidFill>
              </a:defRPr>
            </a:pPr>
            <a:r>
              <a:rPr sz="750" b="0" i="0">
                <a:solidFill>
                  <a:srgbClr val="AAB4C0"/>
                </a:solidFill>
              </a:rPr>
              <a:t>Chen · Hurley · Karim</a:t>
            </a:r>
          </a:p>
        </p:txBody>
      </p:sp>
      <p:sp>
        <p:nvSpPr>
          <p:cNvPr id="17" name="">
            <a:extLst xmlns:a="http://schemas.openxmlformats.org/drawingml/2006/main">
              <a:ext uri="{FF2B5EF4-FFF2-40B4-BE49-F238E27FC236}">
                <a16:creationId xmlns:a16="http://schemas.microsoft.com/office/drawing/2014/main" id="{800F50B7-D7B0-4CF4-BBC3-A3A8A5A21696}"/>
              </a:ext>
            </a:extLst>
          </p:cNvPr>
          <p:cNvSpPr>
            <a:spLocks xmlns:a="http://schemas.openxmlformats.org/drawingml/2006/main" noGrp="1"/>
          </p:cNvSpPr>
          <p:nvPr/>
        </p:nvSpPr>
        <p:spPr>
          <a:xfrm xmlns:a="http://schemas.openxmlformats.org/drawingml/2006/main">
            <a:off x="1085850" y="3905250"/>
            <a:ext cx="1066800" cy="1066800"/>
          </a:xfrm>
          <a:prstGeom xmlns:a="http://schemas.openxmlformats.org/drawingml/2006/main" prst="ellipse">
            <a:avLst/>
          </a:prstGeom>
          <a:solidFill xmlns:a="http://schemas.openxmlformats.org/drawingml/2006/main">
            <a:srgbClr val="2D3641"/>
          </a:solidFill>
          <a:ln xmlns:a="http://schemas.openxmlformats.org/drawingml/2006/main" w="19050">
            <a:solidFill>
              <a:srgbClr val="4D5967"/>
            </a:solidFill>
            <a:prstDash val="solid"/>
          </a:ln>
        </p:spPr>
      </p:sp>
      <p:sp>
        <p:nvSpPr>
          <p:cNvPr id="18" name="">
            <a:extLst xmlns:a="http://schemas.openxmlformats.org/drawingml/2006/main">
              <a:ext uri="{FF2B5EF4-FFF2-40B4-BE49-F238E27FC236}">
                <a16:creationId xmlns:a16="http://schemas.microsoft.com/office/drawing/2014/main" id="{04C7EEF7-4745-4BA2-A68A-B27E1884ED31}"/>
              </a:ext>
            </a:extLst>
          </p:cNvPr>
          <p:cNvSpPr>
            <a:spLocks xmlns:a="http://schemas.openxmlformats.org/drawingml/2006/main" noGrp="1"/>
          </p:cNvSpPr>
          <p:nvPr/>
        </p:nvSpPr>
        <p:spPr>
          <a:xfrm xmlns:a="http://schemas.openxmlformats.org/drawingml/2006/main">
            <a:off x="1009650" y="4257675"/>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FFFFFF"/>
                </a:solidFill>
              </a:defRPr>
            </a:pPr>
            <a:r>
              <a:rPr sz="900" b="1" i="0">
                <a:solidFill>
                  <a:srgbClr val="FFFFFF"/>
                </a:solidFill>
              </a:rPr>
              <a:t>YELP</a:t>
            </a:r>
          </a:p>
        </p:txBody>
      </p:sp>
      <p:sp>
        <p:nvSpPr>
          <p:cNvPr id="19" name="">
            <a:extLst xmlns:a="http://schemas.openxmlformats.org/drawingml/2006/main">
              <a:ext uri="{FF2B5EF4-FFF2-40B4-BE49-F238E27FC236}">
                <a16:creationId xmlns:a16="http://schemas.microsoft.com/office/drawing/2014/main" id="{D729698A-25D6-42F6-946D-6AB5597610DA}"/>
              </a:ext>
            </a:extLst>
          </p:cNvPr>
          <p:cNvSpPr>
            <a:spLocks xmlns:a="http://schemas.openxmlformats.org/drawingml/2006/main" noGrp="1"/>
          </p:cNvSpPr>
          <p:nvPr/>
        </p:nvSpPr>
        <p:spPr>
          <a:xfrm xmlns:a="http://schemas.openxmlformats.org/drawingml/2006/main">
            <a:off x="933450" y="4514850"/>
            <a:ext cx="1371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i="0">
                <a:solidFill>
                  <a:srgbClr val="AAB4C0"/>
                </a:solidFill>
              </a:defRPr>
            </a:pPr>
            <a:r>
              <a:rPr sz="750" b="0" i="0">
                <a:solidFill>
                  <a:srgbClr val="AAB4C0"/>
                </a:solidFill>
              </a:rPr>
              <a:t>Jeremy Stoppelman</a:t>
            </a:r>
          </a:p>
        </p:txBody>
      </p:sp>
      <p:sp>
        <p:nvSpPr>
          <p:cNvPr id="20" name="">
            <a:extLst xmlns:a="http://schemas.openxmlformats.org/drawingml/2006/main">
              <a:ext uri="{FF2B5EF4-FFF2-40B4-BE49-F238E27FC236}">
                <a16:creationId xmlns:a16="http://schemas.microsoft.com/office/drawing/2014/main" id="{B2E6F030-14B9-4653-AA8C-2671D1577E44}"/>
              </a:ext>
            </a:extLst>
          </p:cNvPr>
          <p:cNvSpPr>
            <a:spLocks xmlns:a="http://schemas.openxmlformats.org/drawingml/2006/main" noGrp="1"/>
          </p:cNvSpPr>
          <p:nvPr/>
        </p:nvSpPr>
        <p:spPr>
          <a:xfrm xmlns:a="http://schemas.openxmlformats.org/drawingml/2006/main">
            <a:off x="10039350" y="3905250"/>
            <a:ext cx="1066800" cy="1066800"/>
          </a:xfrm>
          <a:prstGeom xmlns:a="http://schemas.openxmlformats.org/drawingml/2006/main" prst="ellipse">
            <a:avLst/>
          </a:prstGeom>
          <a:solidFill xmlns:a="http://schemas.openxmlformats.org/drawingml/2006/main">
            <a:srgbClr val="2D3641"/>
          </a:solidFill>
          <a:ln xmlns:a="http://schemas.openxmlformats.org/drawingml/2006/main" w="19050">
            <a:solidFill>
              <a:srgbClr val="4D5967"/>
            </a:solidFill>
            <a:prstDash val="solid"/>
          </a:ln>
        </p:spPr>
      </p:sp>
      <p:sp>
        <p:nvSpPr>
          <p:cNvPr id="21" name="">
            <a:extLst xmlns:a="http://schemas.openxmlformats.org/drawingml/2006/main">
              <a:ext uri="{FF2B5EF4-FFF2-40B4-BE49-F238E27FC236}">
                <a16:creationId xmlns:a16="http://schemas.microsoft.com/office/drawing/2014/main" id="{8D9EFB95-E0F0-4D54-A4DE-2E57390FBE61}"/>
              </a:ext>
            </a:extLst>
          </p:cNvPr>
          <p:cNvSpPr>
            <a:spLocks xmlns:a="http://schemas.openxmlformats.org/drawingml/2006/main" noGrp="1"/>
          </p:cNvSpPr>
          <p:nvPr/>
        </p:nvSpPr>
        <p:spPr>
          <a:xfrm xmlns:a="http://schemas.openxmlformats.org/drawingml/2006/main">
            <a:off x="9963150" y="4257675"/>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FFFFFF"/>
                </a:solidFill>
              </a:defRPr>
            </a:pPr>
            <a:r>
              <a:rPr sz="900" b="1" i="0">
                <a:solidFill>
                  <a:srgbClr val="FFFFFF"/>
                </a:solidFill>
              </a:rPr>
              <a:t>AFFIRM</a:t>
            </a:r>
          </a:p>
        </p:txBody>
      </p:sp>
      <p:sp>
        <p:nvSpPr>
          <p:cNvPr id="22" name="">
            <a:extLst xmlns:a="http://schemas.openxmlformats.org/drawingml/2006/main">
              <a:ext uri="{FF2B5EF4-FFF2-40B4-BE49-F238E27FC236}">
                <a16:creationId xmlns:a16="http://schemas.microsoft.com/office/drawing/2014/main" id="{D99136A4-8279-4219-871E-9FDF8ACB9896}"/>
              </a:ext>
            </a:extLst>
          </p:cNvPr>
          <p:cNvSpPr>
            <a:spLocks xmlns:a="http://schemas.openxmlformats.org/drawingml/2006/main" noGrp="1"/>
          </p:cNvSpPr>
          <p:nvPr/>
        </p:nvSpPr>
        <p:spPr>
          <a:xfrm xmlns:a="http://schemas.openxmlformats.org/drawingml/2006/main">
            <a:off x="9886950" y="4514850"/>
            <a:ext cx="1371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i="0">
                <a:solidFill>
                  <a:srgbClr val="AAB4C0"/>
                </a:solidFill>
              </a:defRPr>
            </a:pPr>
            <a:r>
              <a:rPr sz="750" b="0" i="0">
                <a:solidFill>
                  <a:srgbClr val="AAB4C0"/>
                </a:solidFill>
              </a:rPr>
              <a:t>Max Levchin</a:t>
            </a:r>
          </a:p>
        </p:txBody>
      </p:sp>
      <p:sp>
        <p:nvSpPr>
          <p:cNvPr id="23" name="">
            <a:extLst xmlns:a="http://schemas.openxmlformats.org/drawingml/2006/main">
              <a:ext uri="{FF2B5EF4-FFF2-40B4-BE49-F238E27FC236}">
                <a16:creationId xmlns:a16="http://schemas.microsoft.com/office/drawing/2014/main" id="{F59DC2F3-900C-4F13-ABEE-533CAAF559B6}"/>
              </a:ext>
            </a:extLst>
          </p:cNvPr>
          <p:cNvSpPr>
            <a:spLocks xmlns:a="http://schemas.openxmlformats.org/drawingml/2006/main" noGrp="1"/>
          </p:cNvSpPr>
          <p:nvPr/>
        </p:nvSpPr>
        <p:spPr>
          <a:xfrm xmlns:a="http://schemas.openxmlformats.org/drawingml/2006/main">
            <a:off x="3581400" y="4800600"/>
            <a:ext cx="1066800" cy="1066800"/>
          </a:xfrm>
          <a:prstGeom xmlns:a="http://schemas.openxmlformats.org/drawingml/2006/main" prst="ellipse">
            <a:avLst/>
          </a:prstGeom>
          <a:solidFill xmlns:a="http://schemas.openxmlformats.org/drawingml/2006/main">
            <a:srgbClr val="2D3641"/>
          </a:solidFill>
          <a:ln xmlns:a="http://schemas.openxmlformats.org/drawingml/2006/main" w="19050">
            <a:solidFill>
              <a:srgbClr val="4D5967"/>
            </a:solidFill>
            <a:prstDash val="solid"/>
          </a:ln>
        </p:spPr>
      </p:sp>
      <p:sp>
        <p:nvSpPr>
          <p:cNvPr id="24" name="">
            <a:extLst xmlns:a="http://schemas.openxmlformats.org/drawingml/2006/main">
              <a:ext uri="{FF2B5EF4-FFF2-40B4-BE49-F238E27FC236}">
                <a16:creationId xmlns:a16="http://schemas.microsoft.com/office/drawing/2014/main" id="{3CC8A015-B8E8-4363-823D-50E608A21C0B}"/>
              </a:ext>
            </a:extLst>
          </p:cNvPr>
          <p:cNvSpPr>
            <a:spLocks xmlns:a="http://schemas.openxmlformats.org/drawingml/2006/main" noGrp="1"/>
          </p:cNvSpPr>
          <p:nvPr/>
        </p:nvSpPr>
        <p:spPr>
          <a:xfrm xmlns:a="http://schemas.openxmlformats.org/drawingml/2006/main">
            <a:off x="3505200" y="5153025"/>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FFFFFF"/>
                </a:solidFill>
              </a:defRPr>
            </a:pPr>
            <a:r>
              <a:rPr sz="900" b="1" i="0">
                <a:solidFill>
                  <a:srgbClr val="FFFFFF"/>
                </a:solidFill>
              </a:rPr>
              <a:t>FOUNDERS FUND</a:t>
            </a:r>
          </a:p>
        </p:txBody>
      </p:sp>
      <p:sp>
        <p:nvSpPr>
          <p:cNvPr id="25" name="">
            <a:extLst xmlns:a="http://schemas.openxmlformats.org/drawingml/2006/main">
              <a:ext uri="{FF2B5EF4-FFF2-40B4-BE49-F238E27FC236}">
                <a16:creationId xmlns:a16="http://schemas.microsoft.com/office/drawing/2014/main" id="{E630375F-D7DC-4C05-85A7-F6C63A7430C9}"/>
              </a:ext>
            </a:extLst>
          </p:cNvPr>
          <p:cNvSpPr>
            <a:spLocks xmlns:a="http://schemas.openxmlformats.org/drawingml/2006/main" noGrp="1"/>
          </p:cNvSpPr>
          <p:nvPr/>
        </p:nvSpPr>
        <p:spPr>
          <a:xfrm xmlns:a="http://schemas.openxmlformats.org/drawingml/2006/main">
            <a:off x="3429000" y="5410200"/>
            <a:ext cx="1371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i="0">
                <a:solidFill>
                  <a:srgbClr val="AAB4C0"/>
                </a:solidFill>
              </a:defRPr>
            </a:pPr>
            <a:r>
              <a:rPr sz="750" b="0" i="0">
                <a:solidFill>
                  <a:srgbClr val="AAB4C0"/>
                </a:solidFill>
              </a:rPr>
              <a:t>Thiel · Luke Nosek</a:t>
            </a:r>
          </a:p>
        </p:txBody>
      </p:sp>
      <p:sp>
        <p:nvSpPr>
          <p:cNvPr id="26" name="">
            <a:extLst xmlns:a="http://schemas.openxmlformats.org/drawingml/2006/main">
              <a:ext uri="{FF2B5EF4-FFF2-40B4-BE49-F238E27FC236}">
                <a16:creationId xmlns:a16="http://schemas.microsoft.com/office/drawing/2014/main" id="{9CAF193B-9A7A-456A-AD0D-6E88E4B0D1F8}"/>
              </a:ext>
            </a:extLst>
          </p:cNvPr>
          <p:cNvSpPr>
            <a:spLocks xmlns:a="http://schemas.openxmlformats.org/drawingml/2006/main" noGrp="1"/>
          </p:cNvSpPr>
          <p:nvPr/>
        </p:nvSpPr>
        <p:spPr>
          <a:xfrm xmlns:a="http://schemas.openxmlformats.org/drawingml/2006/main">
            <a:off x="7543800" y="4800600"/>
            <a:ext cx="1066800" cy="1066800"/>
          </a:xfrm>
          <a:prstGeom xmlns:a="http://schemas.openxmlformats.org/drawingml/2006/main" prst="ellipse">
            <a:avLst/>
          </a:prstGeom>
          <a:solidFill xmlns:a="http://schemas.openxmlformats.org/drawingml/2006/main">
            <a:srgbClr val="2D3641"/>
          </a:solidFill>
          <a:ln xmlns:a="http://schemas.openxmlformats.org/drawingml/2006/main" w="19050">
            <a:solidFill>
              <a:srgbClr val="4D5967"/>
            </a:solidFill>
            <a:prstDash val="solid"/>
          </a:ln>
        </p:spPr>
      </p:sp>
      <p:sp>
        <p:nvSpPr>
          <p:cNvPr id="27" name="">
            <a:extLst xmlns:a="http://schemas.openxmlformats.org/drawingml/2006/main">
              <a:ext uri="{FF2B5EF4-FFF2-40B4-BE49-F238E27FC236}">
                <a16:creationId xmlns:a16="http://schemas.microsoft.com/office/drawing/2014/main" id="{AE3C5331-433E-47C8-98C6-A9F57D2572AB}"/>
              </a:ext>
            </a:extLst>
          </p:cNvPr>
          <p:cNvSpPr>
            <a:spLocks xmlns:a="http://schemas.openxmlformats.org/drawingml/2006/main" noGrp="1"/>
          </p:cNvSpPr>
          <p:nvPr/>
        </p:nvSpPr>
        <p:spPr>
          <a:xfrm xmlns:a="http://schemas.openxmlformats.org/drawingml/2006/main">
            <a:off x="7467600" y="5153025"/>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FFFFFF"/>
                </a:solidFill>
              </a:defRPr>
            </a:pPr>
            <a:r>
              <a:rPr sz="900" b="1" i="0">
                <a:solidFill>
                  <a:srgbClr val="FFFFFF"/>
                </a:solidFill>
              </a:rPr>
              <a:t>TESLA / SPACEX</a:t>
            </a:r>
          </a:p>
        </p:txBody>
      </p:sp>
      <p:sp>
        <p:nvSpPr>
          <p:cNvPr id="28" name="">
            <a:extLst xmlns:a="http://schemas.openxmlformats.org/drawingml/2006/main">
              <a:ext uri="{FF2B5EF4-FFF2-40B4-BE49-F238E27FC236}">
                <a16:creationId xmlns:a16="http://schemas.microsoft.com/office/drawing/2014/main" id="{F0918A03-B8B5-4556-986C-1CDCB9736075}"/>
              </a:ext>
            </a:extLst>
          </p:cNvPr>
          <p:cNvSpPr>
            <a:spLocks xmlns:a="http://schemas.openxmlformats.org/drawingml/2006/main" noGrp="1"/>
          </p:cNvSpPr>
          <p:nvPr/>
        </p:nvSpPr>
        <p:spPr>
          <a:xfrm xmlns:a="http://schemas.openxmlformats.org/drawingml/2006/main">
            <a:off x="7391400" y="5410200"/>
            <a:ext cx="1371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i="0">
                <a:solidFill>
                  <a:srgbClr val="AAB4C0"/>
                </a:solidFill>
              </a:defRPr>
            </a:pPr>
            <a:r>
              <a:rPr sz="750" b="0" i="0">
                <a:solidFill>
                  <a:srgbClr val="AAB4C0"/>
                </a:solidFill>
              </a:rPr>
              <a:t>Elon Musk</a:t>
            </a:r>
          </a:p>
        </p:txBody>
      </p:sp>
      <p:sp>
        <p:nvSpPr>
          <p:cNvPr id="29" name="">
            <a:extLst xmlns:a="http://schemas.openxmlformats.org/drawingml/2006/main">
              <a:ext uri="{FF2B5EF4-FFF2-40B4-BE49-F238E27FC236}">
                <a16:creationId xmlns:a16="http://schemas.microsoft.com/office/drawing/2014/main" id="{547DF0FD-CF60-450D-8E5F-360922B76514}"/>
              </a:ext>
            </a:extLst>
          </p:cNvPr>
          <p:cNvSpPr>
            <a:spLocks xmlns:a="http://schemas.openxmlformats.org/drawingml/2006/main" noGrp="1"/>
          </p:cNvSpPr>
          <p:nvPr/>
        </p:nvSpPr>
        <p:spPr>
          <a:xfrm xmlns:a="http://schemas.openxmlformats.org/drawingml/2006/main">
            <a:off x="2990850" y="5810250"/>
            <a:ext cx="621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i="0">
                <a:solidFill>
                  <a:srgbClr val="AAB4C0"/>
                </a:solidFill>
              </a:defRPr>
            </a:pPr>
            <a:r>
              <a:rPr sz="1275" b="0" i="0">
                <a:solidFill>
                  <a:srgbClr val="AAB4C0"/>
                </a:solidFill>
              </a:rPr>
              <a:t>A dense trust network turned one exit into decades of companies, capital, and shared access.</a:t>
            </a:r>
          </a:p>
        </p:txBody>
      </p:sp>
      <p:sp>
        <p:nvSpPr>
          <p:cNvPr id="30" name="">
            <a:extLst xmlns:a="http://schemas.openxmlformats.org/drawingml/2006/main">
              <a:ext uri="{FF2B5EF4-FFF2-40B4-BE49-F238E27FC236}">
                <a16:creationId xmlns:a16="http://schemas.microsoft.com/office/drawing/2014/main" id="{ED9449D8-BC1B-4509-9396-9AF3C3556CC2}"/>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39424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49AFC1B-8E29-4F5C-AF0D-9DE87F62D95B}"/>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AAB4C0"/>
                </a:solidFill>
              </a:defRPr>
            </a:pPr>
            <a:r>
              <a:rPr sz="750" b="1" i="0">
                <a:solidFill>
                  <a:srgbClr val="AAB4C0"/>
                </a:solidFill>
              </a:rPr>
              <a:t>PETER THIEL — SECRETS, FEAR &amp; POWER</a:t>
            </a:r>
          </a:p>
        </p:txBody>
      </p:sp>
      <p:sp>
        <p:nvSpPr>
          <p:cNvPr id="32" name="">
            <a:extLst xmlns:a="http://schemas.openxmlformats.org/drawingml/2006/main">
              <a:ext uri="{FF2B5EF4-FFF2-40B4-BE49-F238E27FC236}">
                <a16:creationId xmlns:a16="http://schemas.microsoft.com/office/drawing/2014/main" id="{B986003C-1FB8-4DAF-BDDF-B6E33494B75D}"/>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AAB4C0"/>
                </a:solidFill>
              </a:defRPr>
            </a:pPr>
            <a:r>
              <a:rPr sz="750" b="1" i="0">
                <a:solidFill>
                  <a:srgbClr val="AAB4C0"/>
                </a:solidFill>
              </a:rPr>
              <a:t>08</a:t>
            </a:r>
          </a:p>
        </p:txBody>
      </p:sp>
    </p:spTree>
    <p:extLst>
      <p:ext uri="{BB962C8B-B14F-4D97-AF65-F5344CB8AC3E}">
        <p14:creationId xmlns:p14="http://schemas.microsoft.com/office/powerpoint/2010/main" val="7871585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03A0ECE-0D6F-47E8-A5B9-1A09FCDA49DE}"/>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THE FOUNDER SIGNAL</a:t>
            </a:r>
          </a:p>
        </p:txBody>
      </p:sp>
      <p:sp>
        <p:nvSpPr>
          <p:cNvPr id="2" name="slide-title">
            <a:extLst xmlns:a="http://schemas.openxmlformats.org/drawingml/2006/main">
              <a:ext uri="{FF2B5EF4-FFF2-40B4-BE49-F238E27FC236}">
                <a16:creationId xmlns:a16="http://schemas.microsoft.com/office/drawing/2014/main" id="{3D5A1F26-CD2D-4098-8B1B-1AD02F5B1742}"/>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Facebook taught Thiel to read refusal as information.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0f01347965549e4"/>
          <a:srcRect xmlns:a="http://schemas.openxmlformats.org/drawingml/2006/main" l="0" t="205" r="0" b="205"/>
          <a:stretch xmlns:a="http://schemas.openxmlformats.org/drawingml/2006/main">
            <a:fillRect l="0" t="0" r="0" b="0"/>
          </a:stretch>
        </p:blipFill>
        <p:spPr>
          <a:xfrm xmlns:a="http://schemas.openxmlformats.org/drawingml/2006/main">
            <a:off x="7772400" y="1390650"/>
            <a:ext cx="3486150" cy="4629150"/>
          </a:xfrm>
          <a:prstGeom xmlns:a="http://schemas.openxmlformats.org/drawingml/2006/main" prst="roundRect">
            <a:avLst>
              <a:gd name="adj" fmla="val 4372"/>
            </a:avLst>
          </a:prstGeom>
        </p:spPr>
      </p:pic>
      <p:sp>
        <p:nvSpPr>
          <p:cNvPr id="4" name="">
            <a:extLst xmlns:a="http://schemas.openxmlformats.org/drawingml/2006/main">
              <a:ext uri="{FF2B5EF4-FFF2-40B4-BE49-F238E27FC236}">
                <a16:creationId xmlns:a16="http://schemas.microsoft.com/office/drawing/2014/main" id="{8D30411E-35B6-4A1A-A04E-21EFB425CD0C}"/>
              </a:ext>
            </a:extLst>
          </p:cNvPr>
          <p:cNvSpPr>
            <a:spLocks xmlns:a="http://schemas.openxmlformats.org/drawingml/2006/main" noGrp="1"/>
          </p:cNvSpPr>
          <p:nvPr/>
        </p:nvSpPr>
        <p:spPr>
          <a:xfrm xmlns:a="http://schemas.openxmlformats.org/drawingml/2006/main">
            <a:off x="495300" y="1657350"/>
            <a:ext cx="295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i="0">
                <a:solidFill>
                  <a:srgbClr val="277DFF"/>
                </a:solidFill>
              </a:defRPr>
            </a:pPr>
            <a:r>
              <a:rPr sz="4350" b="1" i="0">
                <a:solidFill>
                  <a:srgbClr val="277DFF"/>
                </a:solidFill>
              </a:rPr>
              <a:t>$500K</a:t>
            </a:r>
          </a:p>
        </p:txBody>
      </p:sp>
      <p:sp>
        <p:nvSpPr>
          <p:cNvPr id="5" name="">
            <a:extLst xmlns:a="http://schemas.openxmlformats.org/drawingml/2006/main">
              <a:ext uri="{FF2B5EF4-FFF2-40B4-BE49-F238E27FC236}">
                <a16:creationId xmlns:a16="http://schemas.microsoft.com/office/drawing/2014/main" id="{FC8B7DC1-0EB7-475A-8BC6-846D04406809}"/>
              </a:ext>
            </a:extLst>
          </p:cNvPr>
          <p:cNvSpPr>
            <a:spLocks xmlns:a="http://schemas.openxmlformats.org/drawingml/2006/main" noGrp="1"/>
          </p:cNvSpPr>
          <p:nvPr/>
        </p:nvSpPr>
        <p:spPr>
          <a:xfrm xmlns:a="http://schemas.openxmlformats.org/drawingml/2006/main">
            <a:off x="533400" y="2457450"/>
            <a:ext cx="561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8717D"/>
                </a:solidFill>
              </a:defRPr>
            </a:pPr>
            <a:r>
              <a:rPr sz="1575" b="0" i="0">
                <a:solidFill>
                  <a:srgbClr val="68717D"/>
                </a:solidFill>
              </a:rPr>
              <a:t>Thiel’s 2004 investment—Facebook’s first major outside check.</a:t>
            </a:r>
          </a:p>
        </p:txBody>
      </p:sp>
      <p:sp>
        <p:nvSpPr>
          <p:cNvPr id="6" name="">
            <a:extLst xmlns:a="http://schemas.openxmlformats.org/drawingml/2006/main">
              <a:ext uri="{FF2B5EF4-FFF2-40B4-BE49-F238E27FC236}">
                <a16:creationId xmlns:a16="http://schemas.microsoft.com/office/drawing/2014/main" id="{2A4D01F4-A492-43CF-996B-320CCE93F32D}"/>
              </a:ext>
            </a:extLst>
          </p:cNvPr>
          <p:cNvSpPr>
            <a:spLocks xmlns:a="http://schemas.openxmlformats.org/drawingml/2006/main" noGrp="1"/>
          </p:cNvSpPr>
          <p:nvPr/>
        </p:nvSpPr>
        <p:spPr>
          <a:xfrm xmlns:a="http://schemas.openxmlformats.org/drawingml/2006/main">
            <a:off x="514350" y="3371850"/>
            <a:ext cx="6400800" cy="19050"/>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B6A03B5-FDBE-4C62-994A-8BF880578CB6}"/>
              </a:ext>
            </a:extLst>
          </p:cNvPr>
          <p:cNvSpPr>
            <a:spLocks xmlns:a="http://schemas.openxmlformats.org/drawingml/2006/main" noGrp="1"/>
          </p:cNvSpPr>
          <p:nvPr/>
        </p:nvSpPr>
        <p:spPr>
          <a:xfrm xmlns:a="http://schemas.openxmlformats.org/drawingml/2006/main">
            <a:off x="495300" y="3695700"/>
            <a:ext cx="295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i="0">
                <a:solidFill>
                  <a:srgbClr val="FF8A3D"/>
                </a:solidFill>
              </a:defRPr>
            </a:pPr>
            <a:r>
              <a:rPr sz="4350" b="1" i="0">
                <a:solidFill>
                  <a:srgbClr val="FF8A3D"/>
                </a:solidFill>
              </a:rPr>
              <a:t>$1B</a:t>
            </a:r>
          </a:p>
        </p:txBody>
      </p:sp>
      <p:sp>
        <p:nvSpPr>
          <p:cNvPr id="8" name="">
            <a:extLst xmlns:a="http://schemas.openxmlformats.org/drawingml/2006/main">
              <a:ext uri="{FF2B5EF4-FFF2-40B4-BE49-F238E27FC236}">
                <a16:creationId xmlns:a16="http://schemas.microsoft.com/office/drawing/2014/main" id="{427340D3-7BE1-4448-B3EF-A8B340BE16C7}"/>
              </a:ext>
            </a:extLst>
          </p:cNvPr>
          <p:cNvSpPr>
            <a:spLocks xmlns:a="http://schemas.openxmlformats.org/drawingml/2006/main" noGrp="1"/>
          </p:cNvSpPr>
          <p:nvPr/>
        </p:nvSpPr>
        <p:spPr>
          <a:xfrm xmlns:a="http://schemas.openxmlformats.org/drawingml/2006/main">
            <a:off x="533400" y="4495800"/>
            <a:ext cx="581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68717D"/>
                </a:solidFill>
              </a:defRPr>
            </a:pPr>
            <a:r>
              <a:rPr sz="1575" b="0" i="0">
                <a:solidFill>
                  <a:srgbClr val="68717D"/>
                </a:solidFill>
              </a:rPr>
              <a:t>Yahoo’s 2006 offer. Zuckerberg told the board the meeting was effectively a formality: he would not sell.</a:t>
            </a:r>
          </a:p>
        </p:txBody>
      </p:sp>
      <p:sp>
        <p:nvSpPr>
          <p:cNvPr id="9" name="">
            <a:extLst xmlns:a="http://schemas.openxmlformats.org/drawingml/2006/main">
              <a:ext uri="{FF2B5EF4-FFF2-40B4-BE49-F238E27FC236}">
                <a16:creationId xmlns:a16="http://schemas.microsoft.com/office/drawing/2014/main" id="{6C6F50CD-2D9A-459C-9BF8-425B6653A2A5}"/>
              </a:ext>
            </a:extLst>
          </p:cNvPr>
          <p:cNvSpPr>
            <a:spLocks xmlns:a="http://schemas.openxmlformats.org/drawingml/2006/main" noGrp="1"/>
          </p:cNvSpPr>
          <p:nvPr/>
        </p:nvSpPr>
        <p:spPr>
          <a:xfrm xmlns:a="http://schemas.openxmlformats.org/drawingml/2006/main">
            <a:off x="514350" y="5657850"/>
            <a:ext cx="6153150" cy="419100"/>
          </a:xfrm>
          <a:prstGeom xmlns:a="http://schemas.openxmlformats.org/drawingml/2006/main" prst="roundRect">
            <a:avLst>
              <a:gd name="adj" fmla="val 18182"/>
            </a:avLst>
          </a:prstGeom>
          <a:solidFill xmlns:a="http://schemas.openxmlformats.org/drawingml/2006/main">
            <a:srgbClr val="10131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B22A82F-640E-4FDE-8C8C-6ADDAD30068D}"/>
              </a:ext>
            </a:extLst>
          </p:cNvPr>
          <p:cNvSpPr>
            <a:spLocks xmlns:a="http://schemas.openxmlformats.org/drawingml/2006/main" noGrp="1"/>
          </p:cNvSpPr>
          <p:nvPr/>
        </p:nvSpPr>
        <p:spPr>
          <a:xfrm xmlns:a="http://schemas.openxmlformats.org/drawingml/2006/main">
            <a:off x="685800" y="5715000"/>
            <a:ext cx="582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FFFFFF"/>
                </a:solidFill>
              </a:defRPr>
            </a:pPr>
            <a:r>
              <a:rPr sz="1125" b="1" i="0">
                <a:solidFill>
                  <a:srgbClr val="FFFFFF"/>
                </a:solidFill>
              </a:rPr>
              <a:t>THE SIGNAL: ambition survived a life-changing exit.</a:t>
            </a:r>
          </a:p>
        </p:txBody>
      </p:sp>
      <p:sp>
        <p:nvSpPr>
          <p:cNvPr id="11" name="">
            <a:extLst xmlns:a="http://schemas.openxmlformats.org/drawingml/2006/main">
              <a:ext uri="{FF2B5EF4-FFF2-40B4-BE49-F238E27FC236}">
                <a16:creationId xmlns:a16="http://schemas.microsoft.com/office/drawing/2014/main" id="{33BE0C2A-0DE7-4013-B967-2E60E16D45C2}"/>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8E3AAF1-0966-462E-B5E4-8C24D0F7FC23}"/>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13" name="">
            <a:extLst xmlns:a="http://schemas.openxmlformats.org/drawingml/2006/main">
              <a:ext uri="{FF2B5EF4-FFF2-40B4-BE49-F238E27FC236}">
                <a16:creationId xmlns:a16="http://schemas.microsoft.com/office/drawing/2014/main" id="{C61F945E-B7B2-4EB7-B7C7-A7E0E53F81AF}"/>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09</a:t>
            </a:r>
          </a:p>
        </p:txBody>
      </p:sp>
    </p:spTree>
    <p:extLst>
      <p:ext uri="{BB962C8B-B14F-4D97-AF65-F5344CB8AC3E}">
        <p14:creationId xmlns:p14="http://schemas.microsoft.com/office/powerpoint/2010/main" val="1478004842"/>
      </p:ext>
    </p:extLst>
  </p:cSld>
</p:sld>
</file>

<file path=ppt/slides/slide10.xml><?xml version="1.0" encoding="utf-8"?>
<p:sld xmlns:p="http://schemas.openxmlformats.org/presentationml/2006/main">
  <p:cSld>
    <p:bg>
      <p:bgPr>
        <a:solidFill xmlns:a="http://schemas.openxmlformats.org/drawingml/2006/main">
          <a:srgbClr val="F2F5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DC6F483-02A1-4EAB-9EC4-29294C9C767E}"/>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THE OPERATING MANUAL</a:t>
            </a:r>
          </a:p>
        </p:txBody>
      </p:sp>
      <p:sp>
        <p:nvSpPr>
          <p:cNvPr id="2" name="slide-title">
            <a:extLst xmlns:a="http://schemas.openxmlformats.org/drawingml/2006/main">
              <a:ext uri="{FF2B5EF4-FFF2-40B4-BE49-F238E27FC236}">
                <a16:creationId xmlns:a16="http://schemas.microsoft.com/office/drawing/2014/main" id="{1E60A662-3D44-4FA3-8786-E817B0634AC1}"/>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Zero to One turned the private method into a public vocabulary.</a:t>
            </a:r>
          </a:p>
        </p:txBody>
      </p:sp>
      <p:sp>
        <p:nvSpPr>
          <p:cNvPr id="3" name="">
            <a:extLst xmlns:a="http://schemas.openxmlformats.org/drawingml/2006/main">
              <a:ext uri="{FF2B5EF4-FFF2-40B4-BE49-F238E27FC236}">
                <a16:creationId xmlns:a16="http://schemas.microsoft.com/office/drawing/2014/main" id="{F61035E0-4974-4A0B-A2B6-6E8E0FA91686}"/>
              </a:ext>
            </a:extLst>
          </p:cNvPr>
          <p:cNvSpPr>
            <a:spLocks xmlns:a="http://schemas.openxmlformats.org/drawingml/2006/main" noGrp="1"/>
          </p:cNvSpPr>
          <p:nvPr/>
        </p:nvSpPr>
        <p:spPr>
          <a:xfrm xmlns:a="http://schemas.openxmlformats.org/drawingml/2006/main">
            <a:off x="514350" y="1600200"/>
            <a:ext cx="3105150" cy="4229100"/>
          </a:xfrm>
          <a:prstGeom xmlns:a="http://schemas.openxmlformats.org/drawingml/2006/main" prst="roundRect">
            <a:avLst>
              <a:gd name="adj" fmla="val 3681"/>
            </a:avLst>
          </a:prstGeom>
          <a:solidFill xmlns:a="http://schemas.openxmlformats.org/drawingml/2006/main">
            <a:srgbClr val="101318"/>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5913066E-8753-43A1-AE2C-C55246810C14}"/>
              </a:ext>
            </a:extLst>
          </p:cNvPr>
          <p:cNvSpPr>
            <a:spLocks xmlns:a="http://schemas.openxmlformats.org/drawingml/2006/main" noGrp="1"/>
          </p:cNvSpPr>
          <p:nvPr/>
        </p:nvSpPr>
        <p:spPr>
          <a:xfrm xmlns:a="http://schemas.openxmlformats.org/drawingml/2006/main">
            <a:off x="876300" y="1981200"/>
            <a:ext cx="2381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i="0">
                <a:solidFill>
                  <a:srgbClr val="FFFFFF"/>
                </a:solidFill>
              </a:defRPr>
            </a:pPr>
            <a:r>
              <a:rPr sz="4350" b="1" i="0">
                <a:solidFill>
                  <a:srgbClr val="FFFFFF"/>
                </a:solidFill>
              </a:rPr>
              <a:t>ZERO</a:t>
            </a:r>
          </a:p>
          <a:p xmlns:a="http://schemas.openxmlformats.org/drawingml/2006/main">
            <a:pPr algn="l">
              <a:defRPr sz="4350" b="1" i="0">
                <a:solidFill>
                  <a:srgbClr val="FFFFFF"/>
                </a:solidFill>
              </a:defRPr>
            </a:pPr>
            <a:r>
              <a:rPr sz="4350" b="1" i="0">
                <a:solidFill>
                  <a:srgbClr val="FFFFFF"/>
                </a:solidFill>
              </a:rPr>
              <a:t>TO</a:t>
            </a:r>
          </a:p>
          <a:p xmlns:a="http://schemas.openxmlformats.org/drawingml/2006/main">
            <a:pPr algn="l">
              <a:defRPr sz="4350" b="1" i="0">
                <a:solidFill>
                  <a:srgbClr val="FFFFFF"/>
                </a:solidFill>
              </a:defRPr>
            </a:pPr>
            <a:r>
              <a:rPr sz="4350" b="1" i="0">
                <a:solidFill>
                  <a:srgbClr val="FFFFFF"/>
                </a:solidFill>
              </a:rPr>
              <a:t>ONE</a:t>
            </a:r>
          </a:p>
        </p:txBody>
      </p:sp>
      <p:sp>
        <p:nvSpPr>
          <p:cNvPr id="5" name="">
            <a:extLst xmlns:a="http://schemas.openxmlformats.org/drawingml/2006/main">
              <a:ext uri="{FF2B5EF4-FFF2-40B4-BE49-F238E27FC236}">
                <a16:creationId xmlns:a16="http://schemas.microsoft.com/office/drawing/2014/main" id="{0B2E1AB6-4740-4A84-B833-C30956AB5EDA}"/>
              </a:ext>
            </a:extLst>
          </p:cNvPr>
          <p:cNvSpPr>
            <a:spLocks xmlns:a="http://schemas.openxmlformats.org/drawingml/2006/main" noGrp="1"/>
          </p:cNvSpPr>
          <p:nvPr/>
        </p:nvSpPr>
        <p:spPr>
          <a:xfrm xmlns:a="http://schemas.openxmlformats.org/drawingml/2006/main">
            <a:off x="876300" y="4591050"/>
            <a:ext cx="857250" cy="57150"/>
          </a:xfrm>
          <a:prstGeom xmlns:a="http://schemas.openxmlformats.org/drawingml/2006/main" prst="rect">
            <a:avLst/>
          </a:prstGeom>
          <a:solidFill xmlns:a="http://schemas.openxmlformats.org/drawingml/2006/main">
            <a:srgbClr val="277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0C5008F-1CA5-46FE-A661-E989538DE402}"/>
              </a:ext>
            </a:extLst>
          </p:cNvPr>
          <p:cNvSpPr>
            <a:spLocks xmlns:a="http://schemas.openxmlformats.org/drawingml/2006/main" noGrp="1"/>
          </p:cNvSpPr>
          <p:nvPr/>
        </p:nvSpPr>
        <p:spPr>
          <a:xfrm xmlns:a="http://schemas.openxmlformats.org/drawingml/2006/main">
            <a:off x="876300" y="481965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AAB4C0"/>
                </a:solidFill>
              </a:defRPr>
            </a:pPr>
            <a:r>
              <a:rPr sz="1050" b="1" i="0">
                <a:solidFill>
                  <a:srgbClr val="AAB4C0"/>
                </a:solidFill>
              </a:rPr>
              <a:t>PETER THIEL</a:t>
            </a:r>
          </a:p>
          <a:p xmlns:a="http://schemas.openxmlformats.org/drawingml/2006/main">
            <a:pPr algn="l">
              <a:defRPr sz="1050" b="1" i="0">
                <a:solidFill>
                  <a:srgbClr val="AAB4C0"/>
                </a:solidFill>
              </a:defRPr>
            </a:pPr>
            <a:r>
              <a:rPr sz="1050" b="1" i="0">
                <a:solidFill>
                  <a:srgbClr val="AAB4C0"/>
                </a:solidFill>
              </a:rPr>
              <a:t>with BLAKE MASTERS</a:t>
            </a:r>
          </a:p>
        </p:txBody>
      </p:sp>
      <p:sp>
        <p:nvSpPr>
          <p:cNvPr id="7" name="">
            <a:extLst xmlns:a="http://schemas.openxmlformats.org/drawingml/2006/main">
              <a:ext uri="{FF2B5EF4-FFF2-40B4-BE49-F238E27FC236}">
                <a16:creationId xmlns:a16="http://schemas.microsoft.com/office/drawing/2014/main" id="{84F1F643-BFB7-4FFD-AC9D-8FD77F021EF9}"/>
              </a:ext>
            </a:extLst>
          </p:cNvPr>
          <p:cNvSpPr>
            <a:spLocks xmlns:a="http://schemas.openxmlformats.org/drawingml/2006/main" noGrp="1"/>
          </p:cNvSpPr>
          <p:nvPr/>
        </p:nvSpPr>
        <p:spPr>
          <a:xfrm xmlns:a="http://schemas.openxmlformats.org/drawingml/2006/main">
            <a:off x="4114800" y="1676400"/>
            <a:ext cx="2076450" cy="304800"/>
          </a:xfrm>
          <a:prstGeom xmlns:a="http://schemas.openxmlformats.org/drawingml/2006/main" prst="roundRect">
            <a:avLst>
              <a:gd name="adj" fmla="val 50000"/>
            </a:avLst>
          </a:prstGeom>
          <a:solidFill xmlns:a="http://schemas.openxmlformats.org/drawingml/2006/main">
            <a:srgbClr val="E9F2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23B48DA-277A-4887-860A-C0C7336FDAC3}"/>
              </a:ext>
            </a:extLst>
          </p:cNvPr>
          <p:cNvSpPr>
            <a:spLocks xmlns:a="http://schemas.openxmlformats.org/drawingml/2006/main" noGrp="1"/>
          </p:cNvSpPr>
          <p:nvPr/>
        </p:nvSpPr>
        <p:spPr>
          <a:xfrm xmlns:a="http://schemas.openxmlformats.org/drawingml/2006/main">
            <a:off x="4210050" y="1695450"/>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277DFF"/>
                </a:solidFill>
              </a:defRPr>
            </a:pPr>
            <a:r>
              <a:rPr sz="975" b="1" i="0">
                <a:solidFill>
                  <a:srgbClr val="277DFF"/>
                </a:solidFill>
              </a:rPr>
              <a:t>2012 CLASS → 2014 BOOK</a:t>
            </a:r>
          </a:p>
        </p:txBody>
      </p:sp>
      <p:sp>
        <p:nvSpPr>
          <p:cNvPr id="9" name="">
            <a:extLst xmlns:a="http://schemas.openxmlformats.org/drawingml/2006/main">
              <a:ext uri="{FF2B5EF4-FFF2-40B4-BE49-F238E27FC236}">
                <a16:creationId xmlns:a16="http://schemas.microsoft.com/office/drawing/2014/main" id="{BF0AC945-4BB8-4BC0-907D-85903E56B5C7}"/>
              </a:ext>
            </a:extLst>
          </p:cNvPr>
          <p:cNvSpPr>
            <a:spLocks xmlns:a="http://schemas.openxmlformats.org/drawingml/2006/main" noGrp="1"/>
          </p:cNvSpPr>
          <p:nvPr/>
        </p:nvSpPr>
        <p:spPr>
          <a:xfrm xmlns:a="http://schemas.openxmlformats.org/drawingml/2006/main">
            <a:off x="4114800" y="2171700"/>
            <a:ext cx="695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01318"/>
                </a:solidFill>
              </a:defRPr>
            </a:pPr>
            <a:r>
              <a:rPr sz="2625" b="1" i="0">
                <a:solidFill>
                  <a:srgbClr val="101318"/>
                </a:solidFill>
              </a:rPr>
              <a:t>“What important truth do very few people agree with you on?”</a:t>
            </a:r>
          </a:p>
        </p:txBody>
      </p:sp>
      <p:sp>
        <p:nvSpPr>
          <p:cNvPr id="10" name="">
            <a:extLst xmlns:a="http://schemas.openxmlformats.org/drawingml/2006/main">
              <a:ext uri="{FF2B5EF4-FFF2-40B4-BE49-F238E27FC236}">
                <a16:creationId xmlns:a16="http://schemas.microsoft.com/office/drawing/2014/main" id="{AC9E5A85-7FD0-4F17-AF23-4E8350F1AD5F}"/>
              </a:ext>
            </a:extLst>
          </p:cNvPr>
          <p:cNvSpPr>
            <a:spLocks xmlns:a="http://schemas.openxmlformats.org/drawingml/2006/main" noGrp="1"/>
          </p:cNvSpPr>
          <p:nvPr/>
        </p:nvSpPr>
        <p:spPr>
          <a:xfrm xmlns:a="http://schemas.openxmlformats.org/drawingml/2006/main">
            <a:off x="4114800" y="3714750"/>
            <a:ext cx="2152650"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4362B82-CDA7-4CA0-92AD-1C72B9099F9A}"/>
              </a:ext>
            </a:extLst>
          </p:cNvPr>
          <p:cNvSpPr>
            <a:spLocks xmlns:a="http://schemas.openxmlformats.org/drawingml/2006/main" noGrp="1"/>
          </p:cNvSpPr>
          <p:nvPr/>
        </p:nvSpPr>
        <p:spPr>
          <a:xfrm xmlns:a="http://schemas.openxmlformats.org/drawingml/2006/main">
            <a:off x="4324350" y="3924300"/>
            <a:ext cx="173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101318"/>
                </a:solidFill>
              </a:defRPr>
            </a:pPr>
            <a:r>
              <a:rPr sz="1575" b="1" i="0">
                <a:solidFill>
                  <a:srgbClr val="101318"/>
                </a:solidFill>
              </a:rPr>
              <a:t>Secrets</a:t>
            </a:r>
          </a:p>
        </p:txBody>
      </p:sp>
      <p:sp>
        <p:nvSpPr>
          <p:cNvPr id="12" name="">
            <a:extLst xmlns:a="http://schemas.openxmlformats.org/drawingml/2006/main">
              <a:ext uri="{FF2B5EF4-FFF2-40B4-BE49-F238E27FC236}">
                <a16:creationId xmlns:a16="http://schemas.microsoft.com/office/drawing/2014/main" id="{F991CB9A-15BC-4631-B8B2-88699E840E81}"/>
              </a:ext>
            </a:extLst>
          </p:cNvPr>
          <p:cNvSpPr>
            <a:spLocks xmlns:a="http://schemas.openxmlformats.org/drawingml/2006/main" noGrp="1"/>
          </p:cNvSpPr>
          <p:nvPr/>
        </p:nvSpPr>
        <p:spPr>
          <a:xfrm xmlns:a="http://schemas.openxmlformats.org/drawingml/2006/main">
            <a:off x="4324350" y="4419600"/>
            <a:ext cx="1733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68717D"/>
                </a:solidFill>
              </a:defRPr>
            </a:pPr>
            <a:r>
              <a:rPr sz="1125" b="0" i="0">
                <a:solidFill>
                  <a:srgbClr val="68717D"/>
                </a:solidFill>
              </a:rPr>
              <a:t>Great businesses begin with a truth others have not recognized.</a:t>
            </a:r>
          </a:p>
        </p:txBody>
      </p:sp>
      <p:sp>
        <p:nvSpPr>
          <p:cNvPr id="13" name="">
            <a:extLst xmlns:a="http://schemas.openxmlformats.org/drawingml/2006/main">
              <a:ext uri="{FF2B5EF4-FFF2-40B4-BE49-F238E27FC236}">
                <a16:creationId xmlns:a16="http://schemas.microsoft.com/office/drawing/2014/main" id="{9A0D4605-4C7B-4979-B9A1-AF2DB158365E}"/>
              </a:ext>
            </a:extLst>
          </p:cNvPr>
          <p:cNvSpPr>
            <a:spLocks xmlns:a="http://schemas.openxmlformats.org/drawingml/2006/main" noGrp="1"/>
          </p:cNvSpPr>
          <p:nvPr/>
        </p:nvSpPr>
        <p:spPr>
          <a:xfrm xmlns:a="http://schemas.openxmlformats.org/drawingml/2006/main">
            <a:off x="6477000" y="3714750"/>
            <a:ext cx="2152650"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311AAF-2819-4182-9A43-317D32237AF7}"/>
              </a:ext>
            </a:extLst>
          </p:cNvPr>
          <p:cNvSpPr>
            <a:spLocks xmlns:a="http://schemas.openxmlformats.org/drawingml/2006/main" noGrp="1"/>
          </p:cNvSpPr>
          <p:nvPr/>
        </p:nvSpPr>
        <p:spPr>
          <a:xfrm xmlns:a="http://schemas.openxmlformats.org/drawingml/2006/main">
            <a:off x="6686550" y="3924300"/>
            <a:ext cx="173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101318"/>
                </a:solidFill>
              </a:defRPr>
            </a:pPr>
            <a:r>
              <a:rPr sz="1575" b="1" i="0">
                <a:solidFill>
                  <a:srgbClr val="101318"/>
                </a:solidFill>
              </a:rPr>
              <a:t>Monopoly</a:t>
            </a:r>
          </a:p>
        </p:txBody>
      </p:sp>
      <p:sp>
        <p:nvSpPr>
          <p:cNvPr id="15" name="">
            <a:extLst xmlns:a="http://schemas.openxmlformats.org/drawingml/2006/main">
              <a:ext uri="{FF2B5EF4-FFF2-40B4-BE49-F238E27FC236}">
                <a16:creationId xmlns:a16="http://schemas.microsoft.com/office/drawing/2014/main" id="{9F251485-606E-4DD2-83CA-596ABB6094FC}"/>
              </a:ext>
            </a:extLst>
          </p:cNvPr>
          <p:cNvSpPr>
            <a:spLocks xmlns:a="http://schemas.openxmlformats.org/drawingml/2006/main" noGrp="1"/>
          </p:cNvSpPr>
          <p:nvPr/>
        </p:nvSpPr>
        <p:spPr>
          <a:xfrm xmlns:a="http://schemas.openxmlformats.org/drawingml/2006/main">
            <a:off x="6686550" y="4419600"/>
            <a:ext cx="1733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68717D"/>
                </a:solidFill>
              </a:defRPr>
            </a:pPr>
            <a:r>
              <a:rPr sz="1125" b="0" i="0">
                <a:solidFill>
                  <a:srgbClr val="68717D"/>
                </a:solidFill>
              </a:rPr>
              <a:t>Build differentiated value before competing in a crowded market.</a:t>
            </a:r>
          </a:p>
        </p:txBody>
      </p:sp>
      <p:sp>
        <p:nvSpPr>
          <p:cNvPr id="16" name="">
            <a:extLst xmlns:a="http://schemas.openxmlformats.org/drawingml/2006/main">
              <a:ext uri="{FF2B5EF4-FFF2-40B4-BE49-F238E27FC236}">
                <a16:creationId xmlns:a16="http://schemas.microsoft.com/office/drawing/2014/main" id="{EA1D6846-F49C-4E67-A529-603EAAD74E76}"/>
              </a:ext>
            </a:extLst>
          </p:cNvPr>
          <p:cNvSpPr>
            <a:spLocks xmlns:a="http://schemas.openxmlformats.org/drawingml/2006/main" noGrp="1"/>
          </p:cNvSpPr>
          <p:nvPr/>
        </p:nvSpPr>
        <p:spPr>
          <a:xfrm xmlns:a="http://schemas.openxmlformats.org/drawingml/2006/main">
            <a:off x="8839200" y="3714750"/>
            <a:ext cx="2152650"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4E11176-AB37-43DE-BA37-CEAE0AE777D9}"/>
              </a:ext>
            </a:extLst>
          </p:cNvPr>
          <p:cNvSpPr>
            <a:spLocks xmlns:a="http://schemas.openxmlformats.org/drawingml/2006/main" noGrp="1"/>
          </p:cNvSpPr>
          <p:nvPr/>
        </p:nvSpPr>
        <p:spPr>
          <a:xfrm xmlns:a="http://schemas.openxmlformats.org/drawingml/2006/main">
            <a:off x="9048750" y="3924300"/>
            <a:ext cx="173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101318"/>
                </a:solidFill>
              </a:defRPr>
            </a:pPr>
            <a:r>
              <a:rPr sz="1575" b="1" i="0">
                <a:solidFill>
                  <a:srgbClr val="101318"/>
                </a:solidFill>
              </a:rPr>
              <a:t>Definite optimism</a:t>
            </a:r>
          </a:p>
        </p:txBody>
      </p:sp>
      <p:sp>
        <p:nvSpPr>
          <p:cNvPr id="18" name="">
            <a:extLst xmlns:a="http://schemas.openxmlformats.org/drawingml/2006/main">
              <a:ext uri="{FF2B5EF4-FFF2-40B4-BE49-F238E27FC236}">
                <a16:creationId xmlns:a16="http://schemas.microsoft.com/office/drawing/2014/main" id="{0730A207-0365-4CF8-96FF-7354A1286870}"/>
              </a:ext>
            </a:extLst>
          </p:cNvPr>
          <p:cNvSpPr>
            <a:spLocks xmlns:a="http://schemas.openxmlformats.org/drawingml/2006/main" noGrp="1"/>
          </p:cNvSpPr>
          <p:nvPr/>
        </p:nvSpPr>
        <p:spPr>
          <a:xfrm xmlns:a="http://schemas.openxmlformats.org/drawingml/2006/main">
            <a:off x="9048750" y="4419600"/>
            <a:ext cx="1733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68717D"/>
                </a:solidFill>
              </a:defRPr>
            </a:pPr>
            <a:r>
              <a:rPr sz="1125" b="0" i="0">
                <a:solidFill>
                  <a:srgbClr val="68717D"/>
                </a:solidFill>
              </a:rPr>
              <a:t>Make a plan for a better future instead of waiting for one.</a:t>
            </a:r>
          </a:p>
        </p:txBody>
      </p:sp>
      <p:sp>
        <p:nvSpPr>
          <p:cNvPr id="19" name="">
            <a:extLst xmlns:a="http://schemas.openxmlformats.org/drawingml/2006/main">
              <a:ext uri="{FF2B5EF4-FFF2-40B4-BE49-F238E27FC236}">
                <a16:creationId xmlns:a16="http://schemas.microsoft.com/office/drawing/2014/main" id="{21D93F53-632A-4655-8EE4-1E507E293EDD}"/>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1139F13-B801-4811-AFE2-861725E4AA85}"/>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21" name="">
            <a:extLst xmlns:a="http://schemas.openxmlformats.org/drawingml/2006/main">
              <a:ext uri="{FF2B5EF4-FFF2-40B4-BE49-F238E27FC236}">
                <a16:creationId xmlns:a16="http://schemas.microsoft.com/office/drawing/2014/main" id="{372DDCAC-1630-48AA-BBEB-0CFDBB2AA9A6}"/>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10</a:t>
            </a:r>
          </a:p>
        </p:txBody>
      </p:sp>
    </p:spTree>
    <p:extLst>
      <p:ext uri="{BB962C8B-B14F-4D97-AF65-F5344CB8AC3E}">
        <p14:creationId xmlns:p14="http://schemas.microsoft.com/office/powerpoint/2010/main" val="20626370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5359EDD-5904-413B-8D71-B9DEAF21DB29}"/>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PALANTIR’S CORE IDEA</a:t>
            </a:r>
          </a:p>
        </p:txBody>
      </p:sp>
      <p:sp>
        <p:nvSpPr>
          <p:cNvPr id="2" name="slide-title">
            <a:extLst xmlns:a="http://schemas.openxmlformats.org/drawingml/2006/main">
              <a:ext uri="{FF2B5EF4-FFF2-40B4-BE49-F238E27FC236}">
                <a16:creationId xmlns:a16="http://schemas.microsoft.com/office/drawing/2014/main" id="{B268604F-2496-4379-AB99-5E806A0AAF9E}"/>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An ontology turns scattered records into a shared operational reality.</a:t>
            </a:r>
          </a:p>
        </p:txBody>
      </p:sp>
      <p:sp>
        <p:nvSpPr>
          <p:cNvPr id="3" name="">
            <a:extLst xmlns:a="http://schemas.openxmlformats.org/drawingml/2006/main">
              <a:ext uri="{FF2B5EF4-FFF2-40B4-BE49-F238E27FC236}">
                <a16:creationId xmlns:a16="http://schemas.microsoft.com/office/drawing/2014/main" id="{638EA0C5-8666-43FF-B549-A2F177377367}"/>
              </a:ext>
            </a:extLst>
          </p:cNvPr>
          <p:cNvSpPr>
            <a:spLocks xmlns:a="http://schemas.openxmlformats.org/drawingml/2006/main" noGrp="1"/>
          </p:cNvSpPr>
          <p:nvPr/>
        </p:nvSpPr>
        <p:spPr>
          <a:xfrm xmlns:a="http://schemas.openxmlformats.org/drawingml/2006/main">
            <a:off x="666750" y="1695450"/>
            <a:ext cx="3143250" cy="3619500"/>
          </a:xfrm>
          <a:prstGeom xmlns:a="http://schemas.openxmlformats.org/drawingml/2006/main" prst="roundRect">
            <a:avLst>
              <a:gd name="adj" fmla="val 4848"/>
            </a:avLst>
          </a:prstGeom>
          <a:solidFill xmlns:a="http://schemas.openxmlformats.org/drawingml/2006/main">
            <a:srgbClr val="F2F5F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D6857E0-69FA-4179-9EB1-3A50AD183448}"/>
              </a:ext>
            </a:extLst>
          </p:cNvPr>
          <p:cNvSpPr>
            <a:spLocks xmlns:a="http://schemas.openxmlformats.org/drawingml/2006/main" noGrp="1"/>
          </p:cNvSpPr>
          <p:nvPr/>
        </p:nvSpPr>
        <p:spPr>
          <a:xfrm xmlns:a="http://schemas.openxmlformats.org/drawingml/2006/main">
            <a:off x="89535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8717D"/>
                </a:solidFill>
              </a:defRPr>
            </a:pPr>
            <a:r>
              <a:rPr sz="900" b="1" i="0">
                <a:solidFill>
                  <a:srgbClr val="68717D"/>
                </a:solidFill>
              </a:rPr>
              <a:t>RAW SYSTEMS</a:t>
            </a:r>
          </a:p>
        </p:txBody>
      </p:sp>
      <p:sp>
        <p:nvSpPr>
          <p:cNvPr id="5" name="">
            <a:extLst xmlns:a="http://schemas.openxmlformats.org/drawingml/2006/main">
              <a:ext uri="{FF2B5EF4-FFF2-40B4-BE49-F238E27FC236}">
                <a16:creationId xmlns:a16="http://schemas.microsoft.com/office/drawing/2014/main" id="{3B21C894-F0BF-42AB-B414-523DB513DE10}"/>
              </a:ext>
            </a:extLst>
          </p:cNvPr>
          <p:cNvSpPr>
            <a:spLocks xmlns:a="http://schemas.openxmlformats.org/drawingml/2006/main" noGrp="1"/>
          </p:cNvSpPr>
          <p:nvPr/>
        </p:nvSpPr>
        <p:spPr>
          <a:xfrm xmlns:a="http://schemas.openxmlformats.org/drawingml/2006/main">
            <a:off x="4238625" y="1695450"/>
            <a:ext cx="3333750" cy="3619500"/>
          </a:xfrm>
          <a:prstGeom xmlns:a="http://schemas.openxmlformats.org/drawingml/2006/main" prst="roundRect">
            <a:avLst>
              <a:gd name="adj" fmla="val 4571"/>
            </a:avLst>
          </a:prstGeom>
          <a:solidFill xmlns:a="http://schemas.openxmlformats.org/drawingml/2006/main">
            <a:srgbClr val="E9F2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164580E-FC53-4F75-93B7-F17750745317}"/>
              </a:ext>
            </a:extLst>
          </p:cNvPr>
          <p:cNvSpPr>
            <a:spLocks xmlns:a="http://schemas.openxmlformats.org/drawingml/2006/main" noGrp="1"/>
          </p:cNvSpPr>
          <p:nvPr/>
        </p:nvSpPr>
        <p:spPr>
          <a:xfrm xmlns:a="http://schemas.openxmlformats.org/drawingml/2006/main">
            <a:off x="4467225"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77DFF"/>
                </a:solidFill>
              </a:defRPr>
            </a:pPr>
            <a:r>
              <a:rPr sz="900" b="1" i="0">
                <a:solidFill>
                  <a:srgbClr val="277DFF"/>
                </a:solidFill>
              </a:rPr>
              <a:t>ONTOLOGY</a:t>
            </a:r>
          </a:p>
        </p:txBody>
      </p:sp>
      <p:sp>
        <p:nvSpPr>
          <p:cNvPr id="7" name="">
            <a:extLst xmlns:a="http://schemas.openxmlformats.org/drawingml/2006/main">
              <a:ext uri="{FF2B5EF4-FFF2-40B4-BE49-F238E27FC236}">
                <a16:creationId xmlns:a16="http://schemas.microsoft.com/office/drawing/2014/main" id="{D6264492-A63A-4E43-BE7E-B37F9AECABCC}"/>
              </a:ext>
            </a:extLst>
          </p:cNvPr>
          <p:cNvSpPr>
            <a:spLocks xmlns:a="http://schemas.openxmlformats.org/drawingml/2006/main" noGrp="1"/>
          </p:cNvSpPr>
          <p:nvPr/>
        </p:nvSpPr>
        <p:spPr>
          <a:xfrm xmlns:a="http://schemas.openxmlformats.org/drawingml/2006/main">
            <a:off x="8096250" y="1695450"/>
            <a:ext cx="3143250" cy="3619500"/>
          </a:xfrm>
          <a:prstGeom xmlns:a="http://schemas.openxmlformats.org/drawingml/2006/main" prst="roundRect">
            <a:avLst>
              <a:gd name="adj" fmla="val 4848"/>
            </a:avLst>
          </a:prstGeom>
          <a:solidFill xmlns:a="http://schemas.openxmlformats.org/drawingml/2006/main">
            <a:srgbClr val="10131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EBDE5F7-613B-42AF-9BBF-971FC42AA196}"/>
              </a:ext>
            </a:extLst>
          </p:cNvPr>
          <p:cNvSpPr>
            <a:spLocks xmlns:a="http://schemas.openxmlformats.org/drawingml/2006/main" noGrp="1"/>
          </p:cNvSpPr>
          <p:nvPr/>
        </p:nvSpPr>
        <p:spPr>
          <a:xfrm xmlns:a="http://schemas.openxmlformats.org/drawingml/2006/main">
            <a:off x="832485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2D2FF"/>
                </a:solidFill>
              </a:defRPr>
            </a:pPr>
            <a:r>
              <a:rPr sz="900" b="1" i="0">
                <a:solidFill>
                  <a:srgbClr val="62D2FF"/>
                </a:solidFill>
              </a:rPr>
              <a:t>DECISIONS</a:t>
            </a:r>
          </a:p>
        </p:txBody>
      </p:sp>
      <p:sp>
        <p:nvSpPr>
          <p:cNvPr id="9" name="">
            <a:extLst xmlns:a="http://schemas.openxmlformats.org/drawingml/2006/main">
              <a:ext uri="{FF2B5EF4-FFF2-40B4-BE49-F238E27FC236}">
                <a16:creationId xmlns:a16="http://schemas.microsoft.com/office/drawing/2014/main" id="{F4B4B94D-741E-45E9-B2F2-A06E84BD26BD}"/>
              </a:ext>
            </a:extLst>
          </p:cNvPr>
          <p:cNvSpPr>
            <a:spLocks xmlns:a="http://schemas.openxmlformats.org/drawingml/2006/main" noGrp="1"/>
          </p:cNvSpPr>
          <p:nvPr/>
        </p:nvSpPr>
        <p:spPr>
          <a:xfrm xmlns:a="http://schemas.openxmlformats.org/drawingml/2006/main">
            <a:off x="895350" y="2362200"/>
            <a:ext cx="26860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CE2E8"/>
            </a:solidFill>
            <a:prstDash val="solid"/>
          </a:ln>
        </p:spPr>
      </p:sp>
      <p:sp>
        <p:nvSpPr>
          <p:cNvPr id="10" name="">
            <a:extLst xmlns:a="http://schemas.openxmlformats.org/drawingml/2006/main">
              <a:ext uri="{FF2B5EF4-FFF2-40B4-BE49-F238E27FC236}">
                <a16:creationId xmlns:a16="http://schemas.microsoft.com/office/drawing/2014/main" id="{66611823-F39F-4B71-BEAB-B7A882D7D82E}"/>
              </a:ext>
            </a:extLst>
          </p:cNvPr>
          <p:cNvSpPr>
            <a:spLocks xmlns:a="http://schemas.openxmlformats.org/drawingml/2006/main" noGrp="1"/>
          </p:cNvSpPr>
          <p:nvPr/>
        </p:nvSpPr>
        <p:spPr>
          <a:xfrm xmlns:a="http://schemas.openxmlformats.org/drawingml/2006/main">
            <a:off x="1009650" y="2409825"/>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101318"/>
                </a:solidFill>
              </a:defRPr>
            </a:pPr>
            <a:r>
              <a:rPr sz="1125" b="0" i="0">
                <a:solidFill>
                  <a:srgbClr val="101318"/>
                </a:solidFill>
              </a:rPr>
              <a:t>Customer_ID</a:t>
            </a:r>
          </a:p>
        </p:txBody>
      </p:sp>
      <p:sp>
        <p:nvSpPr>
          <p:cNvPr id="11" name="">
            <a:extLst xmlns:a="http://schemas.openxmlformats.org/drawingml/2006/main">
              <a:ext uri="{FF2B5EF4-FFF2-40B4-BE49-F238E27FC236}">
                <a16:creationId xmlns:a16="http://schemas.microsoft.com/office/drawing/2014/main" id="{FB4A80C0-245A-458A-9360-A65E773B3CE5}"/>
              </a:ext>
            </a:extLst>
          </p:cNvPr>
          <p:cNvSpPr>
            <a:spLocks xmlns:a="http://schemas.openxmlformats.org/drawingml/2006/main" noGrp="1"/>
          </p:cNvSpPr>
          <p:nvPr/>
        </p:nvSpPr>
        <p:spPr>
          <a:xfrm xmlns:a="http://schemas.openxmlformats.org/drawingml/2006/main">
            <a:off x="895350" y="3009900"/>
            <a:ext cx="26860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CE2E8"/>
            </a:solidFill>
            <a:prstDash val="solid"/>
          </a:ln>
        </p:spPr>
      </p:sp>
      <p:sp>
        <p:nvSpPr>
          <p:cNvPr id="12" name="">
            <a:extLst xmlns:a="http://schemas.openxmlformats.org/drawingml/2006/main">
              <a:ext uri="{FF2B5EF4-FFF2-40B4-BE49-F238E27FC236}">
                <a16:creationId xmlns:a16="http://schemas.microsoft.com/office/drawing/2014/main" id="{CCB51EC3-7C47-465B-B803-B083EA0EED61}"/>
              </a:ext>
            </a:extLst>
          </p:cNvPr>
          <p:cNvSpPr>
            <a:spLocks xmlns:a="http://schemas.openxmlformats.org/drawingml/2006/main" noGrp="1"/>
          </p:cNvSpPr>
          <p:nvPr/>
        </p:nvSpPr>
        <p:spPr>
          <a:xfrm xmlns:a="http://schemas.openxmlformats.org/drawingml/2006/main">
            <a:off x="1009650" y="3057525"/>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101318"/>
                </a:solidFill>
              </a:defRPr>
            </a:pPr>
            <a:r>
              <a:rPr sz="1125" b="0" i="0">
                <a:solidFill>
                  <a:srgbClr val="101318"/>
                </a:solidFill>
              </a:rPr>
              <a:t>Facility #</a:t>
            </a:r>
          </a:p>
        </p:txBody>
      </p:sp>
      <p:sp>
        <p:nvSpPr>
          <p:cNvPr id="13" name="">
            <a:extLst xmlns:a="http://schemas.openxmlformats.org/drawingml/2006/main">
              <a:ext uri="{FF2B5EF4-FFF2-40B4-BE49-F238E27FC236}">
                <a16:creationId xmlns:a16="http://schemas.microsoft.com/office/drawing/2014/main" id="{B0952011-A114-4242-B507-9D7B4B0C99EB}"/>
              </a:ext>
            </a:extLst>
          </p:cNvPr>
          <p:cNvSpPr>
            <a:spLocks xmlns:a="http://schemas.openxmlformats.org/drawingml/2006/main" noGrp="1"/>
          </p:cNvSpPr>
          <p:nvPr/>
        </p:nvSpPr>
        <p:spPr>
          <a:xfrm xmlns:a="http://schemas.openxmlformats.org/drawingml/2006/main">
            <a:off x="895350" y="3657600"/>
            <a:ext cx="26860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CE2E8"/>
            </a:solidFill>
            <a:prstDash val="solid"/>
          </a:ln>
        </p:spPr>
      </p:sp>
      <p:sp>
        <p:nvSpPr>
          <p:cNvPr id="14" name="">
            <a:extLst xmlns:a="http://schemas.openxmlformats.org/drawingml/2006/main">
              <a:ext uri="{FF2B5EF4-FFF2-40B4-BE49-F238E27FC236}">
                <a16:creationId xmlns:a16="http://schemas.microsoft.com/office/drawing/2014/main" id="{29D12012-AD08-41F5-8330-CFFBE1A11483}"/>
              </a:ext>
            </a:extLst>
          </p:cNvPr>
          <p:cNvSpPr>
            <a:spLocks xmlns:a="http://schemas.openxmlformats.org/drawingml/2006/main" noGrp="1"/>
          </p:cNvSpPr>
          <p:nvPr/>
        </p:nvSpPr>
        <p:spPr>
          <a:xfrm xmlns:a="http://schemas.openxmlformats.org/drawingml/2006/main">
            <a:off x="1009650" y="3705225"/>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101318"/>
                </a:solidFill>
              </a:defRPr>
            </a:pPr>
            <a:r>
              <a:rPr sz="1125" b="0" i="0">
                <a:solidFill>
                  <a:srgbClr val="101318"/>
                </a:solidFill>
              </a:rPr>
              <a:t>Case subject</a:t>
            </a:r>
          </a:p>
        </p:txBody>
      </p:sp>
      <p:sp>
        <p:nvSpPr>
          <p:cNvPr id="15" name="">
            <a:extLst xmlns:a="http://schemas.openxmlformats.org/drawingml/2006/main">
              <a:ext uri="{FF2B5EF4-FFF2-40B4-BE49-F238E27FC236}">
                <a16:creationId xmlns:a16="http://schemas.microsoft.com/office/drawing/2014/main" id="{02B1CF53-9CB6-47E5-80F3-EBE6E3420B5D}"/>
              </a:ext>
            </a:extLst>
          </p:cNvPr>
          <p:cNvSpPr>
            <a:spLocks xmlns:a="http://schemas.openxmlformats.org/drawingml/2006/main" noGrp="1"/>
          </p:cNvSpPr>
          <p:nvPr/>
        </p:nvSpPr>
        <p:spPr>
          <a:xfrm xmlns:a="http://schemas.openxmlformats.org/drawingml/2006/main">
            <a:off x="895350" y="4305300"/>
            <a:ext cx="26860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CE2E8"/>
            </a:solidFill>
            <a:prstDash val="solid"/>
          </a:ln>
        </p:spPr>
      </p:sp>
      <p:sp>
        <p:nvSpPr>
          <p:cNvPr id="16" name="">
            <a:extLst xmlns:a="http://schemas.openxmlformats.org/drawingml/2006/main">
              <a:ext uri="{FF2B5EF4-FFF2-40B4-BE49-F238E27FC236}">
                <a16:creationId xmlns:a16="http://schemas.microsoft.com/office/drawing/2014/main" id="{4D21CB61-E55F-4628-8F87-93C748EF1716}"/>
              </a:ext>
            </a:extLst>
          </p:cNvPr>
          <p:cNvSpPr>
            <a:spLocks xmlns:a="http://schemas.openxmlformats.org/drawingml/2006/main" noGrp="1"/>
          </p:cNvSpPr>
          <p:nvPr/>
        </p:nvSpPr>
        <p:spPr>
          <a:xfrm xmlns:a="http://schemas.openxmlformats.org/drawingml/2006/main">
            <a:off x="1009650" y="4352925"/>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101318"/>
                </a:solidFill>
              </a:defRPr>
            </a:pPr>
            <a:r>
              <a:rPr sz="1125" b="0" i="0">
                <a:solidFill>
                  <a:srgbClr val="101318"/>
                </a:solidFill>
              </a:rPr>
              <a:t>Sensor tag</a:t>
            </a:r>
          </a:p>
        </p:txBody>
      </p:sp>
      <p:sp>
        <p:nvSpPr>
          <p:cNvPr id="17" name="">
            <a:extLst xmlns:a="http://schemas.openxmlformats.org/drawingml/2006/main">
              <a:ext uri="{FF2B5EF4-FFF2-40B4-BE49-F238E27FC236}">
                <a16:creationId xmlns:a16="http://schemas.microsoft.com/office/drawing/2014/main" id="{711C1250-BAB1-4B5D-BEDE-6DE5E584E10F}"/>
              </a:ext>
            </a:extLst>
          </p:cNvPr>
          <p:cNvSpPr>
            <a:spLocks xmlns:a="http://schemas.openxmlformats.org/drawingml/2006/main" noGrp="1"/>
          </p:cNvSpPr>
          <p:nvPr/>
        </p:nvSpPr>
        <p:spPr>
          <a:xfrm xmlns:a="http://schemas.openxmlformats.org/drawingml/2006/main">
            <a:off x="4467225" y="2362200"/>
            <a:ext cx="28765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B0F232B-F85C-429E-9680-D247F10C38D6}"/>
              </a:ext>
            </a:extLst>
          </p:cNvPr>
          <p:cNvSpPr>
            <a:spLocks xmlns:a="http://schemas.openxmlformats.org/drawingml/2006/main" noGrp="1"/>
          </p:cNvSpPr>
          <p:nvPr/>
        </p:nvSpPr>
        <p:spPr>
          <a:xfrm xmlns:a="http://schemas.openxmlformats.org/drawingml/2006/main">
            <a:off x="4581525" y="2409825"/>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PERSON</a:t>
            </a:r>
          </a:p>
        </p:txBody>
      </p:sp>
      <p:sp>
        <p:nvSpPr>
          <p:cNvPr id="19" name="">
            <a:extLst xmlns:a="http://schemas.openxmlformats.org/drawingml/2006/main">
              <a:ext uri="{FF2B5EF4-FFF2-40B4-BE49-F238E27FC236}">
                <a16:creationId xmlns:a16="http://schemas.microsoft.com/office/drawing/2014/main" id="{B9A87064-EF8A-4FDD-A4CB-2BD163A70AC2}"/>
              </a:ext>
            </a:extLst>
          </p:cNvPr>
          <p:cNvSpPr>
            <a:spLocks xmlns:a="http://schemas.openxmlformats.org/drawingml/2006/main" noGrp="1"/>
          </p:cNvSpPr>
          <p:nvPr/>
        </p:nvSpPr>
        <p:spPr>
          <a:xfrm xmlns:a="http://schemas.openxmlformats.org/drawingml/2006/main">
            <a:off x="4467225" y="3009900"/>
            <a:ext cx="28765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6157430-2689-464B-A4A8-B1C497E0B74B}"/>
              </a:ext>
            </a:extLst>
          </p:cNvPr>
          <p:cNvSpPr>
            <a:spLocks xmlns:a="http://schemas.openxmlformats.org/drawingml/2006/main" noGrp="1"/>
          </p:cNvSpPr>
          <p:nvPr/>
        </p:nvSpPr>
        <p:spPr>
          <a:xfrm xmlns:a="http://schemas.openxmlformats.org/drawingml/2006/main">
            <a:off x="4581525" y="3057525"/>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PLACE</a:t>
            </a:r>
          </a:p>
        </p:txBody>
      </p:sp>
      <p:sp>
        <p:nvSpPr>
          <p:cNvPr id="21" name="">
            <a:extLst xmlns:a="http://schemas.openxmlformats.org/drawingml/2006/main">
              <a:ext uri="{FF2B5EF4-FFF2-40B4-BE49-F238E27FC236}">
                <a16:creationId xmlns:a16="http://schemas.microsoft.com/office/drawing/2014/main" id="{389BD5AC-B04D-436D-B892-1A0CF80AC4CC}"/>
              </a:ext>
            </a:extLst>
          </p:cNvPr>
          <p:cNvSpPr>
            <a:spLocks xmlns:a="http://schemas.openxmlformats.org/drawingml/2006/main" noGrp="1"/>
          </p:cNvSpPr>
          <p:nvPr/>
        </p:nvSpPr>
        <p:spPr>
          <a:xfrm xmlns:a="http://schemas.openxmlformats.org/drawingml/2006/main">
            <a:off x="4467225" y="3657600"/>
            <a:ext cx="28765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DE61EFB-7DD0-4E0A-AF71-8276DCBAC544}"/>
              </a:ext>
            </a:extLst>
          </p:cNvPr>
          <p:cNvSpPr>
            <a:spLocks xmlns:a="http://schemas.openxmlformats.org/drawingml/2006/main" noGrp="1"/>
          </p:cNvSpPr>
          <p:nvPr/>
        </p:nvSpPr>
        <p:spPr>
          <a:xfrm xmlns:a="http://schemas.openxmlformats.org/drawingml/2006/main">
            <a:off x="4581525" y="3705225"/>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EVENT</a:t>
            </a:r>
          </a:p>
        </p:txBody>
      </p:sp>
      <p:sp>
        <p:nvSpPr>
          <p:cNvPr id="23" name="">
            <a:extLst xmlns:a="http://schemas.openxmlformats.org/drawingml/2006/main">
              <a:ext uri="{FF2B5EF4-FFF2-40B4-BE49-F238E27FC236}">
                <a16:creationId xmlns:a16="http://schemas.microsoft.com/office/drawing/2014/main" id="{085B67B9-A8BB-48D1-BC93-C0DC9EA265AC}"/>
              </a:ext>
            </a:extLst>
          </p:cNvPr>
          <p:cNvSpPr>
            <a:spLocks xmlns:a="http://schemas.openxmlformats.org/drawingml/2006/main" noGrp="1"/>
          </p:cNvSpPr>
          <p:nvPr/>
        </p:nvSpPr>
        <p:spPr>
          <a:xfrm xmlns:a="http://schemas.openxmlformats.org/drawingml/2006/main">
            <a:off x="4467225" y="4305300"/>
            <a:ext cx="28765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93997FF-C4B8-4CB1-9692-A245CB635931}"/>
              </a:ext>
            </a:extLst>
          </p:cNvPr>
          <p:cNvSpPr>
            <a:spLocks xmlns:a="http://schemas.openxmlformats.org/drawingml/2006/main" noGrp="1"/>
          </p:cNvSpPr>
          <p:nvPr/>
        </p:nvSpPr>
        <p:spPr>
          <a:xfrm xmlns:a="http://schemas.openxmlformats.org/drawingml/2006/main">
            <a:off x="4581525" y="4352925"/>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ASSET</a:t>
            </a:r>
          </a:p>
        </p:txBody>
      </p:sp>
      <p:sp>
        <p:nvSpPr>
          <p:cNvPr id="25" name="">
            <a:extLst xmlns:a="http://schemas.openxmlformats.org/drawingml/2006/main">
              <a:ext uri="{FF2B5EF4-FFF2-40B4-BE49-F238E27FC236}">
                <a16:creationId xmlns:a16="http://schemas.microsoft.com/office/drawing/2014/main" id="{59D008A5-5FD8-4253-A48A-0CD68E271462}"/>
              </a:ext>
            </a:extLst>
          </p:cNvPr>
          <p:cNvSpPr>
            <a:spLocks xmlns:a="http://schemas.openxmlformats.org/drawingml/2006/main" noGrp="1"/>
          </p:cNvSpPr>
          <p:nvPr/>
        </p:nvSpPr>
        <p:spPr>
          <a:xfrm xmlns:a="http://schemas.openxmlformats.org/drawingml/2006/main">
            <a:off x="8324850" y="2362200"/>
            <a:ext cx="2686050" cy="438150"/>
          </a:xfrm>
          <a:prstGeom xmlns:a="http://schemas.openxmlformats.org/drawingml/2006/main" prst="roundRect">
            <a:avLst>
              <a:gd name="adj" fmla="val 17391"/>
            </a:avLst>
          </a:prstGeom>
          <a:solidFill xmlns:a="http://schemas.openxmlformats.org/drawingml/2006/main">
            <a:srgbClr val="30384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74276B9-E223-4D4B-B61C-DD45B959AF24}"/>
              </a:ext>
            </a:extLst>
          </p:cNvPr>
          <p:cNvSpPr>
            <a:spLocks xmlns:a="http://schemas.openxmlformats.org/drawingml/2006/main" noGrp="1"/>
          </p:cNvSpPr>
          <p:nvPr/>
        </p:nvSpPr>
        <p:spPr>
          <a:xfrm xmlns:a="http://schemas.openxmlformats.org/drawingml/2006/main">
            <a:off x="8439150" y="2409825"/>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FFFFFF"/>
                </a:solidFill>
              </a:defRPr>
            </a:pPr>
            <a:r>
              <a:rPr sz="1125" b="1" i="0">
                <a:solidFill>
                  <a:srgbClr val="FFFFFF"/>
                </a:solidFill>
              </a:rPr>
              <a:t>Investigate</a:t>
            </a:r>
          </a:p>
        </p:txBody>
      </p:sp>
      <p:sp>
        <p:nvSpPr>
          <p:cNvPr id="27" name="">
            <a:extLst xmlns:a="http://schemas.openxmlformats.org/drawingml/2006/main">
              <a:ext uri="{FF2B5EF4-FFF2-40B4-BE49-F238E27FC236}">
                <a16:creationId xmlns:a16="http://schemas.microsoft.com/office/drawing/2014/main" id="{D541CA86-CC6C-47B4-9B3B-D9279DEA6B08}"/>
              </a:ext>
            </a:extLst>
          </p:cNvPr>
          <p:cNvSpPr>
            <a:spLocks xmlns:a="http://schemas.openxmlformats.org/drawingml/2006/main" noGrp="1"/>
          </p:cNvSpPr>
          <p:nvPr/>
        </p:nvSpPr>
        <p:spPr>
          <a:xfrm xmlns:a="http://schemas.openxmlformats.org/drawingml/2006/main">
            <a:off x="8324850" y="3009900"/>
            <a:ext cx="2686050" cy="438150"/>
          </a:xfrm>
          <a:prstGeom xmlns:a="http://schemas.openxmlformats.org/drawingml/2006/main" prst="roundRect">
            <a:avLst>
              <a:gd name="adj" fmla="val 17391"/>
            </a:avLst>
          </a:prstGeom>
          <a:solidFill xmlns:a="http://schemas.openxmlformats.org/drawingml/2006/main">
            <a:srgbClr val="30384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85BD873-711B-4E4B-AF29-D7AF11590879}"/>
              </a:ext>
            </a:extLst>
          </p:cNvPr>
          <p:cNvSpPr>
            <a:spLocks xmlns:a="http://schemas.openxmlformats.org/drawingml/2006/main" noGrp="1"/>
          </p:cNvSpPr>
          <p:nvPr/>
        </p:nvSpPr>
        <p:spPr>
          <a:xfrm xmlns:a="http://schemas.openxmlformats.org/drawingml/2006/main">
            <a:off x="8439150" y="3057525"/>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FFFFFF"/>
                </a:solidFill>
              </a:defRPr>
            </a:pPr>
            <a:r>
              <a:rPr sz="1125" b="1" i="0">
                <a:solidFill>
                  <a:srgbClr val="FFFFFF"/>
                </a:solidFill>
              </a:rPr>
              <a:t>Allocate</a:t>
            </a:r>
          </a:p>
        </p:txBody>
      </p:sp>
      <p:sp>
        <p:nvSpPr>
          <p:cNvPr id="29" name="">
            <a:extLst xmlns:a="http://schemas.openxmlformats.org/drawingml/2006/main">
              <a:ext uri="{FF2B5EF4-FFF2-40B4-BE49-F238E27FC236}">
                <a16:creationId xmlns:a16="http://schemas.microsoft.com/office/drawing/2014/main" id="{625B049F-E7A0-4B72-9E24-CC568985D4F2}"/>
              </a:ext>
            </a:extLst>
          </p:cNvPr>
          <p:cNvSpPr>
            <a:spLocks xmlns:a="http://schemas.openxmlformats.org/drawingml/2006/main" noGrp="1"/>
          </p:cNvSpPr>
          <p:nvPr/>
        </p:nvSpPr>
        <p:spPr>
          <a:xfrm xmlns:a="http://schemas.openxmlformats.org/drawingml/2006/main">
            <a:off x="8324850" y="3657600"/>
            <a:ext cx="2686050" cy="438150"/>
          </a:xfrm>
          <a:prstGeom xmlns:a="http://schemas.openxmlformats.org/drawingml/2006/main" prst="roundRect">
            <a:avLst>
              <a:gd name="adj" fmla="val 17391"/>
            </a:avLst>
          </a:prstGeom>
          <a:solidFill xmlns:a="http://schemas.openxmlformats.org/drawingml/2006/main">
            <a:srgbClr val="30384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CEB5B6F-5146-40A6-A955-E699E6615A8D}"/>
              </a:ext>
            </a:extLst>
          </p:cNvPr>
          <p:cNvSpPr>
            <a:spLocks xmlns:a="http://schemas.openxmlformats.org/drawingml/2006/main" noGrp="1"/>
          </p:cNvSpPr>
          <p:nvPr/>
        </p:nvSpPr>
        <p:spPr>
          <a:xfrm xmlns:a="http://schemas.openxmlformats.org/drawingml/2006/main">
            <a:off x="8439150" y="3705225"/>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FFFFFF"/>
                </a:solidFill>
              </a:defRPr>
            </a:pPr>
            <a:r>
              <a:rPr sz="1125" b="1" i="0">
                <a:solidFill>
                  <a:srgbClr val="FFFFFF"/>
                </a:solidFill>
              </a:rPr>
              <a:t>Alert</a:t>
            </a:r>
          </a:p>
        </p:txBody>
      </p:sp>
      <p:sp>
        <p:nvSpPr>
          <p:cNvPr id="31" name="">
            <a:extLst xmlns:a="http://schemas.openxmlformats.org/drawingml/2006/main">
              <a:ext uri="{FF2B5EF4-FFF2-40B4-BE49-F238E27FC236}">
                <a16:creationId xmlns:a16="http://schemas.microsoft.com/office/drawing/2014/main" id="{2223A342-B850-4D52-9A6E-B6EE6D15E2F6}"/>
              </a:ext>
            </a:extLst>
          </p:cNvPr>
          <p:cNvSpPr>
            <a:spLocks xmlns:a="http://schemas.openxmlformats.org/drawingml/2006/main" noGrp="1"/>
          </p:cNvSpPr>
          <p:nvPr/>
        </p:nvSpPr>
        <p:spPr>
          <a:xfrm xmlns:a="http://schemas.openxmlformats.org/drawingml/2006/main">
            <a:off x="8324850" y="4305300"/>
            <a:ext cx="2686050" cy="438150"/>
          </a:xfrm>
          <a:prstGeom xmlns:a="http://schemas.openxmlformats.org/drawingml/2006/main" prst="roundRect">
            <a:avLst>
              <a:gd name="adj" fmla="val 17391"/>
            </a:avLst>
          </a:prstGeom>
          <a:solidFill xmlns:a="http://schemas.openxmlformats.org/drawingml/2006/main">
            <a:srgbClr val="30384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16EFE3F-1072-411B-97BD-9C4C6BCFA999}"/>
              </a:ext>
            </a:extLst>
          </p:cNvPr>
          <p:cNvSpPr>
            <a:spLocks xmlns:a="http://schemas.openxmlformats.org/drawingml/2006/main" noGrp="1"/>
          </p:cNvSpPr>
          <p:nvPr/>
        </p:nvSpPr>
        <p:spPr>
          <a:xfrm xmlns:a="http://schemas.openxmlformats.org/drawingml/2006/main">
            <a:off x="8439150" y="4352925"/>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FFFFFF"/>
                </a:solidFill>
              </a:defRPr>
            </a:pPr>
            <a:r>
              <a:rPr sz="1125" b="1" i="0">
                <a:solidFill>
                  <a:srgbClr val="FFFFFF"/>
                </a:solidFill>
              </a:rPr>
              <a:t>Act</a:t>
            </a:r>
          </a:p>
        </p:txBody>
      </p:sp>
      <p:sp>
        <p:nvSpPr>
          <p:cNvPr id="33" name="">
            <a:extLst xmlns:a="http://schemas.openxmlformats.org/drawingml/2006/main">
              <a:ext uri="{FF2B5EF4-FFF2-40B4-BE49-F238E27FC236}">
                <a16:creationId xmlns:a16="http://schemas.microsoft.com/office/drawing/2014/main" id="{9F1BE82D-F50D-405E-81C7-B97ECADAA4A7}"/>
              </a:ext>
            </a:extLst>
          </p:cNvPr>
          <p:cNvSpPr>
            <a:spLocks xmlns:a="http://schemas.openxmlformats.org/drawingml/2006/main" noGrp="1"/>
          </p:cNvSpPr>
          <p:nvPr/>
        </p:nvSpPr>
        <p:spPr>
          <a:xfrm xmlns:a="http://schemas.openxmlformats.org/drawingml/2006/main">
            <a:off x="3857625" y="3105150"/>
            <a:ext cx="323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277DFF"/>
                </a:solidFill>
              </a:defRPr>
            </a:pPr>
            <a:r>
              <a:rPr sz="2550" b="1" i="0">
                <a:solidFill>
                  <a:srgbClr val="277DFF"/>
                </a:solidFill>
              </a:rPr>
              <a:t>→</a:t>
            </a:r>
          </a:p>
        </p:txBody>
      </p:sp>
      <p:sp>
        <p:nvSpPr>
          <p:cNvPr id="34" name="">
            <a:extLst xmlns:a="http://schemas.openxmlformats.org/drawingml/2006/main">
              <a:ext uri="{FF2B5EF4-FFF2-40B4-BE49-F238E27FC236}">
                <a16:creationId xmlns:a16="http://schemas.microsoft.com/office/drawing/2014/main" id="{F6D356E4-60E2-4390-BB0F-43F064CB6189}"/>
              </a:ext>
            </a:extLst>
          </p:cNvPr>
          <p:cNvSpPr>
            <a:spLocks xmlns:a="http://schemas.openxmlformats.org/drawingml/2006/main" noGrp="1"/>
          </p:cNvSpPr>
          <p:nvPr/>
        </p:nvSpPr>
        <p:spPr>
          <a:xfrm xmlns:a="http://schemas.openxmlformats.org/drawingml/2006/main">
            <a:off x="7677150" y="3105150"/>
            <a:ext cx="323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277DFF"/>
                </a:solidFill>
              </a:defRPr>
            </a:pPr>
            <a:r>
              <a:rPr sz="2550" b="1" i="0">
                <a:solidFill>
                  <a:srgbClr val="277DFF"/>
                </a:solidFill>
              </a:rPr>
              <a:t>→</a:t>
            </a:r>
          </a:p>
        </p:txBody>
      </p:sp>
      <p:sp>
        <p:nvSpPr>
          <p:cNvPr id="35" name="">
            <a:extLst xmlns:a="http://schemas.openxmlformats.org/drawingml/2006/main">
              <a:ext uri="{FF2B5EF4-FFF2-40B4-BE49-F238E27FC236}">
                <a16:creationId xmlns:a16="http://schemas.microsoft.com/office/drawing/2014/main" id="{639AE777-C9EE-4A5B-B8D1-7DD772C6CD04}"/>
              </a:ext>
            </a:extLst>
          </p:cNvPr>
          <p:cNvSpPr>
            <a:spLocks xmlns:a="http://schemas.openxmlformats.org/drawingml/2006/main" noGrp="1"/>
          </p:cNvSpPr>
          <p:nvPr/>
        </p:nvSpPr>
        <p:spPr>
          <a:xfrm xmlns:a="http://schemas.openxmlformats.org/drawingml/2006/main">
            <a:off x="1847850" y="5638800"/>
            <a:ext cx="8496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242A32"/>
                </a:solidFill>
              </a:defRPr>
            </a:pPr>
            <a:r>
              <a:rPr sz="1425" b="1" i="0">
                <a:solidFill>
                  <a:srgbClr val="242A32"/>
                </a:solidFill>
              </a:rPr>
              <a:t>Palantir models objects, relationships, and actions while preserving permissions and lineage.</a:t>
            </a:r>
          </a:p>
        </p:txBody>
      </p:sp>
      <p:sp>
        <p:nvSpPr>
          <p:cNvPr id="36" name="">
            <a:extLst xmlns:a="http://schemas.openxmlformats.org/drawingml/2006/main">
              <a:ext uri="{FF2B5EF4-FFF2-40B4-BE49-F238E27FC236}">
                <a16:creationId xmlns:a16="http://schemas.microsoft.com/office/drawing/2014/main" id="{58864EFD-3DA6-40B3-8235-146A610A88CF}"/>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E53828F-9E21-4E78-AF7C-1D51DE880AC5}"/>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38" name="">
            <a:extLst xmlns:a="http://schemas.openxmlformats.org/drawingml/2006/main">
              <a:ext uri="{FF2B5EF4-FFF2-40B4-BE49-F238E27FC236}">
                <a16:creationId xmlns:a16="http://schemas.microsoft.com/office/drawing/2014/main" id="{2BBBE152-5307-4A7C-9DCF-39C5A709334D}"/>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11</a:t>
            </a:r>
          </a:p>
        </p:txBody>
      </p:sp>
    </p:spTree>
    <p:extLst>
      <p:ext uri="{BB962C8B-B14F-4D97-AF65-F5344CB8AC3E}">
        <p14:creationId xmlns:p14="http://schemas.microsoft.com/office/powerpoint/2010/main" val="261015386"/>
      </p:ext>
    </p:extLst>
  </p:cSld>
</p:sld>
</file>

<file path=ppt/slides/slide12.xml><?xml version="1.0" encoding="utf-8"?>
<p:sld xmlns:p="http://schemas.openxmlformats.org/presentationml/2006/main">
  <p:cSld>
    <p:bg>
      <p:bgPr>
        <a:solidFill xmlns:a="http://schemas.openxmlformats.org/drawingml/2006/main">
          <a:srgbClr val="F2F5F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364FA5F-EFB8-4E06-BB5B-38E421F0401D}"/>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THE PALANTIR PARADOX</a:t>
            </a:r>
          </a:p>
        </p:txBody>
      </p:sp>
      <p:sp>
        <p:nvSpPr>
          <p:cNvPr id="2" name="slide-title">
            <a:extLst xmlns:a="http://schemas.openxmlformats.org/drawingml/2006/main">
              <a:ext uri="{FF2B5EF4-FFF2-40B4-BE49-F238E27FC236}">
                <a16:creationId xmlns:a16="http://schemas.microsoft.com/office/drawing/2014/main" id="{3E229D3E-192A-41AF-8A42-C76C2B262EE8}"/>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The promise and the danger are the same capability.</a:t>
            </a:r>
          </a:p>
        </p:txBody>
      </p:sp>
      <p:sp>
        <p:nvSpPr>
          <p:cNvPr id="3" name="">
            <a:extLst xmlns:a="http://schemas.openxmlformats.org/drawingml/2006/main">
              <a:ext uri="{FF2B5EF4-FFF2-40B4-BE49-F238E27FC236}">
                <a16:creationId xmlns:a16="http://schemas.microsoft.com/office/drawing/2014/main" id="{A654A063-DE71-49CA-AD2F-A363F014BAFA}"/>
              </a:ext>
            </a:extLst>
          </p:cNvPr>
          <p:cNvSpPr>
            <a:spLocks xmlns:a="http://schemas.openxmlformats.org/drawingml/2006/main" noGrp="1"/>
          </p:cNvSpPr>
          <p:nvPr/>
        </p:nvSpPr>
        <p:spPr>
          <a:xfrm xmlns:a="http://schemas.openxmlformats.org/drawingml/2006/main">
            <a:off x="533400" y="1657350"/>
            <a:ext cx="5219700" cy="3810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A4301B19-5D36-451C-B8F1-ED6A26D0367C}"/>
              </a:ext>
            </a:extLst>
          </p:cNvPr>
          <p:cNvSpPr>
            <a:spLocks xmlns:a="http://schemas.openxmlformats.org/drawingml/2006/main" noGrp="1"/>
          </p:cNvSpPr>
          <p:nvPr/>
        </p:nvSpPr>
        <p:spPr>
          <a:xfrm xmlns:a="http://schemas.openxmlformats.org/drawingml/2006/main">
            <a:off x="781050" y="18859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138A61"/>
                </a:solidFill>
              </a:defRPr>
            </a:pPr>
            <a:r>
              <a:rPr sz="900" b="1" i="0">
                <a:solidFill>
                  <a:srgbClr val="138A61"/>
                </a:solidFill>
              </a:rPr>
              <a:t>CAPACITY</a:t>
            </a:r>
          </a:p>
        </p:txBody>
      </p:sp>
      <p:sp>
        <p:nvSpPr>
          <p:cNvPr id="5" name="">
            <a:extLst xmlns:a="http://schemas.openxmlformats.org/drawingml/2006/main">
              <a:ext uri="{FF2B5EF4-FFF2-40B4-BE49-F238E27FC236}">
                <a16:creationId xmlns:a16="http://schemas.microsoft.com/office/drawing/2014/main" id="{6EF8FBBC-F28E-458E-9FE7-6EEFD65426D7}"/>
              </a:ext>
            </a:extLst>
          </p:cNvPr>
          <p:cNvSpPr>
            <a:spLocks xmlns:a="http://schemas.openxmlformats.org/drawingml/2006/main" noGrp="1"/>
          </p:cNvSpPr>
          <p:nvPr/>
        </p:nvSpPr>
        <p:spPr>
          <a:xfrm xmlns:a="http://schemas.openxmlformats.org/drawingml/2006/main">
            <a:off x="781050" y="2324100"/>
            <a:ext cx="4381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i="0">
                <a:solidFill>
                  <a:srgbClr val="101318"/>
                </a:solidFill>
              </a:defRPr>
            </a:pPr>
            <a:r>
              <a:rPr sz="2400" b="1" i="0">
                <a:solidFill>
                  <a:srgbClr val="101318"/>
                </a:solidFill>
              </a:rPr>
              <a:t>Make institutions</a:t>
            </a:r>
          </a:p>
          <a:p xmlns:a="http://schemas.openxmlformats.org/drawingml/2006/main">
            <a:pPr algn="l">
              <a:defRPr sz="2400" b="1" i="0">
                <a:solidFill>
                  <a:srgbClr val="101318"/>
                </a:solidFill>
              </a:defRPr>
            </a:pPr>
            <a:r>
              <a:rPr sz="2400" b="1" i="0">
                <a:solidFill>
                  <a:srgbClr val="101318"/>
                </a:solidFill>
              </a:rPr>
              <a:t>see and coordinate</a:t>
            </a:r>
          </a:p>
        </p:txBody>
      </p:sp>
      <p:sp>
        <p:nvSpPr>
          <p:cNvPr id="6" name="">
            <a:extLst xmlns:a="http://schemas.openxmlformats.org/drawingml/2006/main">
              <a:ext uri="{FF2B5EF4-FFF2-40B4-BE49-F238E27FC236}">
                <a16:creationId xmlns:a16="http://schemas.microsoft.com/office/drawing/2014/main" id="{D1652FBE-EB65-42D6-8804-61BB545B61F1}"/>
              </a:ext>
            </a:extLst>
          </p:cNvPr>
          <p:cNvSpPr>
            <a:spLocks xmlns:a="http://schemas.openxmlformats.org/drawingml/2006/main" noGrp="1"/>
          </p:cNvSpPr>
          <p:nvPr/>
        </p:nvSpPr>
        <p:spPr>
          <a:xfrm xmlns:a="http://schemas.openxmlformats.org/drawingml/2006/main">
            <a:off x="828675" y="3724275"/>
            <a:ext cx="133350" cy="133350"/>
          </a:xfrm>
          <a:prstGeom xmlns:a="http://schemas.openxmlformats.org/drawingml/2006/main" prst="ellipse">
            <a:avLst/>
          </a:prstGeom>
          <a:solidFill xmlns:a="http://schemas.openxmlformats.org/drawingml/2006/main">
            <a:srgbClr val="138A6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C9AE091-C809-4D96-BACC-C16DF4C91AF1}"/>
              </a:ext>
            </a:extLst>
          </p:cNvPr>
          <p:cNvSpPr>
            <a:spLocks xmlns:a="http://schemas.openxmlformats.org/drawingml/2006/main" noGrp="1"/>
          </p:cNvSpPr>
          <p:nvPr/>
        </p:nvSpPr>
        <p:spPr>
          <a:xfrm xmlns:a="http://schemas.openxmlformats.org/drawingml/2006/main">
            <a:off x="1104900" y="361950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242A32"/>
                </a:solidFill>
              </a:defRPr>
            </a:pPr>
            <a:r>
              <a:rPr sz="1350" b="0" i="0">
                <a:solidFill>
                  <a:srgbClr val="242A32"/>
                </a:solidFill>
              </a:rPr>
              <a:t>Granular access controls</a:t>
            </a:r>
          </a:p>
        </p:txBody>
      </p:sp>
      <p:sp>
        <p:nvSpPr>
          <p:cNvPr id="8" name="">
            <a:extLst xmlns:a="http://schemas.openxmlformats.org/drawingml/2006/main">
              <a:ext uri="{FF2B5EF4-FFF2-40B4-BE49-F238E27FC236}">
                <a16:creationId xmlns:a16="http://schemas.microsoft.com/office/drawing/2014/main" id="{21C0A4CA-E3CD-4875-8E91-DE8888255700}"/>
              </a:ext>
            </a:extLst>
          </p:cNvPr>
          <p:cNvSpPr>
            <a:spLocks xmlns:a="http://schemas.openxmlformats.org/drawingml/2006/main" noGrp="1"/>
          </p:cNvSpPr>
          <p:nvPr/>
        </p:nvSpPr>
        <p:spPr>
          <a:xfrm xmlns:a="http://schemas.openxmlformats.org/drawingml/2006/main">
            <a:off x="828675" y="4181475"/>
            <a:ext cx="133350" cy="133350"/>
          </a:xfrm>
          <a:prstGeom xmlns:a="http://schemas.openxmlformats.org/drawingml/2006/main" prst="ellipse">
            <a:avLst/>
          </a:prstGeom>
          <a:solidFill xmlns:a="http://schemas.openxmlformats.org/drawingml/2006/main">
            <a:srgbClr val="138A6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82B3710-A07C-4A58-83ED-9A7838D20FC3}"/>
              </a:ext>
            </a:extLst>
          </p:cNvPr>
          <p:cNvSpPr>
            <a:spLocks xmlns:a="http://schemas.openxmlformats.org/drawingml/2006/main" noGrp="1"/>
          </p:cNvSpPr>
          <p:nvPr/>
        </p:nvSpPr>
        <p:spPr>
          <a:xfrm xmlns:a="http://schemas.openxmlformats.org/drawingml/2006/main">
            <a:off x="1104900" y="407670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242A32"/>
                </a:solidFill>
              </a:defRPr>
            </a:pPr>
            <a:r>
              <a:rPr sz="1350" b="0" i="0">
                <a:solidFill>
                  <a:srgbClr val="242A32"/>
                </a:solidFill>
              </a:rPr>
              <a:t>Audit logs and data lineage</a:t>
            </a:r>
          </a:p>
        </p:txBody>
      </p:sp>
      <p:sp>
        <p:nvSpPr>
          <p:cNvPr id="10" name="">
            <a:extLst xmlns:a="http://schemas.openxmlformats.org/drawingml/2006/main">
              <a:ext uri="{FF2B5EF4-FFF2-40B4-BE49-F238E27FC236}">
                <a16:creationId xmlns:a16="http://schemas.microsoft.com/office/drawing/2014/main" id="{6519F4C6-8895-47C0-A7AC-BCB56D574236}"/>
              </a:ext>
            </a:extLst>
          </p:cNvPr>
          <p:cNvSpPr>
            <a:spLocks xmlns:a="http://schemas.openxmlformats.org/drawingml/2006/main" noGrp="1"/>
          </p:cNvSpPr>
          <p:nvPr/>
        </p:nvSpPr>
        <p:spPr>
          <a:xfrm xmlns:a="http://schemas.openxmlformats.org/drawingml/2006/main">
            <a:off x="828675" y="4638675"/>
            <a:ext cx="133350" cy="133350"/>
          </a:xfrm>
          <a:prstGeom xmlns:a="http://schemas.openxmlformats.org/drawingml/2006/main" prst="ellipse">
            <a:avLst/>
          </a:prstGeom>
          <a:solidFill xmlns:a="http://schemas.openxmlformats.org/drawingml/2006/main">
            <a:srgbClr val="138A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0C5EF41-FDBB-494C-ACB1-D9CDBC19F094}"/>
              </a:ext>
            </a:extLst>
          </p:cNvPr>
          <p:cNvSpPr>
            <a:spLocks xmlns:a="http://schemas.openxmlformats.org/drawingml/2006/main" noGrp="1"/>
          </p:cNvSpPr>
          <p:nvPr/>
        </p:nvSpPr>
        <p:spPr>
          <a:xfrm xmlns:a="http://schemas.openxmlformats.org/drawingml/2006/main">
            <a:off x="1104900" y="453390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242A32"/>
                </a:solidFill>
              </a:defRPr>
            </a:pPr>
            <a:r>
              <a:rPr sz="1350" b="0" i="0">
                <a:solidFill>
                  <a:srgbClr val="242A32"/>
                </a:solidFill>
              </a:rPr>
              <a:t>Faster cross-system decisions</a:t>
            </a:r>
          </a:p>
        </p:txBody>
      </p:sp>
      <p:sp>
        <p:nvSpPr>
          <p:cNvPr id="12" name="">
            <a:extLst xmlns:a="http://schemas.openxmlformats.org/drawingml/2006/main">
              <a:ext uri="{FF2B5EF4-FFF2-40B4-BE49-F238E27FC236}">
                <a16:creationId xmlns:a16="http://schemas.microsoft.com/office/drawing/2014/main" id="{6400F0FD-2B73-4073-9A90-BF9AE30F3229}"/>
              </a:ext>
            </a:extLst>
          </p:cNvPr>
          <p:cNvSpPr>
            <a:spLocks xmlns:a="http://schemas.openxmlformats.org/drawingml/2006/main" noGrp="1"/>
          </p:cNvSpPr>
          <p:nvPr/>
        </p:nvSpPr>
        <p:spPr>
          <a:xfrm xmlns:a="http://schemas.openxmlformats.org/drawingml/2006/main">
            <a:off x="6438900" y="1657350"/>
            <a:ext cx="5219700" cy="3810000"/>
          </a:xfrm>
          <a:prstGeom xmlns:a="http://schemas.openxmlformats.org/drawingml/2006/main" prst="roundRect">
            <a:avLst>
              <a:gd name="adj" fmla="val 4000"/>
            </a:avLst>
          </a:prstGeom>
          <a:solidFill xmlns:a="http://schemas.openxmlformats.org/drawingml/2006/main">
            <a:srgbClr val="101318"/>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1F366DD-4185-49DD-A1EB-45EF8D9C77F3}"/>
              </a:ext>
            </a:extLst>
          </p:cNvPr>
          <p:cNvSpPr>
            <a:spLocks xmlns:a="http://schemas.openxmlformats.org/drawingml/2006/main" noGrp="1"/>
          </p:cNvSpPr>
          <p:nvPr/>
        </p:nvSpPr>
        <p:spPr>
          <a:xfrm xmlns:a="http://schemas.openxmlformats.org/drawingml/2006/main">
            <a:off x="6686550" y="18859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FF8A3D"/>
                </a:solidFill>
              </a:defRPr>
            </a:pPr>
            <a:r>
              <a:rPr sz="900" b="1" i="0">
                <a:solidFill>
                  <a:srgbClr val="FF8A3D"/>
                </a:solidFill>
              </a:rPr>
              <a:t>ASYMMETRY</a:t>
            </a:r>
          </a:p>
        </p:txBody>
      </p:sp>
      <p:sp>
        <p:nvSpPr>
          <p:cNvPr id="14" name="">
            <a:extLst xmlns:a="http://schemas.openxmlformats.org/drawingml/2006/main">
              <a:ext uri="{FF2B5EF4-FFF2-40B4-BE49-F238E27FC236}">
                <a16:creationId xmlns:a16="http://schemas.microsoft.com/office/drawing/2014/main" id="{3E4DC677-D75E-4EE7-AC29-D24859DDCDD0}"/>
              </a:ext>
            </a:extLst>
          </p:cNvPr>
          <p:cNvSpPr>
            <a:spLocks xmlns:a="http://schemas.openxmlformats.org/drawingml/2006/main" noGrp="1"/>
          </p:cNvSpPr>
          <p:nvPr/>
        </p:nvSpPr>
        <p:spPr>
          <a:xfrm xmlns:a="http://schemas.openxmlformats.org/drawingml/2006/main">
            <a:off x="6686550" y="2324100"/>
            <a:ext cx="4381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i="0">
                <a:solidFill>
                  <a:srgbClr val="FFFFFF"/>
                </a:solidFill>
              </a:defRPr>
            </a:pPr>
            <a:r>
              <a:rPr sz="2400" b="1" i="0">
                <a:solidFill>
                  <a:srgbClr val="FFFFFF"/>
                </a:solidFill>
              </a:rPr>
              <a:t>Make institutions</a:t>
            </a:r>
          </a:p>
          <a:p xmlns:a="http://schemas.openxmlformats.org/drawingml/2006/main">
            <a:pPr algn="l">
              <a:defRPr sz="2400" b="1" i="0">
                <a:solidFill>
                  <a:srgbClr val="FFFFFF"/>
                </a:solidFill>
              </a:defRPr>
            </a:pPr>
            <a:r>
              <a:rPr sz="2400" b="1" i="0">
                <a:solidFill>
                  <a:srgbClr val="FFFFFF"/>
                </a:solidFill>
              </a:rPr>
              <a:t>see too much</a:t>
            </a:r>
          </a:p>
        </p:txBody>
      </p:sp>
      <p:sp>
        <p:nvSpPr>
          <p:cNvPr id="15" name="">
            <a:extLst xmlns:a="http://schemas.openxmlformats.org/drawingml/2006/main">
              <a:ext uri="{FF2B5EF4-FFF2-40B4-BE49-F238E27FC236}">
                <a16:creationId xmlns:a16="http://schemas.microsoft.com/office/drawing/2014/main" id="{BF67CE8C-AD59-4DDC-8D51-0AB4C157739E}"/>
              </a:ext>
            </a:extLst>
          </p:cNvPr>
          <p:cNvSpPr>
            <a:spLocks xmlns:a="http://schemas.openxmlformats.org/drawingml/2006/main" noGrp="1"/>
          </p:cNvSpPr>
          <p:nvPr/>
        </p:nvSpPr>
        <p:spPr>
          <a:xfrm xmlns:a="http://schemas.openxmlformats.org/drawingml/2006/main">
            <a:off x="6734175" y="3724275"/>
            <a:ext cx="133350" cy="133350"/>
          </a:xfrm>
          <a:prstGeom xmlns:a="http://schemas.openxmlformats.org/drawingml/2006/main" prst="ellipse">
            <a:avLst/>
          </a:prstGeom>
          <a:solidFill xmlns:a="http://schemas.openxmlformats.org/drawingml/2006/main">
            <a:srgbClr val="FF8A3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6E1F062-4D76-48DB-AFA5-5C0DC7F7A241}"/>
              </a:ext>
            </a:extLst>
          </p:cNvPr>
          <p:cNvSpPr>
            <a:spLocks xmlns:a="http://schemas.openxmlformats.org/drawingml/2006/main" noGrp="1"/>
          </p:cNvSpPr>
          <p:nvPr/>
        </p:nvSpPr>
        <p:spPr>
          <a:xfrm xmlns:a="http://schemas.openxmlformats.org/drawingml/2006/main">
            <a:off x="7010400" y="361950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0D7DF"/>
                </a:solidFill>
              </a:defRPr>
            </a:pPr>
            <a:r>
              <a:rPr sz="1350" b="0" i="0">
                <a:solidFill>
                  <a:srgbClr val="D0D7DF"/>
                </a:solidFill>
              </a:rPr>
              <a:t>Surveillance at operational scale</a:t>
            </a:r>
          </a:p>
        </p:txBody>
      </p:sp>
      <p:sp>
        <p:nvSpPr>
          <p:cNvPr id="17" name="">
            <a:extLst xmlns:a="http://schemas.openxmlformats.org/drawingml/2006/main">
              <a:ext uri="{FF2B5EF4-FFF2-40B4-BE49-F238E27FC236}">
                <a16:creationId xmlns:a16="http://schemas.microsoft.com/office/drawing/2014/main" id="{29759313-E35B-421F-9AC3-29D29143A8DC}"/>
              </a:ext>
            </a:extLst>
          </p:cNvPr>
          <p:cNvSpPr>
            <a:spLocks xmlns:a="http://schemas.openxmlformats.org/drawingml/2006/main" noGrp="1"/>
          </p:cNvSpPr>
          <p:nvPr/>
        </p:nvSpPr>
        <p:spPr>
          <a:xfrm xmlns:a="http://schemas.openxmlformats.org/drawingml/2006/main">
            <a:off x="6734175" y="4181475"/>
            <a:ext cx="133350" cy="133350"/>
          </a:xfrm>
          <a:prstGeom xmlns:a="http://schemas.openxmlformats.org/drawingml/2006/main" prst="ellipse">
            <a:avLst/>
          </a:prstGeom>
          <a:solidFill xmlns:a="http://schemas.openxmlformats.org/drawingml/2006/main">
            <a:srgbClr val="FF8A3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1DD5823-CD8B-4C77-B477-BBBDC2B4DDF9}"/>
              </a:ext>
            </a:extLst>
          </p:cNvPr>
          <p:cNvSpPr>
            <a:spLocks xmlns:a="http://schemas.openxmlformats.org/drawingml/2006/main" noGrp="1"/>
          </p:cNvSpPr>
          <p:nvPr/>
        </p:nvSpPr>
        <p:spPr>
          <a:xfrm xmlns:a="http://schemas.openxmlformats.org/drawingml/2006/main">
            <a:off x="7010400" y="407670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0D7DF"/>
                </a:solidFill>
              </a:defRPr>
            </a:pPr>
            <a:r>
              <a:rPr sz="1350" b="0" i="0">
                <a:solidFill>
                  <a:srgbClr val="D0D7DF"/>
                </a:solidFill>
              </a:rPr>
              <a:t>Errors amplified across systems</a:t>
            </a:r>
          </a:p>
        </p:txBody>
      </p:sp>
      <p:sp>
        <p:nvSpPr>
          <p:cNvPr id="19" name="">
            <a:extLst xmlns:a="http://schemas.openxmlformats.org/drawingml/2006/main">
              <a:ext uri="{FF2B5EF4-FFF2-40B4-BE49-F238E27FC236}">
                <a16:creationId xmlns:a16="http://schemas.microsoft.com/office/drawing/2014/main" id="{21882768-1B6B-45C5-AF10-3D75FC705385}"/>
              </a:ext>
            </a:extLst>
          </p:cNvPr>
          <p:cNvSpPr>
            <a:spLocks xmlns:a="http://schemas.openxmlformats.org/drawingml/2006/main" noGrp="1"/>
          </p:cNvSpPr>
          <p:nvPr/>
        </p:nvSpPr>
        <p:spPr>
          <a:xfrm xmlns:a="http://schemas.openxmlformats.org/drawingml/2006/main">
            <a:off x="6734175" y="4638675"/>
            <a:ext cx="133350" cy="133350"/>
          </a:xfrm>
          <a:prstGeom xmlns:a="http://schemas.openxmlformats.org/drawingml/2006/main" prst="ellipse">
            <a:avLst/>
          </a:prstGeom>
          <a:solidFill xmlns:a="http://schemas.openxmlformats.org/drawingml/2006/main">
            <a:srgbClr val="FF8A3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5D4530D-D71D-4DD7-A141-A1FD35BAC3F0}"/>
              </a:ext>
            </a:extLst>
          </p:cNvPr>
          <p:cNvSpPr>
            <a:spLocks xmlns:a="http://schemas.openxmlformats.org/drawingml/2006/main" noGrp="1"/>
          </p:cNvSpPr>
          <p:nvPr/>
        </p:nvSpPr>
        <p:spPr>
          <a:xfrm xmlns:a="http://schemas.openxmlformats.org/drawingml/2006/main">
            <a:off x="7010400" y="453390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0D7DF"/>
                </a:solidFill>
              </a:defRPr>
            </a:pPr>
            <a:r>
              <a:rPr sz="1350" b="0" i="0">
                <a:solidFill>
                  <a:srgbClr val="D0D7DF"/>
                </a:solidFill>
              </a:rPr>
              <a:t>Power concentrated behind secrecy</a:t>
            </a:r>
          </a:p>
        </p:txBody>
      </p:sp>
      <p:sp>
        <p:nvSpPr>
          <p:cNvPr id="21" name="">
            <a:extLst xmlns:a="http://schemas.openxmlformats.org/drawingml/2006/main">
              <a:ext uri="{FF2B5EF4-FFF2-40B4-BE49-F238E27FC236}">
                <a16:creationId xmlns:a16="http://schemas.microsoft.com/office/drawing/2014/main" id="{4F49DD13-DD1D-4ABB-AC42-858A9526E5F5}"/>
              </a:ext>
            </a:extLst>
          </p:cNvPr>
          <p:cNvSpPr>
            <a:spLocks xmlns:a="http://schemas.openxmlformats.org/drawingml/2006/main" noGrp="1"/>
          </p:cNvSpPr>
          <p:nvPr/>
        </p:nvSpPr>
        <p:spPr>
          <a:xfrm xmlns:a="http://schemas.openxmlformats.org/drawingml/2006/main">
            <a:off x="2247900" y="5791200"/>
            <a:ext cx="7696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101318"/>
                </a:solidFill>
              </a:defRPr>
            </a:pPr>
            <a:r>
              <a:rPr sz="1500" b="1" i="0">
                <a:solidFill>
                  <a:srgbClr val="101318"/>
                </a:solidFill>
              </a:rPr>
              <a:t>Governance—not capability alone—decides which side wins.</a:t>
            </a:r>
          </a:p>
        </p:txBody>
      </p:sp>
      <p:sp>
        <p:nvSpPr>
          <p:cNvPr id="22" name="">
            <a:extLst xmlns:a="http://schemas.openxmlformats.org/drawingml/2006/main">
              <a:ext uri="{FF2B5EF4-FFF2-40B4-BE49-F238E27FC236}">
                <a16:creationId xmlns:a16="http://schemas.microsoft.com/office/drawing/2014/main" id="{7E73A3FA-4559-4714-8BCE-C86549D57586}"/>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76CC191-D246-4239-81FC-742F4177C615}"/>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24" name="">
            <a:extLst xmlns:a="http://schemas.openxmlformats.org/drawingml/2006/main">
              <a:ext uri="{FF2B5EF4-FFF2-40B4-BE49-F238E27FC236}">
                <a16:creationId xmlns:a16="http://schemas.microsoft.com/office/drawing/2014/main" id="{55A8CD9E-D6D6-4F9A-9996-7892507EA53D}"/>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12</a:t>
            </a:r>
          </a:p>
        </p:txBody>
      </p:sp>
    </p:spTree>
    <p:extLst>
      <p:ext uri="{BB962C8B-B14F-4D97-AF65-F5344CB8AC3E}">
        <p14:creationId xmlns:p14="http://schemas.microsoft.com/office/powerpoint/2010/main" val="483230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61E126F-273C-49BE-BF3F-5FADE31D2C66}"/>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FACT-CHECKING THE LEGEND</a:t>
            </a:r>
          </a:p>
        </p:txBody>
      </p:sp>
      <p:sp>
        <p:nvSpPr>
          <p:cNvPr id="2" name="slide-title">
            <a:extLst xmlns:a="http://schemas.openxmlformats.org/drawingml/2006/main">
              <a:ext uri="{FF2B5EF4-FFF2-40B4-BE49-F238E27FC236}">
                <a16:creationId xmlns:a16="http://schemas.microsoft.com/office/drawing/2014/main" id="{7266F23E-FDD1-43C1-A892-7D393847C2CC}"/>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“Palantir found bin Laden” is a strong story with weak public proof.</a:t>
            </a:r>
          </a:p>
        </p:txBody>
      </p:sp>
      <p:sp>
        <p:nvSpPr>
          <p:cNvPr id="3" name="">
            <a:extLst xmlns:a="http://schemas.openxmlformats.org/drawingml/2006/main">
              <a:ext uri="{FF2B5EF4-FFF2-40B4-BE49-F238E27FC236}">
                <a16:creationId xmlns:a16="http://schemas.microsoft.com/office/drawing/2014/main" id="{B77E9AC9-95E5-4A08-AACC-98B7186BD5DD}"/>
              </a:ext>
            </a:extLst>
          </p:cNvPr>
          <p:cNvSpPr>
            <a:spLocks xmlns:a="http://schemas.openxmlformats.org/drawingml/2006/main" noGrp="1"/>
          </p:cNvSpPr>
          <p:nvPr/>
        </p:nvSpPr>
        <p:spPr>
          <a:xfrm xmlns:a="http://schemas.openxmlformats.org/drawingml/2006/main">
            <a:off x="1257300" y="3352800"/>
            <a:ext cx="9677400" cy="76200"/>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4B33F8-EB26-4684-90E5-75112E54471D}"/>
              </a:ext>
            </a:extLst>
          </p:cNvPr>
          <p:cNvSpPr>
            <a:spLocks xmlns:a="http://schemas.openxmlformats.org/drawingml/2006/main" noGrp="1"/>
          </p:cNvSpPr>
          <p:nvPr/>
        </p:nvSpPr>
        <p:spPr>
          <a:xfrm xmlns:a="http://schemas.openxmlformats.org/drawingml/2006/main">
            <a:off x="1257300" y="3352800"/>
            <a:ext cx="3219450" cy="76200"/>
          </a:xfrm>
          <a:prstGeom xmlns:a="http://schemas.openxmlformats.org/drawingml/2006/main" prst="rect">
            <a:avLst/>
          </a:prstGeom>
          <a:solidFill xmlns:a="http://schemas.openxmlformats.org/drawingml/2006/main">
            <a:srgbClr val="138A6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8270B75-254F-40F8-85FD-3980C960228B}"/>
              </a:ext>
            </a:extLst>
          </p:cNvPr>
          <p:cNvSpPr>
            <a:spLocks xmlns:a="http://schemas.openxmlformats.org/drawingml/2006/main" noGrp="1"/>
          </p:cNvSpPr>
          <p:nvPr/>
        </p:nvSpPr>
        <p:spPr>
          <a:xfrm xmlns:a="http://schemas.openxmlformats.org/drawingml/2006/main">
            <a:off x="4476750" y="3352800"/>
            <a:ext cx="3219450" cy="76200"/>
          </a:xfrm>
          <a:prstGeom xmlns:a="http://schemas.openxmlformats.org/drawingml/2006/main" prst="rect">
            <a:avLst/>
          </a:prstGeom>
          <a:solidFill xmlns:a="http://schemas.openxmlformats.org/drawingml/2006/main">
            <a:srgbClr val="FF8A3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CA30CDE-3DEB-440E-AE3F-5D29B3C2AE7C}"/>
              </a:ext>
            </a:extLst>
          </p:cNvPr>
          <p:cNvSpPr>
            <a:spLocks xmlns:a="http://schemas.openxmlformats.org/drawingml/2006/main" noGrp="1"/>
          </p:cNvSpPr>
          <p:nvPr/>
        </p:nvSpPr>
        <p:spPr>
          <a:xfrm xmlns:a="http://schemas.openxmlformats.org/drawingml/2006/main">
            <a:off x="7696200" y="3352800"/>
            <a:ext cx="3238500" cy="76200"/>
          </a:xfrm>
          <a:prstGeom xmlns:a="http://schemas.openxmlformats.org/drawingml/2006/main" prst="rect">
            <a:avLst/>
          </a:prstGeom>
          <a:solidFill xmlns:a="http://schemas.openxmlformats.org/drawingml/2006/main">
            <a:srgbClr val="E14B4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C2FE377-1D5F-420A-821D-2C750FB66B26}"/>
              </a:ext>
            </a:extLst>
          </p:cNvPr>
          <p:cNvSpPr>
            <a:spLocks xmlns:a="http://schemas.openxmlformats.org/drawingml/2006/main" noGrp="1"/>
          </p:cNvSpPr>
          <p:nvPr/>
        </p:nvSpPr>
        <p:spPr>
          <a:xfrm xmlns:a="http://schemas.openxmlformats.org/drawingml/2006/main">
            <a:off x="1171575" y="3267075"/>
            <a:ext cx="247650" cy="247650"/>
          </a:xfrm>
          <a:prstGeom xmlns:a="http://schemas.openxmlformats.org/drawingml/2006/main" prst="ellipse">
            <a:avLst/>
          </a:prstGeom>
          <a:solidFill xmlns:a="http://schemas.openxmlformats.org/drawingml/2006/main">
            <a:srgbClr val="138A6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09ABC3-8BAE-41E6-98B4-B6A4EC569448}"/>
              </a:ext>
            </a:extLst>
          </p:cNvPr>
          <p:cNvSpPr>
            <a:spLocks xmlns:a="http://schemas.openxmlformats.org/drawingml/2006/main" noGrp="1"/>
          </p:cNvSpPr>
          <p:nvPr/>
        </p:nvSpPr>
        <p:spPr>
          <a:xfrm xmlns:a="http://schemas.openxmlformats.org/drawingml/2006/main">
            <a:off x="1257300" y="2647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138A61"/>
                </a:solidFill>
              </a:defRPr>
            </a:pPr>
            <a:r>
              <a:rPr sz="975" b="1" i="0">
                <a:solidFill>
                  <a:srgbClr val="138A61"/>
                </a:solidFill>
              </a:rPr>
              <a:t>PUBLICLY VERIFIED</a:t>
            </a:r>
          </a:p>
        </p:txBody>
      </p:sp>
      <p:sp>
        <p:nvSpPr>
          <p:cNvPr id="9" name="">
            <a:extLst xmlns:a="http://schemas.openxmlformats.org/drawingml/2006/main">
              <a:ext uri="{FF2B5EF4-FFF2-40B4-BE49-F238E27FC236}">
                <a16:creationId xmlns:a16="http://schemas.microsoft.com/office/drawing/2014/main" id="{5A746390-437A-400D-9703-21B8085C0DEF}"/>
              </a:ext>
            </a:extLst>
          </p:cNvPr>
          <p:cNvSpPr>
            <a:spLocks xmlns:a="http://schemas.openxmlformats.org/drawingml/2006/main" noGrp="1"/>
          </p:cNvSpPr>
          <p:nvPr/>
        </p:nvSpPr>
        <p:spPr>
          <a:xfrm xmlns:a="http://schemas.openxmlformats.org/drawingml/2006/main">
            <a:off x="1257300" y="3752850"/>
            <a:ext cx="2724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242A32"/>
                </a:solidFill>
              </a:defRPr>
            </a:pPr>
            <a:r>
              <a:rPr sz="1350" b="0" i="0">
                <a:solidFill>
                  <a:srgbClr val="242A32"/>
                </a:solidFill>
              </a:rPr>
              <a:t>Palantir served U.S. intelligence and counterterrorism missions.</a:t>
            </a:r>
          </a:p>
        </p:txBody>
      </p:sp>
      <p:sp>
        <p:nvSpPr>
          <p:cNvPr id="10" name="">
            <a:extLst xmlns:a="http://schemas.openxmlformats.org/drawingml/2006/main">
              <a:ext uri="{FF2B5EF4-FFF2-40B4-BE49-F238E27FC236}">
                <a16:creationId xmlns:a16="http://schemas.microsoft.com/office/drawing/2014/main" id="{5B6D4B22-671E-4D9C-B183-B7B4F03A6CD3}"/>
              </a:ext>
            </a:extLst>
          </p:cNvPr>
          <p:cNvSpPr>
            <a:spLocks xmlns:a="http://schemas.openxmlformats.org/drawingml/2006/main" noGrp="1"/>
          </p:cNvSpPr>
          <p:nvPr/>
        </p:nvSpPr>
        <p:spPr>
          <a:xfrm xmlns:a="http://schemas.openxmlformats.org/drawingml/2006/main">
            <a:off x="4391025" y="3267075"/>
            <a:ext cx="247650" cy="247650"/>
          </a:xfrm>
          <a:prstGeom xmlns:a="http://schemas.openxmlformats.org/drawingml/2006/main" prst="ellipse">
            <a:avLst/>
          </a:prstGeom>
          <a:solidFill xmlns:a="http://schemas.openxmlformats.org/drawingml/2006/main">
            <a:srgbClr val="FF8A3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203A7FF-545B-49F6-877A-079909E53C56}"/>
              </a:ext>
            </a:extLst>
          </p:cNvPr>
          <p:cNvSpPr>
            <a:spLocks xmlns:a="http://schemas.openxmlformats.org/drawingml/2006/main" noGrp="1"/>
          </p:cNvSpPr>
          <p:nvPr/>
        </p:nvSpPr>
        <p:spPr>
          <a:xfrm xmlns:a="http://schemas.openxmlformats.org/drawingml/2006/main">
            <a:off x="4476750" y="2647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FF8A3D"/>
                </a:solidFill>
              </a:defRPr>
            </a:pPr>
            <a:r>
              <a:rPr sz="975" b="1" i="0">
                <a:solidFill>
                  <a:srgbClr val="FF8A3D"/>
                </a:solidFill>
              </a:rPr>
              <a:t>PLAUSIBLE</a:t>
            </a:r>
          </a:p>
        </p:txBody>
      </p:sp>
      <p:sp>
        <p:nvSpPr>
          <p:cNvPr id="12" name="">
            <a:extLst xmlns:a="http://schemas.openxmlformats.org/drawingml/2006/main">
              <a:ext uri="{FF2B5EF4-FFF2-40B4-BE49-F238E27FC236}">
                <a16:creationId xmlns:a16="http://schemas.microsoft.com/office/drawing/2014/main" id="{634DFAA3-6518-4A6D-9ADE-2B86CD0D0B83}"/>
              </a:ext>
            </a:extLst>
          </p:cNvPr>
          <p:cNvSpPr>
            <a:spLocks xmlns:a="http://schemas.openxmlformats.org/drawingml/2006/main" noGrp="1"/>
          </p:cNvSpPr>
          <p:nvPr/>
        </p:nvSpPr>
        <p:spPr>
          <a:xfrm xmlns:a="http://schemas.openxmlformats.org/drawingml/2006/main">
            <a:off x="4476750" y="3752850"/>
            <a:ext cx="2724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242A32"/>
                </a:solidFill>
              </a:defRPr>
            </a:pPr>
            <a:r>
              <a:rPr sz="1350" b="0" i="0">
                <a:solidFill>
                  <a:srgbClr val="242A32"/>
                </a:solidFill>
              </a:rPr>
              <a:t>Tools like it can fuse the fragmented data used in manhunts.</a:t>
            </a:r>
          </a:p>
        </p:txBody>
      </p:sp>
      <p:sp>
        <p:nvSpPr>
          <p:cNvPr id="13" name="">
            <a:extLst xmlns:a="http://schemas.openxmlformats.org/drawingml/2006/main">
              <a:ext uri="{FF2B5EF4-FFF2-40B4-BE49-F238E27FC236}">
                <a16:creationId xmlns:a16="http://schemas.microsoft.com/office/drawing/2014/main" id="{41F2B551-DD9F-4BD7-931A-7A41D2F33B1C}"/>
              </a:ext>
            </a:extLst>
          </p:cNvPr>
          <p:cNvSpPr>
            <a:spLocks xmlns:a="http://schemas.openxmlformats.org/drawingml/2006/main" noGrp="1"/>
          </p:cNvSpPr>
          <p:nvPr/>
        </p:nvSpPr>
        <p:spPr>
          <a:xfrm xmlns:a="http://schemas.openxmlformats.org/drawingml/2006/main">
            <a:off x="7610475" y="3267075"/>
            <a:ext cx="247650" cy="247650"/>
          </a:xfrm>
          <a:prstGeom xmlns:a="http://schemas.openxmlformats.org/drawingml/2006/main" prst="ellipse">
            <a:avLst/>
          </a:prstGeom>
          <a:solidFill xmlns:a="http://schemas.openxmlformats.org/drawingml/2006/main">
            <a:srgbClr val="E14B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48C8E09-8F34-4C12-9D8C-B6107D02BB3D}"/>
              </a:ext>
            </a:extLst>
          </p:cNvPr>
          <p:cNvSpPr>
            <a:spLocks xmlns:a="http://schemas.openxmlformats.org/drawingml/2006/main" noGrp="1"/>
          </p:cNvSpPr>
          <p:nvPr/>
        </p:nvSpPr>
        <p:spPr>
          <a:xfrm xmlns:a="http://schemas.openxmlformats.org/drawingml/2006/main">
            <a:off x="7696200" y="2647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E14B4B"/>
                </a:solidFill>
              </a:defRPr>
            </a:pPr>
            <a:r>
              <a:rPr sz="975" b="1" i="0">
                <a:solidFill>
                  <a:srgbClr val="E14B4B"/>
                </a:solidFill>
              </a:rPr>
              <a:t>NOT PROVEN</a:t>
            </a:r>
          </a:p>
        </p:txBody>
      </p:sp>
      <p:sp>
        <p:nvSpPr>
          <p:cNvPr id="15" name="">
            <a:extLst xmlns:a="http://schemas.openxmlformats.org/drawingml/2006/main">
              <a:ext uri="{FF2B5EF4-FFF2-40B4-BE49-F238E27FC236}">
                <a16:creationId xmlns:a16="http://schemas.microsoft.com/office/drawing/2014/main" id="{24EFD8ED-C055-4356-9E02-F1D345EC0D4F}"/>
              </a:ext>
            </a:extLst>
          </p:cNvPr>
          <p:cNvSpPr>
            <a:spLocks xmlns:a="http://schemas.openxmlformats.org/drawingml/2006/main" noGrp="1"/>
          </p:cNvSpPr>
          <p:nvPr/>
        </p:nvSpPr>
        <p:spPr>
          <a:xfrm xmlns:a="http://schemas.openxmlformats.org/drawingml/2006/main">
            <a:off x="7696200" y="3752850"/>
            <a:ext cx="2724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242A32"/>
                </a:solidFill>
              </a:defRPr>
            </a:pPr>
            <a:r>
              <a:rPr sz="1350" b="0" i="0">
                <a:solidFill>
                  <a:srgbClr val="242A32"/>
                </a:solidFill>
              </a:rPr>
              <a:t>No authoritative public account credits Palantir with locating him.</a:t>
            </a:r>
          </a:p>
        </p:txBody>
      </p:sp>
      <p:sp>
        <p:nvSpPr>
          <p:cNvPr id="16" name="">
            <a:extLst xmlns:a="http://schemas.openxmlformats.org/drawingml/2006/main">
              <a:ext uri="{FF2B5EF4-FFF2-40B4-BE49-F238E27FC236}">
                <a16:creationId xmlns:a16="http://schemas.microsoft.com/office/drawing/2014/main" id="{D6759B6D-991B-4D6F-8E96-8B60DB2D6A38}"/>
              </a:ext>
            </a:extLst>
          </p:cNvPr>
          <p:cNvSpPr>
            <a:spLocks xmlns:a="http://schemas.openxmlformats.org/drawingml/2006/main" noGrp="1"/>
          </p:cNvSpPr>
          <p:nvPr/>
        </p:nvSpPr>
        <p:spPr>
          <a:xfrm xmlns:a="http://schemas.openxmlformats.org/drawingml/2006/main">
            <a:off x="2514600" y="5105400"/>
            <a:ext cx="7162800" cy="800100"/>
          </a:xfrm>
          <a:prstGeom xmlns:a="http://schemas.openxmlformats.org/drawingml/2006/main" prst="roundRect">
            <a:avLst>
              <a:gd name="adj" fmla="val 14286"/>
            </a:avLst>
          </a:prstGeom>
          <a:solidFill xmlns:a="http://schemas.openxmlformats.org/drawingml/2006/main">
            <a:srgbClr val="F2F5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6CAF419-239C-4992-9B2F-2A582DF7C63C}"/>
              </a:ext>
            </a:extLst>
          </p:cNvPr>
          <p:cNvSpPr>
            <a:spLocks xmlns:a="http://schemas.openxmlformats.org/drawingml/2006/main" noGrp="1"/>
          </p:cNvSpPr>
          <p:nvPr/>
        </p:nvSpPr>
        <p:spPr>
          <a:xfrm xmlns:a="http://schemas.openxmlformats.org/drawingml/2006/main">
            <a:off x="2876550" y="5276850"/>
            <a:ext cx="6438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101318"/>
                </a:solidFill>
              </a:defRPr>
            </a:pPr>
            <a:r>
              <a:rPr sz="1875" b="1" i="0">
                <a:solidFill>
                  <a:srgbClr val="101318"/>
                </a:solidFill>
              </a:rPr>
              <a:t>Keep the legend as lore—never as evidence.</a:t>
            </a:r>
          </a:p>
        </p:txBody>
      </p:sp>
      <p:sp>
        <p:nvSpPr>
          <p:cNvPr id="18" name="">
            <a:extLst xmlns:a="http://schemas.openxmlformats.org/drawingml/2006/main">
              <a:ext uri="{FF2B5EF4-FFF2-40B4-BE49-F238E27FC236}">
                <a16:creationId xmlns:a16="http://schemas.microsoft.com/office/drawing/2014/main" id="{E33710A4-0639-41A4-B58C-95C9FAD7DEA7}"/>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CD72172-101A-47C3-847E-7701EF464B6E}"/>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20" name="">
            <a:extLst xmlns:a="http://schemas.openxmlformats.org/drawingml/2006/main">
              <a:ext uri="{FF2B5EF4-FFF2-40B4-BE49-F238E27FC236}">
                <a16:creationId xmlns:a16="http://schemas.microsoft.com/office/drawing/2014/main" id="{52C11A2D-CAF0-477A-B1E0-19B98FC8F846}"/>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13</a:t>
            </a:r>
          </a:p>
        </p:txBody>
      </p:sp>
    </p:spTree>
    <p:extLst>
      <p:ext uri="{BB962C8B-B14F-4D97-AF65-F5344CB8AC3E}">
        <p14:creationId xmlns:p14="http://schemas.microsoft.com/office/powerpoint/2010/main" val="1800344011"/>
      </p:ext>
    </p:extLst>
  </p:cSld>
</p:sld>
</file>

<file path=ppt/slides/slide14.xml><?xml version="1.0" encoding="utf-8"?>
<p:sld xmlns:p="http://schemas.openxmlformats.org/presentationml/2006/main">
  <p:cSld>
    <p:bg>
      <p:bgPr>
        <a:solidFill xmlns:a="http://schemas.openxmlformats.org/drawingml/2006/main">
          <a:srgbClr val="10131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A8DFEEE-3020-4650-8704-7B269EED57A3}"/>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2D2FF"/>
                </a:solidFill>
              </a:defRPr>
            </a:pPr>
            <a:r>
              <a:rPr sz="1050" b="1" i="0">
                <a:solidFill>
                  <a:srgbClr val="62D2FF"/>
                </a:solidFill>
              </a:rPr>
              <a:t>THE CENTRAL CONTRADICTION</a:t>
            </a:r>
          </a:p>
        </p:txBody>
      </p:sp>
      <p:sp>
        <p:nvSpPr>
          <p:cNvPr id="2" name="slide-title">
            <a:extLst xmlns:a="http://schemas.openxmlformats.org/drawingml/2006/main">
              <a:ext uri="{FF2B5EF4-FFF2-40B4-BE49-F238E27FC236}">
                <a16:creationId xmlns:a16="http://schemas.microsoft.com/office/drawing/2014/main" id="{63C9F292-2DC0-43B6-B4A2-FA2E794BC4FF}"/>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FFFFFF"/>
                </a:solidFill>
              </a:defRPr>
            </a:pPr>
            <a:r>
              <a:rPr sz="2850" b="1" i="0">
                <a:solidFill>
                  <a:srgbClr val="FFFFFF"/>
                </a:solidFill>
              </a:rPr>
              <a:t>Thiel warned that AI centralizes power—while Palantir increases state capacity.</a:t>
            </a:r>
          </a:p>
        </p:txBody>
      </p:sp>
      <p:sp>
        <p:nvSpPr>
          <p:cNvPr id="3" name="">
            <a:extLst xmlns:a="http://schemas.openxmlformats.org/drawingml/2006/main">
              <a:ext uri="{FF2B5EF4-FFF2-40B4-BE49-F238E27FC236}">
                <a16:creationId xmlns:a16="http://schemas.microsoft.com/office/drawing/2014/main" id="{AA079EA0-805D-4423-97EE-A34A89219463}"/>
              </a:ext>
            </a:extLst>
          </p:cNvPr>
          <p:cNvSpPr>
            <a:spLocks xmlns:a="http://schemas.openxmlformats.org/drawingml/2006/main" noGrp="1"/>
          </p:cNvSpPr>
          <p:nvPr/>
        </p:nvSpPr>
        <p:spPr>
          <a:xfrm xmlns:a="http://schemas.openxmlformats.org/drawingml/2006/main">
            <a:off x="571500" y="1771650"/>
            <a:ext cx="5124450" cy="3143250"/>
          </a:xfrm>
          <a:prstGeom xmlns:a="http://schemas.openxmlformats.org/drawingml/2006/main" prst="roundRect">
            <a:avLst>
              <a:gd name="adj" fmla="val 4848"/>
            </a:avLst>
          </a:prstGeom>
          <a:solidFill xmlns:a="http://schemas.openxmlformats.org/drawingml/2006/main">
            <a:srgbClr val="172E2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CB878B1-82A5-4E67-8C98-64B44C8A36DF}"/>
              </a:ext>
            </a:extLst>
          </p:cNvPr>
          <p:cNvSpPr>
            <a:spLocks xmlns:a="http://schemas.openxmlformats.org/drawingml/2006/main" noGrp="1"/>
          </p:cNvSpPr>
          <p:nvPr/>
        </p:nvSpPr>
        <p:spPr>
          <a:xfrm xmlns:a="http://schemas.openxmlformats.org/drawingml/2006/main">
            <a:off x="838200" y="20002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63E6BE"/>
                </a:solidFill>
              </a:defRPr>
            </a:pPr>
            <a:r>
              <a:rPr sz="975" b="1" i="0">
                <a:solidFill>
                  <a:srgbClr val="63E6BE"/>
                </a:solidFill>
              </a:rPr>
              <a:t>CRYPTO</a:t>
            </a:r>
          </a:p>
        </p:txBody>
      </p:sp>
      <p:sp>
        <p:nvSpPr>
          <p:cNvPr id="5" name="">
            <a:extLst xmlns:a="http://schemas.openxmlformats.org/drawingml/2006/main">
              <a:ext uri="{FF2B5EF4-FFF2-40B4-BE49-F238E27FC236}">
                <a16:creationId xmlns:a16="http://schemas.microsoft.com/office/drawing/2014/main" id="{D4EBF7C4-47CC-4A95-BD50-1C853DAE962F}"/>
              </a:ext>
            </a:extLst>
          </p:cNvPr>
          <p:cNvSpPr>
            <a:spLocks xmlns:a="http://schemas.openxmlformats.org/drawingml/2006/main" noGrp="1"/>
          </p:cNvSpPr>
          <p:nvPr/>
        </p:nvSpPr>
        <p:spPr>
          <a:xfrm xmlns:a="http://schemas.openxmlformats.org/drawingml/2006/main">
            <a:off x="838200" y="2495550"/>
            <a:ext cx="422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1" i="0">
                <a:solidFill>
                  <a:srgbClr val="FFFFFF"/>
                </a:solidFill>
              </a:defRPr>
            </a:pPr>
            <a:r>
              <a:rPr sz="2475" b="1" i="0">
                <a:solidFill>
                  <a:srgbClr val="FFFFFF"/>
                </a:solidFill>
              </a:rPr>
              <a:t>DECENTRALIZES</a:t>
            </a:r>
          </a:p>
        </p:txBody>
      </p:sp>
      <p:sp>
        <p:nvSpPr>
          <p:cNvPr id="6" name="">
            <a:extLst xmlns:a="http://schemas.openxmlformats.org/drawingml/2006/main">
              <a:ext uri="{FF2B5EF4-FFF2-40B4-BE49-F238E27FC236}">
                <a16:creationId xmlns:a16="http://schemas.microsoft.com/office/drawing/2014/main" id="{B78C6781-CEEF-4038-A25F-2F0D9FB5AC21}"/>
              </a:ext>
            </a:extLst>
          </p:cNvPr>
          <p:cNvSpPr>
            <a:spLocks xmlns:a="http://schemas.openxmlformats.org/drawingml/2006/main" noGrp="1"/>
          </p:cNvSpPr>
          <p:nvPr/>
        </p:nvSpPr>
        <p:spPr>
          <a:xfrm xmlns:a="http://schemas.openxmlformats.org/drawingml/2006/main">
            <a:off x="838200" y="3200400"/>
            <a:ext cx="4095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B9D9CE"/>
                </a:solidFill>
              </a:defRPr>
            </a:pPr>
            <a:r>
              <a:rPr sz="1575" b="0" i="0">
                <a:solidFill>
                  <a:srgbClr val="B9D9CE"/>
                </a:solidFill>
              </a:rPr>
              <a:t>Peer-to-peer systems can weaken the gatekeeper’s control.</a:t>
            </a:r>
          </a:p>
        </p:txBody>
      </p:sp>
      <p:sp>
        <p:nvSpPr>
          <p:cNvPr id="7" name="">
            <a:extLst xmlns:a="http://schemas.openxmlformats.org/drawingml/2006/main">
              <a:ext uri="{FF2B5EF4-FFF2-40B4-BE49-F238E27FC236}">
                <a16:creationId xmlns:a16="http://schemas.microsoft.com/office/drawing/2014/main" id="{B1D1013A-1FA2-4305-9EBC-844A3E816E47}"/>
              </a:ext>
            </a:extLst>
          </p:cNvPr>
          <p:cNvSpPr>
            <a:spLocks xmlns:a="http://schemas.openxmlformats.org/drawingml/2006/main" noGrp="1"/>
          </p:cNvSpPr>
          <p:nvPr/>
        </p:nvSpPr>
        <p:spPr>
          <a:xfrm xmlns:a="http://schemas.openxmlformats.org/drawingml/2006/main">
            <a:off x="838200" y="43053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1">
                <a:solidFill>
                  <a:srgbClr val="63E6BE"/>
                </a:solidFill>
              </a:defRPr>
            </a:pPr>
            <a:r>
              <a:rPr sz="1350" b="0" i="1">
                <a:solidFill>
                  <a:srgbClr val="63E6BE"/>
                </a:solidFill>
              </a:rPr>
              <a:t>“libertarian”</a:t>
            </a:r>
          </a:p>
        </p:txBody>
      </p:sp>
      <p:sp>
        <p:nvSpPr>
          <p:cNvPr id="8" name="">
            <a:extLst xmlns:a="http://schemas.openxmlformats.org/drawingml/2006/main">
              <a:ext uri="{FF2B5EF4-FFF2-40B4-BE49-F238E27FC236}">
                <a16:creationId xmlns:a16="http://schemas.microsoft.com/office/drawing/2014/main" id="{1EDFBEF7-8993-423E-877B-3F792AF8B410}"/>
              </a:ext>
            </a:extLst>
          </p:cNvPr>
          <p:cNvSpPr>
            <a:spLocks xmlns:a="http://schemas.openxmlformats.org/drawingml/2006/main" noGrp="1"/>
          </p:cNvSpPr>
          <p:nvPr/>
        </p:nvSpPr>
        <p:spPr>
          <a:xfrm xmlns:a="http://schemas.openxmlformats.org/drawingml/2006/main">
            <a:off x="6496050" y="1771650"/>
            <a:ext cx="5124450" cy="3143250"/>
          </a:xfrm>
          <a:prstGeom xmlns:a="http://schemas.openxmlformats.org/drawingml/2006/main" prst="roundRect">
            <a:avLst>
              <a:gd name="adj" fmla="val 4848"/>
            </a:avLst>
          </a:prstGeom>
          <a:solidFill xmlns:a="http://schemas.openxmlformats.org/drawingml/2006/main">
            <a:srgbClr val="34232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C035A2C-593C-448B-93C5-A384F894D7E7}"/>
              </a:ext>
            </a:extLst>
          </p:cNvPr>
          <p:cNvSpPr>
            <a:spLocks xmlns:a="http://schemas.openxmlformats.org/drawingml/2006/main" noGrp="1"/>
          </p:cNvSpPr>
          <p:nvPr/>
        </p:nvSpPr>
        <p:spPr>
          <a:xfrm xmlns:a="http://schemas.openxmlformats.org/drawingml/2006/main">
            <a:off x="6762750" y="20002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FF9F80"/>
                </a:solidFill>
              </a:defRPr>
            </a:pPr>
            <a:r>
              <a:rPr sz="975" b="1" i="0">
                <a:solidFill>
                  <a:srgbClr val="FF9F80"/>
                </a:solidFill>
              </a:rPr>
              <a:t>AI</a:t>
            </a:r>
          </a:p>
        </p:txBody>
      </p:sp>
      <p:sp>
        <p:nvSpPr>
          <p:cNvPr id="10" name="">
            <a:extLst xmlns:a="http://schemas.openxmlformats.org/drawingml/2006/main">
              <a:ext uri="{FF2B5EF4-FFF2-40B4-BE49-F238E27FC236}">
                <a16:creationId xmlns:a16="http://schemas.microsoft.com/office/drawing/2014/main" id="{DC9D88E0-60E1-43BB-A24A-5C88CACBB348}"/>
              </a:ext>
            </a:extLst>
          </p:cNvPr>
          <p:cNvSpPr>
            <a:spLocks xmlns:a="http://schemas.openxmlformats.org/drawingml/2006/main" noGrp="1"/>
          </p:cNvSpPr>
          <p:nvPr/>
        </p:nvSpPr>
        <p:spPr>
          <a:xfrm xmlns:a="http://schemas.openxmlformats.org/drawingml/2006/main">
            <a:off x="6762750" y="2495550"/>
            <a:ext cx="422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1" i="0">
                <a:solidFill>
                  <a:srgbClr val="FFFFFF"/>
                </a:solidFill>
              </a:defRPr>
            </a:pPr>
            <a:r>
              <a:rPr sz="2475" b="1" i="0">
                <a:solidFill>
                  <a:srgbClr val="FFFFFF"/>
                </a:solidFill>
              </a:rPr>
              <a:t>CENTRALIZES</a:t>
            </a:r>
          </a:p>
        </p:txBody>
      </p:sp>
      <p:sp>
        <p:nvSpPr>
          <p:cNvPr id="11" name="">
            <a:extLst xmlns:a="http://schemas.openxmlformats.org/drawingml/2006/main">
              <a:ext uri="{FF2B5EF4-FFF2-40B4-BE49-F238E27FC236}">
                <a16:creationId xmlns:a16="http://schemas.microsoft.com/office/drawing/2014/main" id="{C6FCCC7C-BE1B-4EE7-9C7B-377F2B784764}"/>
              </a:ext>
            </a:extLst>
          </p:cNvPr>
          <p:cNvSpPr>
            <a:spLocks xmlns:a="http://schemas.openxmlformats.org/drawingml/2006/main" noGrp="1"/>
          </p:cNvSpPr>
          <p:nvPr/>
        </p:nvSpPr>
        <p:spPr>
          <a:xfrm xmlns:a="http://schemas.openxmlformats.org/drawingml/2006/main">
            <a:off x="6762750" y="3200400"/>
            <a:ext cx="4095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E0C2CB"/>
                </a:solidFill>
              </a:defRPr>
            </a:pPr>
            <a:r>
              <a:rPr sz="1575" b="0" i="0">
                <a:solidFill>
                  <a:srgbClr val="E0C2CB"/>
                </a:solidFill>
              </a:rPr>
              <a:t>Data-rich institutions can see, predict, and coordinate at massive scale.</a:t>
            </a:r>
          </a:p>
        </p:txBody>
      </p:sp>
      <p:sp>
        <p:nvSpPr>
          <p:cNvPr id="12" name="">
            <a:extLst xmlns:a="http://schemas.openxmlformats.org/drawingml/2006/main">
              <a:ext uri="{FF2B5EF4-FFF2-40B4-BE49-F238E27FC236}">
                <a16:creationId xmlns:a16="http://schemas.microsoft.com/office/drawing/2014/main" id="{7EBC842D-D7E8-43D6-9123-34169EF3D5DE}"/>
              </a:ext>
            </a:extLst>
          </p:cNvPr>
          <p:cNvSpPr>
            <a:spLocks xmlns:a="http://schemas.openxmlformats.org/drawingml/2006/main" noGrp="1"/>
          </p:cNvSpPr>
          <p:nvPr/>
        </p:nvSpPr>
        <p:spPr>
          <a:xfrm xmlns:a="http://schemas.openxmlformats.org/drawingml/2006/main">
            <a:off x="6762750" y="43053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1">
                <a:solidFill>
                  <a:srgbClr val="FF9F80"/>
                </a:solidFill>
              </a:defRPr>
            </a:pPr>
            <a:r>
              <a:rPr sz="1350" b="0" i="1">
                <a:solidFill>
                  <a:srgbClr val="FF9F80"/>
                </a:solidFill>
              </a:rPr>
              <a:t>“communist”</a:t>
            </a:r>
          </a:p>
        </p:txBody>
      </p:sp>
      <p:sp>
        <p:nvSpPr>
          <p:cNvPr id="13" name="">
            <a:extLst xmlns:a="http://schemas.openxmlformats.org/drawingml/2006/main">
              <a:ext uri="{FF2B5EF4-FFF2-40B4-BE49-F238E27FC236}">
                <a16:creationId xmlns:a16="http://schemas.microsoft.com/office/drawing/2014/main" id="{433B6811-DC98-4DF1-A658-E775D40820BE}"/>
              </a:ext>
            </a:extLst>
          </p:cNvPr>
          <p:cNvSpPr>
            <a:spLocks xmlns:a="http://schemas.openxmlformats.org/drawingml/2006/main" noGrp="1"/>
          </p:cNvSpPr>
          <p:nvPr/>
        </p:nvSpPr>
        <p:spPr>
          <a:xfrm xmlns:a="http://schemas.openxmlformats.org/drawingml/2006/main">
            <a:off x="1828800" y="5353050"/>
            <a:ext cx="853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CBD3DC"/>
                </a:solidFill>
              </a:defRPr>
            </a:pPr>
            <a:r>
              <a:rPr sz="1500" b="1" i="0">
                <a:solidFill>
                  <a:srgbClr val="CBD3DC"/>
                </a:solidFill>
              </a:rPr>
              <a:t>The irony is real. The explanation is not necessarily hypocrisy: it may be a bet on who controls the center.</a:t>
            </a:r>
          </a:p>
        </p:txBody>
      </p:sp>
      <p:sp>
        <p:nvSpPr>
          <p:cNvPr id="14" name="">
            <a:extLst xmlns:a="http://schemas.openxmlformats.org/drawingml/2006/main">
              <a:ext uri="{FF2B5EF4-FFF2-40B4-BE49-F238E27FC236}">
                <a16:creationId xmlns:a16="http://schemas.microsoft.com/office/drawing/2014/main" id="{CE88B260-32D6-4BE0-8BB8-CA6C8EC7A4B9}"/>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3942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4D4C38-1456-4922-B351-1CDE0D002FCC}"/>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AAB4C0"/>
                </a:solidFill>
              </a:defRPr>
            </a:pPr>
            <a:r>
              <a:rPr sz="750" b="1" i="0">
                <a:solidFill>
                  <a:srgbClr val="AAB4C0"/>
                </a:solidFill>
              </a:rPr>
              <a:t>PETER THIEL — SECRETS, FEAR &amp; POWER</a:t>
            </a:r>
          </a:p>
        </p:txBody>
      </p:sp>
      <p:sp>
        <p:nvSpPr>
          <p:cNvPr id="16" name="">
            <a:extLst xmlns:a="http://schemas.openxmlformats.org/drawingml/2006/main">
              <a:ext uri="{FF2B5EF4-FFF2-40B4-BE49-F238E27FC236}">
                <a16:creationId xmlns:a16="http://schemas.microsoft.com/office/drawing/2014/main" id="{22AC353B-E302-47AC-87B4-055A82B6B14F}"/>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AAB4C0"/>
                </a:solidFill>
              </a:defRPr>
            </a:pPr>
            <a:r>
              <a:rPr sz="750" b="1" i="0">
                <a:solidFill>
                  <a:srgbClr val="AAB4C0"/>
                </a:solidFill>
              </a:rPr>
              <a:t>14</a:t>
            </a:r>
          </a:p>
        </p:txBody>
      </p:sp>
    </p:spTree>
    <p:extLst>
      <p:ext uri="{BB962C8B-B14F-4D97-AF65-F5344CB8AC3E}">
        <p14:creationId xmlns:p14="http://schemas.microsoft.com/office/powerpoint/2010/main" val="1065955499"/>
      </p:ext>
    </p:extLst>
  </p:cSld>
</p:sld>
</file>

<file path=ppt/slides/slide15.xml><?xml version="1.0" encoding="utf-8"?>
<p:sld xmlns:p="http://schemas.openxmlformats.org/presentationml/2006/main">
  <p:cSld>
    <p:bg>
      <p:bgPr>
        <a:solidFill xmlns:a="http://schemas.openxmlformats.org/drawingml/2006/main">
          <a:srgbClr val="F2F5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E6F66C1-BF7E-4210-8817-651EDDB92109}"/>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FRONTIER EXPERIMENTS</a:t>
            </a:r>
          </a:p>
        </p:txBody>
      </p:sp>
      <p:sp>
        <p:nvSpPr>
          <p:cNvPr id="2" name="slide-title">
            <a:extLst xmlns:a="http://schemas.openxmlformats.org/drawingml/2006/main">
              <a:ext uri="{FF2B5EF4-FFF2-40B4-BE49-F238E27FC236}">
                <a16:creationId xmlns:a16="http://schemas.microsoft.com/office/drawing/2014/main" id="{4A35D83B-D13B-48A2-9C85-449B5CF1B2F3}"/>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He funds strange exits from constraints—even when the evidence is thin.</a:t>
            </a:r>
          </a:p>
        </p:txBody>
      </p:sp>
      <p:sp>
        <p:nvSpPr>
          <p:cNvPr id="3" name="">
            <a:extLst xmlns:a="http://schemas.openxmlformats.org/drawingml/2006/main">
              <a:ext uri="{FF2B5EF4-FFF2-40B4-BE49-F238E27FC236}">
                <a16:creationId xmlns:a16="http://schemas.microsoft.com/office/drawing/2014/main" id="{4B50AF11-75A2-434E-9A79-93E91DD3F79A}"/>
              </a:ext>
            </a:extLst>
          </p:cNvPr>
          <p:cNvSpPr>
            <a:spLocks xmlns:a="http://schemas.openxmlformats.org/drawingml/2006/main" noGrp="1"/>
          </p:cNvSpPr>
          <p:nvPr/>
        </p:nvSpPr>
        <p:spPr>
          <a:xfrm xmlns:a="http://schemas.openxmlformats.org/drawingml/2006/main">
            <a:off x="457200" y="1676400"/>
            <a:ext cx="3409950" cy="3143250"/>
          </a:xfrm>
          <a:prstGeom xmlns:a="http://schemas.openxmlformats.org/drawingml/2006/main" prst="roundRect">
            <a:avLst>
              <a:gd name="adj" fmla="val 4469"/>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5339008-B8AF-4A90-AEB0-D90C74496A51}"/>
              </a:ext>
            </a:extLst>
          </p:cNvPr>
          <p:cNvSpPr>
            <a:spLocks xmlns:a="http://schemas.openxmlformats.org/drawingml/2006/main" noGrp="1"/>
          </p:cNvSpPr>
          <p:nvPr/>
        </p:nvSpPr>
        <p:spPr>
          <a:xfrm xmlns:a="http://schemas.openxmlformats.org/drawingml/2006/main">
            <a:off x="666750" y="1847850"/>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277DFF"/>
                </a:solidFill>
              </a:defRPr>
            </a:pPr>
            <a:r>
              <a:rPr sz="1125" b="1" i="0">
                <a:solidFill>
                  <a:srgbClr val="277DFF"/>
                </a:solidFill>
              </a:rPr>
              <a:t>01</a:t>
            </a:r>
          </a:p>
        </p:txBody>
      </p:sp>
      <p:sp>
        <p:nvSpPr>
          <p:cNvPr id="5" name="">
            <a:extLst xmlns:a="http://schemas.openxmlformats.org/drawingml/2006/main">
              <a:ext uri="{FF2B5EF4-FFF2-40B4-BE49-F238E27FC236}">
                <a16:creationId xmlns:a16="http://schemas.microsoft.com/office/drawing/2014/main" id="{E917F164-5EA5-4F9D-B106-BA7D0EE11E5A}"/>
              </a:ext>
            </a:extLst>
          </p:cNvPr>
          <p:cNvSpPr>
            <a:spLocks xmlns:a="http://schemas.openxmlformats.org/drawingml/2006/main" noGrp="1"/>
          </p:cNvSpPr>
          <p:nvPr/>
        </p:nvSpPr>
        <p:spPr>
          <a:xfrm xmlns:a="http://schemas.openxmlformats.org/drawingml/2006/main">
            <a:off x="666750" y="2171700"/>
            <a:ext cx="2990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01318"/>
                </a:solidFill>
              </a:defRPr>
            </a:pPr>
            <a:r>
              <a:rPr sz="1650" b="1" i="0">
                <a:solidFill>
                  <a:srgbClr val="101318"/>
                </a:solidFill>
              </a:rPr>
              <a:t>Seasteading</a:t>
            </a:r>
          </a:p>
        </p:txBody>
      </p:sp>
      <p:sp>
        <p:nvSpPr>
          <p:cNvPr id="6" name="">
            <a:extLst xmlns:a="http://schemas.openxmlformats.org/drawingml/2006/main">
              <a:ext uri="{FF2B5EF4-FFF2-40B4-BE49-F238E27FC236}">
                <a16:creationId xmlns:a16="http://schemas.microsoft.com/office/drawing/2014/main" id="{F1D82DBF-B659-49F3-885E-F66B3E37CC77}"/>
              </a:ext>
            </a:extLst>
          </p:cNvPr>
          <p:cNvSpPr>
            <a:spLocks xmlns:a="http://schemas.openxmlformats.org/drawingml/2006/main" noGrp="1"/>
          </p:cNvSpPr>
          <p:nvPr/>
        </p:nvSpPr>
        <p:spPr>
          <a:xfrm xmlns:a="http://schemas.openxmlformats.org/drawingml/2006/main">
            <a:off x="666750" y="2667000"/>
            <a:ext cx="29908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68717D"/>
                </a:solidFill>
              </a:defRPr>
            </a:pPr>
            <a:r>
              <a:rPr sz="1200" b="0" i="0">
                <a:solidFill>
                  <a:srgbClr val="68717D"/>
                </a:solidFill>
              </a:rPr>
              <a:t>Real funding. Limited execution. Thiel backed floating-governance experiments, then conceded the engineering was not yet feasible.</a:t>
            </a:r>
          </a:p>
        </p:txBody>
      </p:sp>
      <p:sp>
        <p:nvSpPr>
          <p:cNvPr id="7" name="">
            <a:extLst xmlns:a="http://schemas.openxmlformats.org/drawingml/2006/main">
              <a:ext uri="{FF2B5EF4-FFF2-40B4-BE49-F238E27FC236}">
                <a16:creationId xmlns:a16="http://schemas.microsoft.com/office/drawing/2014/main" id="{0F6BD995-4998-4621-9601-6A4C040D2742}"/>
              </a:ext>
            </a:extLst>
          </p:cNvPr>
          <p:cNvSpPr>
            <a:spLocks xmlns:a="http://schemas.openxmlformats.org/drawingml/2006/main" noGrp="1"/>
          </p:cNvSpPr>
          <p:nvPr/>
        </p:nvSpPr>
        <p:spPr>
          <a:xfrm xmlns:a="http://schemas.openxmlformats.org/drawingml/2006/main">
            <a:off x="4391025" y="1676400"/>
            <a:ext cx="3409950" cy="3143250"/>
          </a:xfrm>
          <a:prstGeom xmlns:a="http://schemas.openxmlformats.org/drawingml/2006/main" prst="roundRect">
            <a:avLst>
              <a:gd name="adj" fmla="val 4469"/>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BA069EA-4AAE-4A7D-BCB8-EAC3813F5946}"/>
              </a:ext>
            </a:extLst>
          </p:cNvPr>
          <p:cNvSpPr>
            <a:spLocks xmlns:a="http://schemas.openxmlformats.org/drawingml/2006/main" noGrp="1"/>
          </p:cNvSpPr>
          <p:nvPr/>
        </p:nvSpPr>
        <p:spPr>
          <a:xfrm xmlns:a="http://schemas.openxmlformats.org/drawingml/2006/main">
            <a:off x="4600575" y="1847850"/>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FF8A3D"/>
                </a:solidFill>
              </a:defRPr>
            </a:pPr>
            <a:r>
              <a:rPr sz="1125" b="1" i="0">
                <a:solidFill>
                  <a:srgbClr val="FF8A3D"/>
                </a:solidFill>
              </a:rPr>
              <a:t>02</a:t>
            </a:r>
          </a:p>
        </p:txBody>
      </p:sp>
      <p:sp>
        <p:nvSpPr>
          <p:cNvPr id="9" name="">
            <a:extLst xmlns:a="http://schemas.openxmlformats.org/drawingml/2006/main">
              <a:ext uri="{FF2B5EF4-FFF2-40B4-BE49-F238E27FC236}">
                <a16:creationId xmlns:a16="http://schemas.microsoft.com/office/drawing/2014/main" id="{D6A2FE1E-0DAC-4B58-94F7-1AC5BB6E0D4A}"/>
              </a:ext>
            </a:extLst>
          </p:cNvPr>
          <p:cNvSpPr>
            <a:spLocks xmlns:a="http://schemas.openxmlformats.org/drawingml/2006/main" noGrp="1"/>
          </p:cNvSpPr>
          <p:nvPr/>
        </p:nvSpPr>
        <p:spPr>
          <a:xfrm xmlns:a="http://schemas.openxmlformats.org/drawingml/2006/main">
            <a:off x="4600575" y="2171700"/>
            <a:ext cx="2990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01318"/>
                </a:solidFill>
              </a:defRPr>
            </a:pPr>
            <a:r>
              <a:rPr sz="1650" b="1" i="0">
                <a:solidFill>
                  <a:srgbClr val="101318"/>
                </a:solidFill>
              </a:rPr>
              <a:t>Longevity</a:t>
            </a:r>
          </a:p>
        </p:txBody>
      </p:sp>
      <p:sp>
        <p:nvSpPr>
          <p:cNvPr id="10" name="">
            <a:extLst xmlns:a="http://schemas.openxmlformats.org/drawingml/2006/main">
              <a:ext uri="{FF2B5EF4-FFF2-40B4-BE49-F238E27FC236}">
                <a16:creationId xmlns:a16="http://schemas.microsoft.com/office/drawing/2014/main" id="{A0D284C5-A0E6-40A0-ABB4-592C43296BB4}"/>
              </a:ext>
            </a:extLst>
          </p:cNvPr>
          <p:cNvSpPr>
            <a:spLocks xmlns:a="http://schemas.openxmlformats.org/drawingml/2006/main" noGrp="1"/>
          </p:cNvSpPr>
          <p:nvPr/>
        </p:nvSpPr>
        <p:spPr>
          <a:xfrm xmlns:a="http://schemas.openxmlformats.org/drawingml/2006/main">
            <a:off x="4600575" y="2667000"/>
            <a:ext cx="29908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68717D"/>
                </a:solidFill>
              </a:defRPr>
            </a:pPr>
            <a:r>
              <a:rPr sz="1200" b="0" i="0">
                <a:solidFill>
                  <a:srgbClr val="68717D"/>
                </a:solidFill>
              </a:rPr>
              <a:t>A durable interest in defeating aging and extending healthy life—part technology thesis, part fear of mortality.</a:t>
            </a:r>
          </a:p>
        </p:txBody>
      </p:sp>
      <p:sp>
        <p:nvSpPr>
          <p:cNvPr id="11" name="">
            <a:extLst xmlns:a="http://schemas.openxmlformats.org/drawingml/2006/main">
              <a:ext uri="{FF2B5EF4-FFF2-40B4-BE49-F238E27FC236}">
                <a16:creationId xmlns:a16="http://schemas.microsoft.com/office/drawing/2014/main" id="{C21F5039-D99F-4C00-B423-C4532987C2CF}"/>
              </a:ext>
            </a:extLst>
          </p:cNvPr>
          <p:cNvSpPr>
            <a:spLocks xmlns:a="http://schemas.openxmlformats.org/drawingml/2006/main" noGrp="1"/>
          </p:cNvSpPr>
          <p:nvPr/>
        </p:nvSpPr>
        <p:spPr>
          <a:xfrm xmlns:a="http://schemas.openxmlformats.org/drawingml/2006/main">
            <a:off x="8324850" y="1676400"/>
            <a:ext cx="3409950" cy="3143250"/>
          </a:xfrm>
          <a:prstGeom xmlns:a="http://schemas.openxmlformats.org/drawingml/2006/main" prst="roundRect">
            <a:avLst>
              <a:gd name="adj" fmla="val 4469"/>
            </a:avLst>
          </a:prstGeom>
          <a:solidFill xmlns:a="http://schemas.openxmlformats.org/drawingml/2006/main">
            <a:srgbClr val="10131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734AF7-A016-4013-890C-3A2214BE738D}"/>
              </a:ext>
            </a:extLst>
          </p:cNvPr>
          <p:cNvSpPr>
            <a:spLocks xmlns:a="http://schemas.openxmlformats.org/drawingml/2006/main" noGrp="1"/>
          </p:cNvSpPr>
          <p:nvPr/>
        </p:nvSpPr>
        <p:spPr>
          <a:xfrm xmlns:a="http://schemas.openxmlformats.org/drawingml/2006/main">
            <a:off x="8534400" y="1847850"/>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62D2FF"/>
                </a:solidFill>
              </a:defRPr>
            </a:pPr>
            <a:r>
              <a:rPr sz="1125" b="1" i="0">
                <a:solidFill>
                  <a:srgbClr val="62D2FF"/>
                </a:solidFill>
              </a:rPr>
              <a:t>03</a:t>
            </a:r>
          </a:p>
        </p:txBody>
      </p:sp>
      <p:sp>
        <p:nvSpPr>
          <p:cNvPr id="13" name="">
            <a:extLst xmlns:a="http://schemas.openxmlformats.org/drawingml/2006/main">
              <a:ext uri="{FF2B5EF4-FFF2-40B4-BE49-F238E27FC236}">
                <a16:creationId xmlns:a16="http://schemas.microsoft.com/office/drawing/2014/main" id="{FE9E0898-03BB-492F-A548-6A2EB48900AB}"/>
              </a:ext>
            </a:extLst>
          </p:cNvPr>
          <p:cNvSpPr>
            <a:spLocks xmlns:a="http://schemas.openxmlformats.org/drawingml/2006/main" noGrp="1"/>
          </p:cNvSpPr>
          <p:nvPr/>
        </p:nvSpPr>
        <p:spPr>
          <a:xfrm xmlns:a="http://schemas.openxmlformats.org/drawingml/2006/main">
            <a:off x="8534400" y="2171700"/>
            <a:ext cx="2990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FFFFFF"/>
                </a:solidFill>
              </a:defRPr>
            </a:pPr>
            <a:r>
              <a:rPr sz="1650" b="1" i="0">
                <a:solidFill>
                  <a:srgbClr val="FFFFFF"/>
                </a:solidFill>
              </a:rPr>
              <a:t>Young-blood lore</a:t>
            </a:r>
          </a:p>
        </p:txBody>
      </p:sp>
      <p:sp>
        <p:nvSpPr>
          <p:cNvPr id="14" name="">
            <a:extLst xmlns:a="http://schemas.openxmlformats.org/drawingml/2006/main">
              <a:ext uri="{FF2B5EF4-FFF2-40B4-BE49-F238E27FC236}">
                <a16:creationId xmlns:a16="http://schemas.microsoft.com/office/drawing/2014/main" id="{D08B0880-786E-47DA-9857-27475648BCC8}"/>
              </a:ext>
            </a:extLst>
          </p:cNvPr>
          <p:cNvSpPr>
            <a:spLocks xmlns:a="http://schemas.openxmlformats.org/drawingml/2006/main" noGrp="1"/>
          </p:cNvSpPr>
          <p:nvPr/>
        </p:nvSpPr>
        <p:spPr>
          <a:xfrm xmlns:a="http://schemas.openxmlformats.org/drawingml/2006/main">
            <a:off x="8534400" y="2667000"/>
            <a:ext cx="29908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B9C3CE"/>
                </a:solidFill>
              </a:defRPr>
            </a:pPr>
            <a:r>
              <a:rPr sz="1200" b="0" i="0">
                <a:solidFill>
                  <a:srgbClr val="B9C3CE"/>
                </a:solidFill>
              </a:rPr>
              <a:t>Documented curiosity about parabiosis. No credible public evidence that Thiel personally received young-blood transfusions.</a:t>
            </a:r>
          </a:p>
        </p:txBody>
      </p:sp>
      <p:sp>
        <p:nvSpPr>
          <p:cNvPr id="15" name="">
            <a:extLst xmlns:a="http://schemas.openxmlformats.org/drawingml/2006/main">
              <a:ext uri="{FF2B5EF4-FFF2-40B4-BE49-F238E27FC236}">
                <a16:creationId xmlns:a16="http://schemas.microsoft.com/office/drawing/2014/main" id="{1E71A300-99FE-43B0-A040-F197EFCAA4E2}"/>
              </a:ext>
            </a:extLst>
          </p:cNvPr>
          <p:cNvSpPr>
            <a:spLocks xmlns:a="http://schemas.openxmlformats.org/drawingml/2006/main" noGrp="1"/>
          </p:cNvSpPr>
          <p:nvPr/>
        </p:nvSpPr>
        <p:spPr>
          <a:xfrm xmlns:a="http://schemas.openxmlformats.org/drawingml/2006/main">
            <a:off x="1790700" y="5429250"/>
            <a:ext cx="8610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i="0">
                <a:solidFill>
                  <a:srgbClr val="68717D"/>
                </a:solidFill>
              </a:defRPr>
            </a:pPr>
            <a:r>
              <a:rPr sz="1275" b="0" i="0">
                <a:solidFill>
                  <a:srgbClr val="68717D"/>
                </a:solidFill>
              </a:rPr>
              <a:t>Silicon Valley satire fused these interests into the ‘blood boy’ gag—attached to Gavin Belson, not Peter Gregory.</a:t>
            </a:r>
          </a:p>
        </p:txBody>
      </p:sp>
      <p:sp>
        <p:nvSpPr>
          <p:cNvPr id="16" name="">
            <a:extLst xmlns:a="http://schemas.openxmlformats.org/drawingml/2006/main">
              <a:ext uri="{FF2B5EF4-FFF2-40B4-BE49-F238E27FC236}">
                <a16:creationId xmlns:a16="http://schemas.microsoft.com/office/drawing/2014/main" id="{2C7C364F-4B3E-4437-9CA6-2D1317D256B6}"/>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A442352C-5313-4BEC-AA7D-3CBBED4E3F38}"/>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18" name="">
            <a:extLst xmlns:a="http://schemas.openxmlformats.org/drawingml/2006/main">
              <a:ext uri="{FF2B5EF4-FFF2-40B4-BE49-F238E27FC236}">
                <a16:creationId xmlns:a16="http://schemas.microsoft.com/office/drawing/2014/main" id="{76D9D315-DA49-47FA-9900-2D55AA69B579}"/>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15</a:t>
            </a:r>
          </a:p>
        </p:txBody>
      </p:sp>
    </p:spTree>
    <p:extLst>
      <p:ext uri="{BB962C8B-B14F-4D97-AF65-F5344CB8AC3E}">
        <p14:creationId xmlns:p14="http://schemas.microsoft.com/office/powerpoint/2010/main" val="5782212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6A799B8-3D3B-4233-9B94-59DA080CD4A6}"/>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WHEN PRIVACY BECAME PERSONAL</a:t>
            </a:r>
          </a:p>
        </p:txBody>
      </p:sp>
      <p:sp>
        <p:nvSpPr>
          <p:cNvPr id="2" name="slide-title">
            <a:extLst xmlns:a="http://schemas.openxmlformats.org/drawingml/2006/main">
              <a:ext uri="{FF2B5EF4-FFF2-40B4-BE49-F238E27FC236}">
                <a16:creationId xmlns:a16="http://schemas.microsoft.com/office/drawing/2014/main" id="{57EB3184-A94E-4A13-9EAB-4B55AF21607E}"/>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Gawker turned a principle into a vendetta—and a test of private power.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cf5d0dcb9d3484d"/>
          <a:srcRect xmlns:a="http://schemas.openxmlformats.org/drawingml/2006/main" l="8807" t="0" r="8807" b="0"/>
          <a:stretch xmlns:a="http://schemas.openxmlformats.org/drawingml/2006/main">
            <a:fillRect l="0" t="0" r="0" b="0"/>
          </a:stretch>
        </p:blipFill>
        <p:spPr>
          <a:xfrm xmlns:a="http://schemas.openxmlformats.org/drawingml/2006/main">
            <a:off x="514350" y="1714500"/>
            <a:ext cx="3143250" cy="3714750"/>
          </a:xfrm>
          <a:prstGeom xmlns:a="http://schemas.openxmlformats.org/drawingml/2006/main" prst="roundRect">
            <a:avLst>
              <a:gd name="adj" fmla="val 4848"/>
            </a:avLst>
          </a:prstGeom>
        </p:spPr>
      </p:pic>
      <p:sp>
        <p:nvSpPr>
          <p:cNvPr id="4" name="">
            <a:extLst xmlns:a="http://schemas.openxmlformats.org/drawingml/2006/main">
              <a:ext uri="{FF2B5EF4-FFF2-40B4-BE49-F238E27FC236}">
                <a16:creationId xmlns:a16="http://schemas.microsoft.com/office/drawing/2014/main" id="{70E8922A-7E1C-4789-A34F-7C7FF51CBCC8}"/>
              </a:ext>
            </a:extLst>
          </p:cNvPr>
          <p:cNvSpPr>
            <a:spLocks xmlns:a="http://schemas.openxmlformats.org/drawingml/2006/main" noGrp="1"/>
          </p:cNvSpPr>
          <p:nvPr/>
        </p:nvSpPr>
        <p:spPr>
          <a:xfrm xmlns:a="http://schemas.openxmlformats.org/drawingml/2006/main">
            <a:off x="4114800" y="17907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277DFF"/>
                </a:solidFill>
              </a:defRPr>
            </a:pPr>
            <a:r>
              <a:rPr sz="1275" b="1" i="0">
                <a:solidFill>
                  <a:srgbClr val="277DFF"/>
                </a:solidFill>
              </a:rPr>
              <a:t>2007</a:t>
            </a:r>
          </a:p>
        </p:txBody>
      </p:sp>
      <p:sp>
        <p:nvSpPr>
          <p:cNvPr id="5" name="">
            <a:extLst xmlns:a="http://schemas.openxmlformats.org/drawingml/2006/main">
              <a:ext uri="{FF2B5EF4-FFF2-40B4-BE49-F238E27FC236}">
                <a16:creationId xmlns:a16="http://schemas.microsoft.com/office/drawing/2014/main" id="{E147FFD1-497E-41E2-AD2B-358AA44ADDAC}"/>
              </a:ext>
            </a:extLst>
          </p:cNvPr>
          <p:cNvSpPr>
            <a:spLocks xmlns:a="http://schemas.openxmlformats.org/drawingml/2006/main" noGrp="1"/>
          </p:cNvSpPr>
          <p:nvPr/>
        </p:nvSpPr>
        <p:spPr>
          <a:xfrm xmlns:a="http://schemas.openxmlformats.org/drawingml/2006/main">
            <a:off x="4114800" y="2152650"/>
            <a:ext cx="674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i="0">
                <a:solidFill>
                  <a:srgbClr val="101318"/>
                </a:solidFill>
              </a:defRPr>
            </a:pPr>
            <a:r>
              <a:rPr sz="1950" b="1" i="0">
                <a:solidFill>
                  <a:srgbClr val="101318"/>
                </a:solidFill>
              </a:rPr>
              <a:t>Valleywag, a Gawker site, publicly outs Thiel.</a:t>
            </a:r>
          </a:p>
        </p:txBody>
      </p:sp>
      <p:sp>
        <p:nvSpPr>
          <p:cNvPr id="6" name="">
            <a:extLst xmlns:a="http://schemas.openxmlformats.org/drawingml/2006/main">
              <a:ext uri="{FF2B5EF4-FFF2-40B4-BE49-F238E27FC236}">
                <a16:creationId xmlns:a16="http://schemas.microsoft.com/office/drawing/2014/main" id="{261E4CC2-DEA6-452B-A853-FC1526122DC2}"/>
              </a:ext>
            </a:extLst>
          </p:cNvPr>
          <p:cNvSpPr>
            <a:spLocks xmlns:a="http://schemas.openxmlformats.org/drawingml/2006/main" noGrp="1"/>
          </p:cNvSpPr>
          <p:nvPr/>
        </p:nvSpPr>
        <p:spPr>
          <a:xfrm xmlns:a="http://schemas.openxmlformats.org/drawingml/2006/main">
            <a:off x="4171950" y="2876550"/>
            <a:ext cx="209550" cy="2000250"/>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5581A41-731C-4D49-B74B-A6E6E03F302E}"/>
              </a:ext>
            </a:extLst>
          </p:cNvPr>
          <p:cNvSpPr>
            <a:spLocks xmlns:a="http://schemas.openxmlformats.org/drawingml/2006/main" noGrp="1"/>
          </p:cNvSpPr>
          <p:nvPr/>
        </p:nvSpPr>
        <p:spPr>
          <a:xfrm xmlns:a="http://schemas.openxmlformats.org/drawingml/2006/main">
            <a:off x="4191000" y="2924175"/>
            <a:ext cx="171450" cy="17145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44484A1-1769-43FE-81FA-FD9C1FEF9B46}"/>
              </a:ext>
            </a:extLst>
          </p:cNvPr>
          <p:cNvSpPr>
            <a:spLocks xmlns:a="http://schemas.openxmlformats.org/drawingml/2006/main" noGrp="1"/>
          </p:cNvSpPr>
          <p:nvPr/>
        </p:nvSpPr>
        <p:spPr>
          <a:xfrm xmlns:a="http://schemas.openxmlformats.org/drawingml/2006/main">
            <a:off x="4191000" y="3819525"/>
            <a:ext cx="171450" cy="171450"/>
          </a:xfrm>
          <a:prstGeom xmlns:a="http://schemas.openxmlformats.org/drawingml/2006/main" prst="ellipse">
            <a:avLst/>
          </a:prstGeom>
          <a:solidFill xmlns:a="http://schemas.openxmlformats.org/drawingml/2006/main">
            <a:srgbClr val="FF8A3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C6F8DF4-905D-4675-A179-34DBF3AE4E8B}"/>
              </a:ext>
            </a:extLst>
          </p:cNvPr>
          <p:cNvSpPr>
            <a:spLocks xmlns:a="http://schemas.openxmlformats.org/drawingml/2006/main" noGrp="1"/>
          </p:cNvSpPr>
          <p:nvPr/>
        </p:nvSpPr>
        <p:spPr>
          <a:xfrm xmlns:a="http://schemas.openxmlformats.org/drawingml/2006/main">
            <a:off x="4191000" y="4714875"/>
            <a:ext cx="171450" cy="171450"/>
          </a:xfrm>
          <a:prstGeom xmlns:a="http://schemas.openxmlformats.org/drawingml/2006/main" prst="ellipse">
            <a:avLst/>
          </a:prstGeom>
          <a:solidFill xmlns:a="http://schemas.openxmlformats.org/drawingml/2006/main">
            <a:srgbClr val="10131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4BCDB44-0E59-4838-BD66-8E5B1FFC7832}"/>
              </a:ext>
            </a:extLst>
          </p:cNvPr>
          <p:cNvSpPr>
            <a:spLocks xmlns:a="http://schemas.openxmlformats.org/drawingml/2006/main" noGrp="1"/>
          </p:cNvSpPr>
          <p:nvPr/>
        </p:nvSpPr>
        <p:spPr>
          <a:xfrm xmlns:a="http://schemas.openxmlformats.org/drawingml/2006/main">
            <a:off x="4629150" y="27813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FF8A3D"/>
                </a:solidFill>
              </a:defRPr>
            </a:pPr>
            <a:r>
              <a:rPr sz="1125" b="1" i="0">
                <a:solidFill>
                  <a:srgbClr val="FF8A3D"/>
                </a:solidFill>
              </a:rPr>
              <a:t>2012–16</a:t>
            </a:r>
          </a:p>
        </p:txBody>
      </p:sp>
      <p:sp>
        <p:nvSpPr>
          <p:cNvPr id="11" name="">
            <a:extLst xmlns:a="http://schemas.openxmlformats.org/drawingml/2006/main">
              <a:ext uri="{FF2B5EF4-FFF2-40B4-BE49-F238E27FC236}">
                <a16:creationId xmlns:a16="http://schemas.microsoft.com/office/drawing/2014/main" id="{CDA6A870-3C69-4A61-B292-E377DFC66E3A}"/>
              </a:ext>
            </a:extLst>
          </p:cNvPr>
          <p:cNvSpPr>
            <a:spLocks xmlns:a="http://schemas.openxmlformats.org/drawingml/2006/main" noGrp="1"/>
          </p:cNvSpPr>
          <p:nvPr/>
        </p:nvSpPr>
        <p:spPr>
          <a:xfrm xmlns:a="http://schemas.openxmlformats.org/drawingml/2006/main">
            <a:off x="4629150" y="3105150"/>
            <a:ext cx="622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01318"/>
                </a:solidFill>
              </a:defRPr>
            </a:pPr>
            <a:r>
              <a:rPr sz="1650" b="1" i="0">
                <a:solidFill>
                  <a:srgbClr val="101318"/>
                </a:solidFill>
              </a:rPr>
              <a:t>Thiel secretly funds Hulk Hogan’s sex-tape privacy case.</a:t>
            </a:r>
          </a:p>
        </p:txBody>
      </p:sp>
      <p:sp>
        <p:nvSpPr>
          <p:cNvPr id="12" name="">
            <a:extLst xmlns:a="http://schemas.openxmlformats.org/drawingml/2006/main">
              <a:ext uri="{FF2B5EF4-FFF2-40B4-BE49-F238E27FC236}">
                <a16:creationId xmlns:a16="http://schemas.microsoft.com/office/drawing/2014/main" id="{8F083664-D384-4BD9-9374-19BDC2CE06B2}"/>
              </a:ext>
            </a:extLst>
          </p:cNvPr>
          <p:cNvSpPr>
            <a:spLocks xmlns:a="http://schemas.openxmlformats.org/drawingml/2006/main" noGrp="1"/>
          </p:cNvSpPr>
          <p:nvPr/>
        </p:nvSpPr>
        <p:spPr>
          <a:xfrm xmlns:a="http://schemas.openxmlformats.org/drawingml/2006/main">
            <a:off x="4629150" y="371475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i="0">
                <a:solidFill>
                  <a:srgbClr val="FF8A3D"/>
                </a:solidFill>
              </a:defRPr>
            </a:pPr>
            <a:r>
              <a:rPr sz="2400" b="1" i="0">
                <a:solidFill>
                  <a:srgbClr val="FF8A3D"/>
                </a:solidFill>
              </a:rPr>
              <a:t>$140M</a:t>
            </a:r>
          </a:p>
        </p:txBody>
      </p:sp>
      <p:sp>
        <p:nvSpPr>
          <p:cNvPr id="13" name="">
            <a:extLst xmlns:a="http://schemas.openxmlformats.org/drawingml/2006/main">
              <a:ext uri="{FF2B5EF4-FFF2-40B4-BE49-F238E27FC236}">
                <a16:creationId xmlns:a16="http://schemas.microsoft.com/office/drawing/2014/main" id="{A11A0E59-AA04-44AD-8715-EF313CAE625C}"/>
              </a:ext>
            </a:extLst>
          </p:cNvPr>
          <p:cNvSpPr>
            <a:spLocks xmlns:a="http://schemas.openxmlformats.org/drawingml/2006/main" noGrp="1"/>
          </p:cNvSpPr>
          <p:nvPr/>
        </p:nvSpPr>
        <p:spPr>
          <a:xfrm xmlns:a="http://schemas.openxmlformats.org/drawingml/2006/main">
            <a:off x="6191250" y="3733800"/>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68717D"/>
                </a:solidFill>
              </a:defRPr>
            </a:pPr>
            <a:r>
              <a:rPr sz="1350" b="0" i="0">
                <a:solidFill>
                  <a:srgbClr val="68717D"/>
                </a:solidFill>
              </a:rPr>
              <a:t>Jury verdict; Gawker later files for bankruptcy and settles.</a:t>
            </a:r>
          </a:p>
        </p:txBody>
      </p:sp>
      <p:sp>
        <p:nvSpPr>
          <p:cNvPr id="14" name="">
            <a:extLst xmlns:a="http://schemas.openxmlformats.org/drawingml/2006/main">
              <a:ext uri="{FF2B5EF4-FFF2-40B4-BE49-F238E27FC236}">
                <a16:creationId xmlns:a16="http://schemas.microsoft.com/office/drawing/2014/main" id="{4FE00C75-365B-4569-980C-D50AF9168C3A}"/>
              </a:ext>
            </a:extLst>
          </p:cNvPr>
          <p:cNvSpPr>
            <a:spLocks xmlns:a="http://schemas.openxmlformats.org/drawingml/2006/main" noGrp="1"/>
          </p:cNvSpPr>
          <p:nvPr/>
        </p:nvSpPr>
        <p:spPr>
          <a:xfrm xmlns:a="http://schemas.openxmlformats.org/drawingml/2006/main">
            <a:off x="4629150" y="46101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101318"/>
                </a:solidFill>
              </a:defRPr>
            </a:pPr>
            <a:r>
              <a:rPr sz="975" b="1" i="0">
                <a:solidFill>
                  <a:srgbClr val="101318"/>
                </a:solidFill>
              </a:rPr>
              <a:t>The unresolved question</a:t>
            </a:r>
          </a:p>
        </p:txBody>
      </p:sp>
      <p:sp>
        <p:nvSpPr>
          <p:cNvPr id="15" name="">
            <a:extLst xmlns:a="http://schemas.openxmlformats.org/drawingml/2006/main">
              <a:ext uri="{FF2B5EF4-FFF2-40B4-BE49-F238E27FC236}">
                <a16:creationId xmlns:a16="http://schemas.microsoft.com/office/drawing/2014/main" id="{73D5AA52-D563-446D-9053-59FE56EB1E40}"/>
              </a:ext>
            </a:extLst>
          </p:cNvPr>
          <p:cNvSpPr>
            <a:spLocks xmlns:a="http://schemas.openxmlformats.org/drawingml/2006/main" noGrp="1"/>
          </p:cNvSpPr>
          <p:nvPr/>
        </p:nvSpPr>
        <p:spPr>
          <a:xfrm xmlns:a="http://schemas.openxmlformats.org/drawingml/2006/main">
            <a:off x="4629150" y="4914900"/>
            <a:ext cx="6400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01318"/>
                </a:solidFill>
              </a:defRPr>
            </a:pPr>
            <a:r>
              <a:rPr sz="1575" b="1" i="0">
                <a:solidFill>
                  <a:srgbClr val="101318"/>
                </a:solidFill>
              </a:rPr>
              <a:t>Was this accountability for an abusive publisher—or a billionaire demonstrating that litigation can destroy a newsroom?</a:t>
            </a:r>
          </a:p>
        </p:txBody>
      </p:sp>
      <p:sp>
        <p:nvSpPr>
          <p:cNvPr id="16" name="">
            <a:extLst xmlns:a="http://schemas.openxmlformats.org/drawingml/2006/main">
              <a:ext uri="{FF2B5EF4-FFF2-40B4-BE49-F238E27FC236}">
                <a16:creationId xmlns:a16="http://schemas.microsoft.com/office/drawing/2014/main" id="{A0079CA3-0F7C-405B-BD6B-1928B82BD352}"/>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9FD255A-5482-40FD-850E-2BAFA53D9CF8}"/>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18" name="">
            <a:extLst xmlns:a="http://schemas.openxmlformats.org/drawingml/2006/main">
              <a:ext uri="{FF2B5EF4-FFF2-40B4-BE49-F238E27FC236}">
                <a16:creationId xmlns:a16="http://schemas.microsoft.com/office/drawing/2014/main" id="{C98B0DBF-9AF8-4577-BAAE-ED00D89DB9CE}"/>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16</a:t>
            </a:r>
          </a:p>
        </p:txBody>
      </p:sp>
    </p:spTree>
    <p:extLst>
      <p:ext uri="{BB962C8B-B14F-4D97-AF65-F5344CB8AC3E}">
        <p14:creationId xmlns:p14="http://schemas.microsoft.com/office/powerpoint/2010/main" val="417958822"/>
      </p:ext>
    </p:extLst>
  </p:cSld>
</p:sld>
</file>

<file path=ppt/slides/slide17.xml><?xml version="1.0" encoding="utf-8"?>
<p:sld xmlns:p="http://schemas.openxmlformats.org/presentationml/2006/main">
  <p:cSld>
    <p:bg>
      <p:bgPr>
        <a:solidFill xmlns:a="http://schemas.openxmlformats.org/drawingml/2006/main">
          <a:srgbClr val="F2F5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FD1F53C-C411-4020-8616-C55C98B46BDA}"/>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FROM TECHNOLOGY TO POLITICS</a:t>
            </a:r>
          </a:p>
        </p:txBody>
      </p:sp>
      <p:sp>
        <p:nvSpPr>
          <p:cNvPr id="2" name="slide-title">
            <a:extLst xmlns:a="http://schemas.openxmlformats.org/drawingml/2006/main">
              <a:ext uri="{FF2B5EF4-FFF2-40B4-BE49-F238E27FC236}">
                <a16:creationId xmlns:a16="http://schemas.microsoft.com/office/drawing/2014/main" id="{268D13EA-A96B-40C4-BBA9-666A791902EB}"/>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Political patronage became the next form of venture capital.</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b2ba6b3539f4986"/>
          <a:srcRect xmlns:a="http://schemas.openxmlformats.org/drawingml/2006/main" l="0" t="27" r="0" b="27"/>
          <a:stretch xmlns:a="http://schemas.openxmlformats.org/drawingml/2006/main">
            <a:fillRect l="0" t="0" r="0" b="0"/>
          </a:stretch>
        </p:blipFill>
        <p:spPr>
          <a:xfrm xmlns:a="http://schemas.openxmlformats.org/drawingml/2006/main">
            <a:off x="457200" y="1562100"/>
            <a:ext cx="4533900" cy="2552700"/>
          </a:xfrm>
          <a:prstGeom xmlns:a="http://schemas.openxmlformats.org/drawingml/2006/main" prst="roundRect">
            <a:avLst>
              <a:gd name="adj" fmla="val 4478"/>
            </a:avLst>
          </a:prstGeom>
        </p:spPr>
      </p:pic>
      <p:sp>
        <p:nvSpPr>
          <p:cNvPr id="4" name="">
            <a:extLst xmlns:a="http://schemas.openxmlformats.org/drawingml/2006/main">
              <a:ext uri="{FF2B5EF4-FFF2-40B4-BE49-F238E27FC236}">
                <a16:creationId xmlns:a16="http://schemas.microsoft.com/office/drawing/2014/main" id="{4A89F76C-9B79-4092-B797-B7EB412B2D49}"/>
              </a:ext>
            </a:extLst>
          </p:cNvPr>
          <p:cNvSpPr>
            <a:spLocks xmlns:a="http://schemas.openxmlformats.org/drawingml/2006/main" noGrp="1"/>
          </p:cNvSpPr>
          <p:nvPr/>
        </p:nvSpPr>
        <p:spPr>
          <a:xfrm xmlns:a="http://schemas.openxmlformats.org/drawingml/2006/main">
            <a:off x="457200" y="4286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277DFF"/>
                </a:solidFill>
              </a:defRPr>
            </a:pPr>
            <a:r>
              <a:rPr sz="975" b="1" i="0">
                <a:solidFill>
                  <a:srgbClr val="277DFF"/>
                </a:solidFill>
              </a:rPr>
              <a:t>2016 RNC</a:t>
            </a:r>
          </a:p>
        </p:txBody>
      </p:sp>
      <p:sp>
        <p:nvSpPr>
          <p:cNvPr id="5" name="">
            <a:extLst xmlns:a="http://schemas.openxmlformats.org/drawingml/2006/main">
              <a:ext uri="{FF2B5EF4-FFF2-40B4-BE49-F238E27FC236}">
                <a16:creationId xmlns:a16="http://schemas.microsoft.com/office/drawing/2014/main" id="{896DAA53-CF79-4334-AEF8-57E2CF3EA2D3}"/>
              </a:ext>
            </a:extLst>
          </p:cNvPr>
          <p:cNvSpPr>
            <a:spLocks xmlns:a="http://schemas.openxmlformats.org/drawingml/2006/main" noGrp="1"/>
          </p:cNvSpPr>
          <p:nvPr/>
        </p:nvSpPr>
        <p:spPr>
          <a:xfrm xmlns:a="http://schemas.openxmlformats.org/drawingml/2006/main">
            <a:off x="457200" y="4591050"/>
            <a:ext cx="4533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101318"/>
                </a:solidFill>
              </a:defRPr>
            </a:pPr>
            <a:r>
              <a:rPr sz="1725" b="1" i="0">
                <a:solidFill>
                  <a:srgbClr val="101318"/>
                </a:solidFill>
              </a:rPr>
              <a:t>An openly gay Silicon Valley billionaire makes the case for Donald Trump.</a:t>
            </a:r>
          </a:p>
        </p:txBody>
      </p:sp>
      <p:sp>
        <p:nvSpPr>
          <p:cNvPr id="6" name="">
            <a:extLst xmlns:a="http://schemas.openxmlformats.org/drawingml/2006/main">
              <a:ext uri="{FF2B5EF4-FFF2-40B4-BE49-F238E27FC236}">
                <a16:creationId xmlns:a16="http://schemas.microsoft.com/office/drawing/2014/main" id="{0072FBF6-2FB6-4C0C-A48E-4DC2B150EF7D}"/>
              </a:ext>
            </a:extLst>
          </p:cNvPr>
          <p:cNvSpPr>
            <a:spLocks xmlns:a="http://schemas.openxmlformats.org/drawingml/2006/main" noGrp="1"/>
          </p:cNvSpPr>
          <p:nvPr/>
        </p:nvSpPr>
        <p:spPr>
          <a:xfrm xmlns:a="http://schemas.openxmlformats.org/drawingml/2006/main">
            <a:off x="5657850" y="1924050"/>
            <a:ext cx="38100" cy="3314700"/>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F1EACB3E-A9C7-45BD-80CF-176A254FBBB7}"/>
              </a:ext>
            </a:extLst>
          </p:cNvPr>
          <p:cNvSpPr>
            <a:spLocks xmlns:a="http://schemas.openxmlformats.org/drawingml/2006/main" noGrp="1"/>
          </p:cNvSpPr>
          <p:nvPr/>
        </p:nvSpPr>
        <p:spPr>
          <a:xfrm xmlns:a="http://schemas.openxmlformats.org/drawingml/2006/main">
            <a:off x="5591175" y="1866900"/>
            <a:ext cx="171450" cy="17145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E3A8D26A-7393-4CF6-9BD5-A9DFFA678E90}"/>
              </a:ext>
            </a:extLst>
          </p:cNvPr>
          <p:cNvSpPr>
            <a:spLocks xmlns:a="http://schemas.openxmlformats.org/drawingml/2006/main" noGrp="1"/>
          </p:cNvSpPr>
          <p:nvPr/>
        </p:nvSpPr>
        <p:spPr>
          <a:xfrm xmlns:a="http://schemas.openxmlformats.org/drawingml/2006/main">
            <a:off x="5962650" y="1790700"/>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8717D"/>
                </a:solidFill>
              </a:defRPr>
            </a:pPr>
            <a:r>
              <a:rPr sz="1050" b="1" i="0">
                <a:solidFill>
                  <a:srgbClr val="68717D"/>
                </a:solidFill>
              </a:rPr>
              <a:t>2016</a:t>
            </a:r>
          </a:p>
        </p:txBody>
      </p:sp>
      <p:sp>
        <p:nvSpPr>
          <p:cNvPr id="9" name="">
            <a:extLst xmlns:a="http://schemas.openxmlformats.org/drawingml/2006/main">
              <a:ext uri="{FF2B5EF4-FFF2-40B4-BE49-F238E27FC236}">
                <a16:creationId xmlns:a16="http://schemas.microsoft.com/office/drawing/2014/main" id="{FFD5F722-155E-4094-BCD5-E2B61EDA809C}"/>
              </a:ext>
            </a:extLst>
          </p:cNvPr>
          <p:cNvSpPr>
            <a:spLocks xmlns:a="http://schemas.openxmlformats.org/drawingml/2006/main" noGrp="1"/>
          </p:cNvSpPr>
          <p:nvPr/>
        </p:nvSpPr>
        <p:spPr>
          <a:xfrm xmlns:a="http://schemas.openxmlformats.org/drawingml/2006/main">
            <a:off x="6800850" y="17907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01318"/>
                </a:solidFill>
              </a:defRPr>
            </a:pPr>
            <a:r>
              <a:rPr sz="1500" b="1" i="0">
                <a:solidFill>
                  <a:srgbClr val="101318"/>
                </a:solidFill>
              </a:rPr>
              <a:t>Trump</a:t>
            </a:r>
          </a:p>
        </p:txBody>
      </p:sp>
      <p:sp>
        <p:nvSpPr>
          <p:cNvPr id="10" name="">
            <a:extLst xmlns:a="http://schemas.openxmlformats.org/drawingml/2006/main">
              <a:ext uri="{FF2B5EF4-FFF2-40B4-BE49-F238E27FC236}">
                <a16:creationId xmlns:a16="http://schemas.microsoft.com/office/drawing/2014/main" id="{BDD59545-9D2A-4642-9CE0-CE3E1C17BC42}"/>
              </a:ext>
            </a:extLst>
          </p:cNvPr>
          <p:cNvSpPr>
            <a:spLocks xmlns:a="http://schemas.openxmlformats.org/drawingml/2006/main" noGrp="1"/>
          </p:cNvSpPr>
          <p:nvPr/>
        </p:nvSpPr>
        <p:spPr>
          <a:xfrm xmlns:a="http://schemas.openxmlformats.org/drawingml/2006/main">
            <a:off x="6800850" y="2133600"/>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68717D"/>
                </a:solidFill>
              </a:defRPr>
            </a:pPr>
            <a:r>
              <a:rPr sz="1200" b="0" i="0">
                <a:solidFill>
                  <a:srgbClr val="68717D"/>
                </a:solidFill>
              </a:rPr>
              <a:t>Public endorsement, convention speech, and major financial support.</a:t>
            </a:r>
          </a:p>
        </p:txBody>
      </p:sp>
      <p:sp>
        <p:nvSpPr>
          <p:cNvPr id="11" name="">
            <a:extLst xmlns:a="http://schemas.openxmlformats.org/drawingml/2006/main">
              <a:ext uri="{FF2B5EF4-FFF2-40B4-BE49-F238E27FC236}">
                <a16:creationId xmlns:a16="http://schemas.microsoft.com/office/drawing/2014/main" id="{F531D1DC-0347-4982-BDAA-4B70B973B1D8}"/>
              </a:ext>
            </a:extLst>
          </p:cNvPr>
          <p:cNvSpPr>
            <a:spLocks xmlns:a="http://schemas.openxmlformats.org/drawingml/2006/main" noGrp="1"/>
          </p:cNvSpPr>
          <p:nvPr/>
        </p:nvSpPr>
        <p:spPr>
          <a:xfrm xmlns:a="http://schemas.openxmlformats.org/drawingml/2006/main">
            <a:off x="5591175" y="2971800"/>
            <a:ext cx="171450" cy="17145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2ED7C02-77A3-4206-AB47-144BC1AD308A}"/>
              </a:ext>
            </a:extLst>
          </p:cNvPr>
          <p:cNvSpPr>
            <a:spLocks xmlns:a="http://schemas.openxmlformats.org/drawingml/2006/main" noGrp="1"/>
          </p:cNvSpPr>
          <p:nvPr/>
        </p:nvSpPr>
        <p:spPr>
          <a:xfrm xmlns:a="http://schemas.openxmlformats.org/drawingml/2006/main">
            <a:off x="5962650" y="2895600"/>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8717D"/>
                </a:solidFill>
              </a:defRPr>
            </a:pPr>
            <a:r>
              <a:rPr sz="1050" b="1" i="0">
                <a:solidFill>
                  <a:srgbClr val="68717D"/>
                </a:solidFill>
              </a:rPr>
              <a:t>2018</a:t>
            </a:r>
          </a:p>
        </p:txBody>
      </p:sp>
      <p:sp>
        <p:nvSpPr>
          <p:cNvPr id="13" name="">
            <a:extLst xmlns:a="http://schemas.openxmlformats.org/drawingml/2006/main">
              <a:ext uri="{FF2B5EF4-FFF2-40B4-BE49-F238E27FC236}">
                <a16:creationId xmlns:a16="http://schemas.microsoft.com/office/drawing/2014/main" id="{6F15608C-F1FF-4998-8E69-3E59BBFEA572}"/>
              </a:ext>
            </a:extLst>
          </p:cNvPr>
          <p:cNvSpPr>
            <a:spLocks xmlns:a="http://schemas.openxmlformats.org/drawingml/2006/main" noGrp="1"/>
          </p:cNvSpPr>
          <p:nvPr/>
        </p:nvSpPr>
        <p:spPr>
          <a:xfrm xmlns:a="http://schemas.openxmlformats.org/drawingml/2006/main">
            <a:off x="6800850" y="28956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01318"/>
                </a:solidFill>
              </a:defRPr>
            </a:pPr>
            <a:r>
              <a:rPr sz="1500" b="1" i="0">
                <a:solidFill>
                  <a:srgbClr val="101318"/>
                </a:solidFill>
              </a:rPr>
              <a:t>Los Angeles</a:t>
            </a:r>
          </a:p>
        </p:txBody>
      </p:sp>
      <p:sp>
        <p:nvSpPr>
          <p:cNvPr id="14" name="">
            <a:extLst xmlns:a="http://schemas.openxmlformats.org/drawingml/2006/main">
              <a:ext uri="{FF2B5EF4-FFF2-40B4-BE49-F238E27FC236}">
                <a16:creationId xmlns:a16="http://schemas.microsoft.com/office/drawing/2014/main" id="{1822D36D-1FE6-43D2-9706-D39CC16477B4}"/>
              </a:ext>
            </a:extLst>
          </p:cNvPr>
          <p:cNvSpPr>
            <a:spLocks xmlns:a="http://schemas.openxmlformats.org/drawingml/2006/main" noGrp="1"/>
          </p:cNvSpPr>
          <p:nvPr/>
        </p:nvSpPr>
        <p:spPr>
          <a:xfrm xmlns:a="http://schemas.openxmlformats.org/drawingml/2006/main">
            <a:off x="6800850" y="3238500"/>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68717D"/>
                </a:solidFill>
              </a:defRPr>
            </a:pPr>
            <a:r>
              <a:rPr sz="1200" b="0" i="0">
                <a:solidFill>
                  <a:srgbClr val="68717D"/>
                </a:solidFill>
              </a:rPr>
              <a:t>Moves operations, calling Silicon Valley a one-party state.</a:t>
            </a:r>
          </a:p>
        </p:txBody>
      </p:sp>
      <p:sp>
        <p:nvSpPr>
          <p:cNvPr id="15" name="">
            <a:extLst xmlns:a="http://schemas.openxmlformats.org/drawingml/2006/main">
              <a:ext uri="{FF2B5EF4-FFF2-40B4-BE49-F238E27FC236}">
                <a16:creationId xmlns:a16="http://schemas.microsoft.com/office/drawing/2014/main" id="{C9EF37CA-4295-4B0E-87BF-C16975985285}"/>
              </a:ext>
            </a:extLst>
          </p:cNvPr>
          <p:cNvSpPr>
            <a:spLocks xmlns:a="http://schemas.openxmlformats.org/drawingml/2006/main" noGrp="1"/>
          </p:cNvSpPr>
          <p:nvPr/>
        </p:nvSpPr>
        <p:spPr>
          <a:xfrm xmlns:a="http://schemas.openxmlformats.org/drawingml/2006/main">
            <a:off x="5591175" y="4076700"/>
            <a:ext cx="171450" cy="171450"/>
          </a:xfrm>
          <a:prstGeom xmlns:a="http://schemas.openxmlformats.org/drawingml/2006/main" prst="ellipse">
            <a:avLst/>
          </a:prstGeom>
          <a:solidFill xmlns:a="http://schemas.openxmlformats.org/drawingml/2006/main">
            <a:srgbClr val="FF8A3D"/>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30FFE7F-FDF1-47DC-BEC8-B56666B4AD9F}"/>
              </a:ext>
            </a:extLst>
          </p:cNvPr>
          <p:cNvSpPr>
            <a:spLocks xmlns:a="http://schemas.openxmlformats.org/drawingml/2006/main" noGrp="1"/>
          </p:cNvSpPr>
          <p:nvPr/>
        </p:nvSpPr>
        <p:spPr>
          <a:xfrm xmlns:a="http://schemas.openxmlformats.org/drawingml/2006/main">
            <a:off x="5962650" y="4000500"/>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8717D"/>
                </a:solidFill>
              </a:defRPr>
            </a:pPr>
            <a:r>
              <a:rPr sz="1050" b="1" i="0">
                <a:solidFill>
                  <a:srgbClr val="68717D"/>
                </a:solidFill>
              </a:rPr>
              <a:t>2022</a:t>
            </a:r>
          </a:p>
        </p:txBody>
      </p:sp>
      <p:sp>
        <p:nvSpPr>
          <p:cNvPr id="17" name="">
            <a:extLst xmlns:a="http://schemas.openxmlformats.org/drawingml/2006/main">
              <a:ext uri="{FF2B5EF4-FFF2-40B4-BE49-F238E27FC236}">
                <a16:creationId xmlns:a16="http://schemas.microsoft.com/office/drawing/2014/main" id="{6E8E30F5-B1E6-4B37-9677-BF4480A709B1}"/>
              </a:ext>
            </a:extLst>
          </p:cNvPr>
          <p:cNvSpPr>
            <a:spLocks xmlns:a="http://schemas.openxmlformats.org/drawingml/2006/main" noGrp="1"/>
          </p:cNvSpPr>
          <p:nvPr/>
        </p:nvSpPr>
        <p:spPr>
          <a:xfrm xmlns:a="http://schemas.openxmlformats.org/drawingml/2006/main">
            <a:off x="6800850" y="40005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01318"/>
                </a:solidFill>
              </a:defRPr>
            </a:pPr>
            <a:r>
              <a:rPr sz="1500" b="1" i="0">
                <a:solidFill>
                  <a:srgbClr val="101318"/>
                </a:solidFill>
              </a:rPr>
              <a:t>Vance + Masters</a:t>
            </a:r>
          </a:p>
        </p:txBody>
      </p:sp>
      <p:sp>
        <p:nvSpPr>
          <p:cNvPr id="18" name="">
            <a:extLst xmlns:a="http://schemas.openxmlformats.org/drawingml/2006/main">
              <a:ext uri="{FF2B5EF4-FFF2-40B4-BE49-F238E27FC236}">
                <a16:creationId xmlns:a16="http://schemas.microsoft.com/office/drawing/2014/main" id="{8B07A638-A422-42B5-85B4-E736E802C420}"/>
              </a:ext>
            </a:extLst>
          </p:cNvPr>
          <p:cNvSpPr>
            <a:spLocks xmlns:a="http://schemas.openxmlformats.org/drawingml/2006/main" noGrp="1"/>
          </p:cNvSpPr>
          <p:nvPr/>
        </p:nvSpPr>
        <p:spPr>
          <a:xfrm xmlns:a="http://schemas.openxmlformats.org/drawingml/2006/main">
            <a:off x="6800850" y="4343400"/>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68717D"/>
                </a:solidFill>
              </a:defRPr>
            </a:pPr>
            <a:r>
              <a:rPr sz="1200" b="0" i="0">
                <a:solidFill>
                  <a:srgbClr val="68717D"/>
                </a:solidFill>
              </a:rPr>
              <a:t>Roughly $15M for pro-Vance PAC; Masters runs for U.S. Senate—not governor.</a:t>
            </a:r>
          </a:p>
        </p:txBody>
      </p:sp>
      <p:sp>
        <p:nvSpPr>
          <p:cNvPr id="19" name="">
            <a:extLst xmlns:a="http://schemas.openxmlformats.org/drawingml/2006/main">
              <a:ext uri="{FF2B5EF4-FFF2-40B4-BE49-F238E27FC236}">
                <a16:creationId xmlns:a16="http://schemas.microsoft.com/office/drawing/2014/main" id="{0AD9945B-B5A1-4E22-BCD2-933D6A354127}"/>
              </a:ext>
            </a:extLst>
          </p:cNvPr>
          <p:cNvSpPr>
            <a:spLocks xmlns:a="http://schemas.openxmlformats.org/drawingml/2006/main" noGrp="1"/>
          </p:cNvSpPr>
          <p:nvPr/>
        </p:nvSpPr>
        <p:spPr>
          <a:xfrm xmlns:a="http://schemas.openxmlformats.org/drawingml/2006/main">
            <a:off x="5591175" y="5181600"/>
            <a:ext cx="171450" cy="171450"/>
          </a:xfrm>
          <a:prstGeom xmlns:a="http://schemas.openxmlformats.org/drawingml/2006/main" prst="ellipse">
            <a:avLst/>
          </a:prstGeom>
          <a:solidFill xmlns:a="http://schemas.openxmlformats.org/drawingml/2006/main">
            <a:srgbClr val="101318"/>
          </a:solidFill>
          <a:ln xmlns:a="http://schemas.openxmlformats.org/drawingml/2006/main" w="0">
            <a:no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12EDF0E-E62A-4357-8A08-8430E70AC9E8}"/>
              </a:ext>
            </a:extLst>
          </p:cNvPr>
          <p:cNvSpPr>
            <a:spLocks xmlns:a="http://schemas.openxmlformats.org/drawingml/2006/main" noGrp="1"/>
          </p:cNvSpPr>
          <p:nvPr/>
        </p:nvSpPr>
        <p:spPr>
          <a:xfrm xmlns:a="http://schemas.openxmlformats.org/drawingml/2006/main">
            <a:off x="5962650" y="5105400"/>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8717D"/>
                </a:solidFill>
              </a:defRPr>
            </a:pPr>
            <a:r>
              <a:rPr sz="1050" b="1" i="0">
                <a:solidFill>
                  <a:srgbClr val="68717D"/>
                </a:solidFill>
              </a:rPr>
              <a:t>2025</a:t>
            </a:r>
          </a:p>
        </p:txBody>
      </p:sp>
      <p:sp>
        <p:nvSpPr>
          <p:cNvPr id="21" name="">
            <a:extLst xmlns:a="http://schemas.openxmlformats.org/drawingml/2006/main">
              <a:ext uri="{FF2B5EF4-FFF2-40B4-BE49-F238E27FC236}">
                <a16:creationId xmlns:a16="http://schemas.microsoft.com/office/drawing/2014/main" id="{BAAE2E6E-9CC8-476D-84CA-3FF2659FF393}"/>
              </a:ext>
            </a:extLst>
          </p:cNvPr>
          <p:cNvSpPr>
            <a:spLocks xmlns:a="http://schemas.openxmlformats.org/drawingml/2006/main" noGrp="1"/>
          </p:cNvSpPr>
          <p:nvPr/>
        </p:nvSpPr>
        <p:spPr>
          <a:xfrm xmlns:a="http://schemas.openxmlformats.org/drawingml/2006/main">
            <a:off x="6800850" y="51054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01318"/>
                </a:solidFill>
              </a:defRPr>
            </a:pPr>
            <a:r>
              <a:rPr sz="1500" b="1" i="0">
                <a:solidFill>
                  <a:srgbClr val="101318"/>
                </a:solidFill>
              </a:rPr>
              <a:t>Vice President Vance</a:t>
            </a:r>
          </a:p>
        </p:txBody>
      </p:sp>
      <p:sp>
        <p:nvSpPr>
          <p:cNvPr id="22" name="">
            <a:extLst xmlns:a="http://schemas.openxmlformats.org/drawingml/2006/main">
              <a:ext uri="{FF2B5EF4-FFF2-40B4-BE49-F238E27FC236}">
                <a16:creationId xmlns:a16="http://schemas.microsoft.com/office/drawing/2014/main" id="{D1AAB9F6-669D-4616-A51F-71F699047713}"/>
              </a:ext>
            </a:extLst>
          </p:cNvPr>
          <p:cNvSpPr>
            <a:spLocks xmlns:a="http://schemas.openxmlformats.org/drawingml/2006/main" noGrp="1"/>
          </p:cNvSpPr>
          <p:nvPr/>
        </p:nvSpPr>
        <p:spPr>
          <a:xfrm xmlns:a="http://schemas.openxmlformats.org/drawingml/2006/main">
            <a:off x="6800850" y="5448300"/>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68717D"/>
                </a:solidFill>
              </a:defRPr>
            </a:pPr>
            <a:r>
              <a:rPr sz="1200" b="0" i="0">
                <a:solidFill>
                  <a:srgbClr val="68717D"/>
                </a:solidFill>
              </a:rPr>
              <a:t>A former Mithril Capital principal enters the White House.</a:t>
            </a:r>
          </a:p>
        </p:txBody>
      </p:sp>
      <p:sp>
        <p:nvSpPr>
          <p:cNvPr id="23" name="">
            <a:extLst xmlns:a="http://schemas.openxmlformats.org/drawingml/2006/main">
              <a:ext uri="{FF2B5EF4-FFF2-40B4-BE49-F238E27FC236}">
                <a16:creationId xmlns:a16="http://schemas.microsoft.com/office/drawing/2014/main" id="{A0DD7C0C-6B2A-4B91-9F5D-28DB047861BA}"/>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91102217-F444-4F85-ACB5-CA4DE8556795}"/>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25" name="">
            <a:extLst xmlns:a="http://schemas.openxmlformats.org/drawingml/2006/main">
              <a:ext uri="{FF2B5EF4-FFF2-40B4-BE49-F238E27FC236}">
                <a16:creationId xmlns:a16="http://schemas.microsoft.com/office/drawing/2014/main" id="{85B0C495-ADCC-4E07-8A25-42599D3B392A}"/>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17</a:t>
            </a:r>
          </a:p>
        </p:txBody>
      </p:sp>
    </p:spTree>
    <p:extLst>
      <p:ext uri="{BB962C8B-B14F-4D97-AF65-F5344CB8AC3E}">
        <p14:creationId xmlns:p14="http://schemas.microsoft.com/office/powerpoint/2010/main" val="19587320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2A50083-739C-40DE-872E-2382A07081FF}"/>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A NECESSARY CORRECTION</a:t>
            </a:r>
          </a:p>
        </p:txBody>
      </p:sp>
      <p:sp>
        <p:nvSpPr>
          <p:cNvPr id="2" name="slide-title">
            <a:extLst xmlns:a="http://schemas.openxmlformats.org/drawingml/2006/main">
              <a:ext uri="{FF2B5EF4-FFF2-40B4-BE49-F238E27FC236}">
                <a16:creationId xmlns:a16="http://schemas.microsoft.com/office/drawing/2014/main" id="{7A0FCD99-CDB4-497F-BED7-C3F33C78708D}"/>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Thiel did not invent “Make America Great Again.” He interpreted it.</a:t>
            </a:r>
          </a:p>
        </p:txBody>
      </p:sp>
      <p:sp>
        <p:nvSpPr>
          <p:cNvPr id="3" name="">
            <a:extLst xmlns:a="http://schemas.openxmlformats.org/drawingml/2006/main">
              <a:ext uri="{FF2B5EF4-FFF2-40B4-BE49-F238E27FC236}">
                <a16:creationId xmlns:a16="http://schemas.microsoft.com/office/drawing/2014/main" id="{A93C5C60-0054-4D92-A7F9-82477844D8CC}"/>
              </a:ext>
            </a:extLst>
          </p:cNvPr>
          <p:cNvSpPr>
            <a:spLocks xmlns:a="http://schemas.openxmlformats.org/drawingml/2006/main" noGrp="1"/>
          </p:cNvSpPr>
          <p:nvPr/>
        </p:nvSpPr>
        <p:spPr>
          <a:xfrm xmlns:a="http://schemas.openxmlformats.org/drawingml/2006/main">
            <a:off x="514350" y="1752600"/>
            <a:ext cx="5200650" cy="3257550"/>
          </a:xfrm>
          <a:prstGeom xmlns:a="http://schemas.openxmlformats.org/drawingml/2006/main" prst="roundRect">
            <a:avLst>
              <a:gd name="adj" fmla="val 4678"/>
            </a:avLst>
          </a:prstGeom>
          <a:solidFill xmlns:a="http://schemas.openxmlformats.org/drawingml/2006/main">
            <a:srgbClr val="FFF0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DE53D7-BDAF-4F2D-B008-38D7F1F83BED}"/>
              </a:ext>
            </a:extLst>
          </p:cNvPr>
          <p:cNvSpPr>
            <a:spLocks xmlns:a="http://schemas.openxmlformats.org/drawingml/2006/main" noGrp="1"/>
          </p:cNvSpPr>
          <p:nvPr/>
        </p:nvSpPr>
        <p:spPr>
          <a:xfrm xmlns:a="http://schemas.openxmlformats.org/drawingml/2006/main">
            <a:off x="781050" y="20002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FF8A3D"/>
                </a:solidFill>
              </a:defRPr>
            </a:pPr>
            <a:r>
              <a:rPr sz="900" b="1" i="0">
                <a:solidFill>
                  <a:srgbClr val="FF8A3D"/>
                </a:solidFill>
              </a:rPr>
              <a:t>THE CLAIM</a:t>
            </a:r>
          </a:p>
        </p:txBody>
      </p:sp>
      <p:sp>
        <p:nvSpPr>
          <p:cNvPr id="5" name="">
            <a:extLst xmlns:a="http://schemas.openxmlformats.org/drawingml/2006/main">
              <a:ext uri="{FF2B5EF4-FFF2-40B4-BE49-F238E27FC236}">
                <a16:creationId xmlns:a16="http://schemas.microsoft.com/office/drawing/2014/main" id="{BD2FAE75-9941-49AB-93BF-F087F001C961}"/>
              </a:ext>
            </a:extLst>
          </p:cNvPr>
          <p:cNvSpPr>
            <a:spLocks xmlns:a="http://schemas.openxmlformats.org/drawingml/2006/main" noGrp="1"/>
          </p:cNvSpPr>
          <p:nvPr/>
        </p:nvSpPr>
        <p:spPr>
          <a:xfrm xmlns:a="http://schemas.openxmlformats.org/drawingml/2006/main">
            <a:off x="781050" y="2457450"/>
            <a:ext cx="4286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i="0">
                <a:solidFill>
                  <a:srgbClr val="101318"/>
                </a:solidFill>
              </a:defRPr>
            </a:pPr>
            <a:r>
              <a:rPr sz="2400" b="1" i="0">
                <a:solidFill>
                  <a:srgbClr val="101318"/>
                </a:solidFill>
              </a:rPr>
              <a:t>“Thiel probably helped</a:t>
            </a:r>
          </a:p>
          <a:p xmlns:a="http://schemas.openxmlformats.org/drawingml/2006/main">
            <a:pPr algn="l">
              <a:defRPr sz="2400" b="1" i="0">
                <a:solidFill>
                  <a:srgbClr val="101318"/>
                </a:solidFill>
              </a:defRPr>
            </a:pPr>
            <a:r>
              <a:rPr sz="2400" b="1" i="0">
                <a:solidFill>
                  <a:srgbClr val="101318"/>
                </a:solidFill>
              </a:rPr>
              <a:t>create the slogan.”</a:t>
            </a:r>
          </a:p>
        </p:txBody>
      </p:sp>
      <p:sp>
        <p:nvSpPr>
          <p:cNvPr id="6" name="">
            <a:extLst xmlns:a="http://schemas.openxmlformats.org/drawingml/2006/main">
              <a:ext uri="{FF2B5EF4-FFF2-40B4-BE49-F238E27FC236}">
                <a16:creationId xmlns:a16="http://schemas.microsoft.com/office/drawing/2014/main" id="{A0B92BED-742C-48E1-97AD-D9BACA991A82}"/>
              </a:ext>
            </a:extLst>
          </p:cNvPr>
          <p:cNvSpPr>
            <a:spLocks xmlns:a="http://schemas.openxmlformats.org/drawingml/2006/main" noGrp="1"/>
          </p:cNvSpPr>
          <p:nvPr/>
        </p:nvSpPr>
        <p:spPr>
          <a:xfrm xmlns:a="http://schemas.openxmlformats.org/drawingml/2006/main">
            <a:off x="781050" y="4210050"/>
            <a:ext cx="413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E14B4B"/>
                </a:solidFill>
              </a:defRPr>
            </a:pPr>
            <a:r>
              <a:rPr sz="1350" b="1" i="0">
                <a:solidFill>
                  <a:srgbClr val="E14B4B"/>
                </a:solidFill>
              </a:rPr>
              <a:t>No supporting public evidence.</a:t>
            </a:r>
          </a:p>
        </p:txBody>
      </p:sp>
      <p:sp>
        <p:nvSpPr>
          <p:cNvPr id="7" name="">
            <a:extLst xmlns:a="http://schemas.openxmlformats.org/drawingml/2006/main">
              <a:ext uri="{FF2B5EF4-FFF2-40B4-BE49-F238E27FC236}">
                <a16:creationId xmlns:a16="http://schemas.microsoft.com/office/drawing/2014/main" id="{FE1D62D5-0CDA-42E5-878E-1A197001BE5E}"/>
              </a:ext>
            </a:extLst>
          </p:cNvPr>
          <p:cNvSpPr>
            <a:spLocks xmlns:a="http://schemas.openxmlformats.org/drawingml/2006/main" noGrp="1"/>
          </p:cNvSpPr>
          <p:nvPr/>
        </p:nvSpPr>
        <p:spPr>
          <a:xfrm xmlns:a="http://schemas.openxmlformats.org/drawingml/2006/main">
            <a:off x="6210300" y="1752600"/>
            <a:ext cx="5467350" cy="3257550"/>
          </a:xfrm>
          <a:prstGeom xmlns:a="http://schemas.openxmlformats.org/drawingml/2006/main" prst="roundRect">
            <a:avLst>
              <a:gd name="adj" fmla="val 4678"/>
            </a:avLst>
          </a:prstGeom>
          <a:solidFill xmlns:a="http://schemas.openxmlformats.org/drawingml/2006/main">
            <a:srgbClr val="10131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1462D46-67DC-4426-905F-857CB4002111}"/>
              </a:ext>
            </a:extLst>
          </p:cNvPr>
          <p:cNvSpPr>
            <a:spLocks xmlns:a="http://schemas.openxmlformats.org/drawingml/2006/main" noGrp="1"/>
          </p:cNvSpPr>
          <p:nvPr/>
        </p:nvSpPr>
        <p:spPr>
          <a:xfrm xmlns:a="http://schemas.openxmlformats.org/drawingml/2006/main">
            <a:off x="6477000" y="2000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2D2FF"/>
                </a:solidFill>
              </a:defRPr>
            </a:pPr>
            <a:r>
              <a:rPr sz="900" b="1" i="0">
                <a:solidFill>
                  <a:srgbClr val="62D2FF"/>
                </a:solidFill>
              </a:rPr>
              <a:t>THE STRONGER VERSION</a:t>
            </a:r>
          </a:p>
        </p:txBody>
      </p:sp>
      <p:sp>
        <p:nvSpPr>
          <p:cNvPr id="9" name="">
            <a:extLst xmlns:a="http://schemas.openxmlformats.org/drawingml/2006/main">
              <a:ext uri="{FF2B5EF4-FFF2-40B4-BE49-F238E27FC236}">
                <a16:creationId xmlns:a16="http://schemas.microsoft.com/office/drawing/2014/main" id="{F0134F02-856B-4E31-AECA-131521AD32A7}"/>
              </a:ext>
            </a:extLst>
          </p:cNvPr>
          <p:cNvSpPr>
            <a:spLocks xmlns:a="http://schemas.openxmlformats.org/drawingml/2006/main" noGrp="1"/>
          </p:cNvSpPr>
          <p:nvPr/>
        </p:nvSpPr>
        <p:spPr>
          <a:xfrm xmlns:a="http://schemas.openxmlformats.org/drawingml/2006/main">
            <a:off x="6477000" y="2457450"/>
            <a:ext cx="45910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i="0">
                <a:solidFill>
                  <a:srgbClr val="FFFFFF"/>
                </a:solidFill>
              </a:defRPr>
            </a:pPr>
            <a:r>
              <a:rPr sz="2400" b="1" i="0">
                <a:solidFill>
                  <a:srgbClr val="FFFFFF"/>
                </a:solidFill>
              </a:rPr>
              <a:t>Thiel gave the slogan</a:t>
            </a:r>
          </a:p>
          <a:p xmlns:a="http://schemas.openxmlformats.org/drawingml/2006/main">
            <a:pPr algn="l">
              <a:defRPr sz="2400" b="1" i="0">
                <a:solidFill>
                  <a:srgbClr val="FFFFFF"/>
                </a:solidFill>
              </a:defRPr>
            </a:pPr>
            <a:r>
              <a:rPr sz="2400" b="1" i="0">
                <a:solidFill>
                  <a:srgbClr val="FFFFFF"/>
                </a:solidFill>
              </a:rPr>
              <a:t>an intellectual frame.</a:t>
            </a:r>
          </a:p>
        </p:txBody>
      </p:sp>
      <p:sp>
        <p:nvSpPr>
          <p:cNvPr id="10" name="">
            <a:extLst xmlns:a="http://schemas.openxmlformats.org/drawingml/2006/main">
              <a:ext uri="{FF2B5EF4-FFF2-40B4-BE49-F238E27FC236}">
                <a16:creationId xmlns:a16="http://schemas.microsoft.com/office/drawing/2014/main" id="{27A755F2-E4F4-4FA7-BBE8-38F675797DA1}"/>
              </a:ext>
            </a:extLst>
          </p:cNvPr>
          <p:cNvSpPr>
            <a:spLocks xmlns:a="http://schemas.openxmlformats.org/drawingml/2006/main" noGrp="1"/>
          </p:cNvSpPr>
          <p:nvPr/>
        </p:nvSpPr>
        <p:spPr>
          <a:xfrm xmlns:a="http://schemas.openxmlformats.org/drawingml/2006/main">
            <a:off x="6477000" y="3943350"/>
            <a:ext cx="4476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C6CED7"/>
                </a:solidFill>
              </a:defRPr>
            </a:pPr>
            <a:r>
              <a:rPr sz="1425" b="0" i="0">
                <a:solidFill>
                  <a:srgbClr val="C6CED7"/>
                </a:solidFill>
              </a:rPr>
              <a:t>He argued Trump was naming decline that elites refused to acknowledge.</a:t>
            </a:r>
          </a:p>
        </p:txBody>
      </p:sp>
      <p:sp>
        <p:nvSpPr>
          <p:cNvPr id="11" name="">
            <a:extLst xmlns:a="http://schemas.openxmlformats.org/drawingml/2006/main">
              <a:ext uri="{FF2B5EF4-FFF2-40B4-BE49-F238E27FC236}">
                <a16:creationId xmlns:a16="http://schemas.microsoft.com/office/drawing/2014/main" id="{90C077FD-6DF0-4FDD-B4F9-634186FB3B25}"/>
              </a:ext>
            </a:extLst>
          </p:cNvPr>
          <p:cNvSpPr>
            <a:spLocks xmlns:a="http://schemas.openxmlformats.org/drawingml/2006/main" noGrp="1"/>
          </p:cNvSpPr>
          <p:nvPr/>
        </p:nvSpPr>
        <p:spPr>
          <a:xfrm xmlns:a="http://schemas.openxmlformats.org/drawingml/2006/main">
            <a:off x="3467100" y="5353050"/>
            <a:ext cx="5257800" cy="304800"/>
          </a:xfrm>
          <a:prstGeom xmlns:a="http://schemas.openxmlformats.org/drawingml/2006/main" prst="roundRect">
            <a:avLst>
              <a:gd name="adj" fmla="val 50000"/>
            </a:avLst>
          </a:prstGeom>
          <a:solidFill xmlns:a="http://schemas.openxmlformats.org/drawingml/2006/main">
            <a:srgbClr val="F2F5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CF9F837-886C-4A3C-A7D4-A2D4D2FBE8DC}"/>
              </a:ext>
            </a:extLst>
          </p:cNvPr>
          <p:cNvSpPr>
            <a:spLocks xmlns:a="http://schemas.openxmlformats.org/drawingml/2006/main" noGrp="1"/>
          </p:cNvSpPr>
          <p:nvPr/>
        </p:nvSpPr>
        <p:spPr>
          <a:xfrm xmlns:a="http://schemas.openxmlformats.org/drawingml/2006/main">
            <a:off x="3562350" y="5372100"/>
            <a:ext cx="506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242A32"/>
                </a:solidFill>
              </a:defRPr>
            </a:pPr>
            <a:r>
              <a:rPr sz="1050" b="1" i="0">
                <a:solidFill>
                  <a:srgbClr val="242A32"/>
                </a:solidFill>
              </a:rPr>
              <a:t>TRUMP TRADEMARK FILING · NOV 19, 2012</a:t>
            </a:r>
          </a:p>
        </p:txBody>
      </p:sp>
      <p:sp>
        <p:nvSpPr>
          <p:cNvPr id="13" name="">
            <a:extLst xmlns:a="http://schemas.openxmlformats.org/drawingml/2006/main">
              <a:ext uri="{FF2B5EF4-FFF2-40B4-BE49-F238E27FC236}">
                <a16:creationId xmlns:a16="http://schemas.microsoft.com/office/drawing/2014/main" id="{96A9CD04-2634-442A-9D25-BAD265B3F89F}"/>
              </a:ext>
            </a:extLst>
          </p:cNvPr>
          <p:cNvSpPr>
            <a:spLocks xmlns:a="http://schemas.openxmlformats.org/drawingml/2006/main" noGrp="1"/>
          </p:cNvSpPr>
          <p:nvPr/>
        </p:nvSpPr>
        <p:spPr>
          <a:xfrm xmlns:a="http://schemas.openxmlformats.org/drawingml/2006/main">
            <a:off x="3486150" y="5772150"/>
            <a:ext cx="521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i="0">
                <a:solidFill>
                  <a:srgbClr val="68717D"/>
                </a:solidFill>
              </a:defRPr>
            </a:pPr>
            <a:r>
              <a:rPr sz="1200" b="0" i="0">
                <a:solidFill>
                  <a:srgbClr val="68717D"/>
                </a:solidFill>
              </a:rPr>
              <a:t>Thiel’s public Trump alliance came years later, in 2016.</a:t>
            </a:r>
          </a:p>
        </p:txBody>
      </p:sp>
      <p:sp>
        <p:nvSpPr>
          <p:cNvPr id="14" name="">
            <a:extLst xmlns:a="http://schemas.openxmlformats.org/drawingml/2006/main">
              <a:ext uri="{FF2B5EF4-FFF2-40B4-BE49-F238E27FC236}">
                <a16:creationId xmlns:a16="http://schemas.microsoft.com/office/drawing/2014/main" id="{97434EE3-F8A4-4B9A-87E8-29AF3E3E975B}"/>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2052826-0200-4A69-88ED-C83B8C650158}"/>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16" name="">
            <a:extLst xmlns:a="http://schemas.openxmlformats.org/drawingml/2006/main">
              <a:ext uri="{FF2B5EF4-FFF2-40B4-BE49-F238E27FC236}">
                <a16:creationId xmlns:a16="http://schemas.microsoft.com/office/drawing/2014/main" id="{A391CC83-4923-4018-92C4-06028535C1AC}"/>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18</a:t>
            </a:r>
          </a:p>
        </p:txBody>
      </p:sp>
    </p:spTree>
    <p:extLst>
      <p:ext uri="{BB962C8B-B14F-4D97-AF65-F5344CB8AC3E}">
        <p14:creationId xmlns:p14="http://schemas.microsoft.com/office/powerpoint/2010/main" val="195809284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6B6C722-CCF3-4690-9ACB-DBD6BD8670E1}"/>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WHAT THE 2024 CLIP CLARIFIES</a:t>
            </a:r>
          </a:p>
        </p:txBody>
      </p:sp>
      <p:sp>
        <p:nvSpPr>
          <p:cNvPr id="2" name="slide-title">
            <a:extLst xmlns:a="http://schemas.openxmlformats.org/drawingml/2006/main">
              <a:ext uri="{FF2B5EF4-FFF2-40B4-BE49-F238E27FC236}">
                <a16:creationId xmlns:a16="http://schemas.microsoft.com/office/drawing/2014/main" id="{FDB2154A-8E45-4445-86AB-F00C07AC7D3D}"/>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For Thiel, MAGA was a stagnation thesis—not optimism.</a:t>
            </a:r>
          </a:p>
        </p:txBody>
      </p:sp>
      <p:sp>
        <p:nvSpPr>
          <p:cNvPr id="3" name="">
            <a:extLst xmlns:a="http://schemas.openxmlformats.org/drawingml/2006/main">
              <a:ext uri="{FF2B5EF4-FFF2-40B4-BE49-F238E27FC236}">
                <a16:creationId xmlns:a16="http://schemas.microsoft.com/office/drawing/2014/main" id="{46BE220F-089E-4F74-9D89-E5B28A37E7E3}"/>
              </a:ext>
            </a:extLst>
          </p:cNvPr>
          <p:cNvSpPr>
            <a:spLocks xmlns:a="http://schemas.openxmlformats.org/drawingml/2006/main" noGrp="1"/>
          </p:cNvSpPr>
          <p:nvPr/>
        </p:nvSpPr>
        <p:spPr>
          <a:xfrm xmlns:a="http://schemas.openxmlformats.org/drawingml/2006/main">
            <a:off x="590550" y="1695450"/>
            <a:ext cx="7715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i="0">
                <a:solidFill>
                  <a:srgbClr val="101318"/>
                </a:solidFill>
              </a:defRPr>
            </a:pPr>
            <a:r>
              <a:rPr sz="2850" b="1" i="0">
                <a:solidFill>
                  <a:srgbClr val="101318"/>
                </a:solidFill>
              </a:rPr>
              <a:t>“Make America Great Again was the most pessimistic slogan…”</a:t>
            </a:r>
          </a:p>
        </p:txBody>
      </p:sp>
      <p:sp>
        <p:nvSpPr>
          <p:cNvPr id="4" name="">
            <a:extLst xmlns:a="http://schemas.openxmlformats.org/drawingml/2006/main">
              <a:ext uri="{FF2B5EF4-FFF2-40B4-BE49-F238E27FC236}">
                <a16:creationId xmlns:a16="http://schemas.microsoft.com/office/drawing/2014/main" id="{FABA1A40-3B75-4E86-9160-71A0EC574FD7}"/>
              </a:ext>
            </a:extLst>
          </p:cNvPr>
          <p:cNvSpPr>
            <a:spLocks xmlns:a="http://schemas.openxmlformats.org/drawingml/2006/main" noGrp="1"/>
          </p:cNvSpPr>
          <p:nvPr/>
        </p:nvSpPr>
        <p:spPr>
          <a:xfrm xmlns:a="http://schemas.openxmlformats.org/drawingml/2006/main">
            <a:off x="8858250" y="1581150"/>
            <a:ext cx="2571750" cy="1466850"/>
          </a:xfrm>
          <a:prstGeom xmlns:a="http://schemas.openxmlformats.org/drawingml/2006/main" prst="roundRect">
            <a:avLst>
              <a:gd name="adj" fmla="val 10390"/>
            </a:avLst>
          </a:prstGeom>
          <a:solidFill xmlns:a="http://schemas.openxmlformats.org/drawingml/2006/main">
            <a:srgbClr val="1013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5643891-D14A-4269-8850-75BB4CA092BF}"/>
              </a:ext>
            </a:extLst>
          </p:cNvPr>
          <p:cNvSpPr>
            <a:spLocks xmlns:a="http://schemas.openxmlformats.org/drawingml/2006/main" noGrp="1"/>
          </p:cNvSpPr>
          <p:nvPr/>
        </p:nvSpPr>
        <p:spPr>
          <a:xfrm xmlns:a="http://schemas.openxmlformats.org/drawingml/2006/main">
            <a:off x="9124950" y="1771650"/>
            <a:ext cx="203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i="0">
                <a:solidFill>
                  <a:srgbClr val="62D2FF"/>
                </a:solidFill>
              </a:defRPr>
            </a:pPr>
            <a:r>
              <a:rPr sz="2325" b="1" i="0">
                <a:solidFill>
                  <a:srgbClr val="62D2FF"/>
                </a:solidFill>
              </a:rPr>
              <a:t>NOV 14</a:t>
            </a:r>
          </a:p>
        </p:txBody>
      </p:sp>
      <p:sp>
        <p:nvSpPr>
          <p:cNvPr id="6" name="">
            <a:extLst xmlns:a="http://schemas.openxmlformats.org/drawingml/2006/main">
              <a:ext uri="{FF2B5EF4-FFF2-40B4-BE49-F238E27FC236}">
                <a16:creationId xmlns:a16="http://schemas.microsoft.com/office/drawing/2014/main" id="{CA073742-4A12-4733-9FD5-4573F9E6ABE3}"/>
              </a:ext>
            </a:extLst>
          </p:cNvPr>
          <p:cNvSpPr>
            <a:spLocks xmlns:a="http://schemas.openxmlformats.org/drawingml/2006/main" noGrp="1"/>
          </p:cNvSpPr>
          <p:nvPr/>
        </p:nvSpPr>
        <p:spPr>
          <a:xfrm xmlns:a="http://schemas.openxmlformats.org/drawingml/2006/main">
            <a:off x="9124950" y="230505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B9C3CE"/>
                </a:solidFill>
              </a:defRPr>
            </a:pPr>
            <a:r>
              <a:rPr sz="900" b="1" i="0">
                <a:solidFill>
                  <a:srgbClr val="B9C3CE"/>
                </a:solidFill>
              </a:rPr>
              <a:t>2024 · THE FREE PRESS</a:t>
            </a:r>
          </a:p>
        </p:txBody>
      </p:sp>
      <p:sp>
        <p:nvSpPr>
          <p:cNvPr id="7" name="">
            <a:extLst xmlns:a="http://schemas.openxmlformats.org/drawingml/2006/main">
              <a:ext uri="{FF2B5EF4-FFF2-40B4-BE49-F238E27FC236}">
                <a16:creationId xmlns:a16="http://schemas.microsoft.com/office/drawing/2014/main" id="{4FEB70D4-4DCB-4260-B938-3DA128FFC5AF}"/>
              </a:ext>
            </a:extLst>
          </p:cNvPr>
          <p:cNvSpPr>
            <a:spLocks xmlns:a="http://schemas.openxmlformats.org/drawingml/2006/main" noGrp="1"/>
          </p:cNvSpPr>
          <p:nvPr/>
        </p:nvSpPr>
        <p:spPr>
          <a:xfrm xmlns:a="http://schemas.openxmlformats.org/drawingml/2006/main">
            <a:off x="9105900" y="26670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i="0">
                <a:solidFill>
                  <a:srgbClr val="8F9AA7"/>
                </a:solidFill>
              </a:defRPr>
            </a:pPr>
            <a:r>
              <a:rPr sz="900" b="0" i="0">
                <a:solidFill>
                  <a:srgbClr val="8F9AA7"/>
                </a:solidFill>
              </a:rPr>
              <a:t>Published after Trump’s 2024 victory</a:t>
            </a:r>
          </a:p>
        </p:txBody>
      </p:sp>
      <p:sp>
        <p:nvSpPr>
          <p:cNvPr id="8" name="">
            <a:extLst xmlns:a="http://schemas.openxmlformats.org/drawingml/2006/main">
              <a:ext uri="{FF2B5EF4-FFF2-40B4-BE49-F238E27FC236}">
                <a16:creationId xmlns:a16="http://schemas.microsoft.com/office/drawing/2014/main" id="{C6461E57-3691-471F-9256-C2F518CC8239}"/>
              </a:ext>
            </a:extLst>
          </p:cNvPr>
          <p:cNvSpPr>
            <a:spLocks xmlns:a="http://schemas.openxmlformats.org/drawingml/2006/main" noGrp="1"/>
          </p:cNvSpPr>
          <p:nvPr/>
        </p:nvSpPr>
        <p:spPr>
          <a:xfrm xmlns:a="http://schemas.openxmlformats.org/drawingml/2006/main">
            <a:off x="1009650" y="4152900"/>
            <a:ext cx="9658350" cy="38100"/>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4244D7E-3C61-4A7E-A16B-16F5F0A6EEA4}"/>
              </a:ext>
            </a:extLst>
          </p:cNvPr>
          <p:cNvSpPr>
            <a:spLocks xmlns:a="http://schemas.openxmlformats.org/drawingml/2006/main" noGrp="1"/>
          </p:cNvSpPr>
          <p:nvPr/>
        </p:nvSpPr>
        <p:spPr>
          <a:xfrm xmlns:a="http://schemas.openxmlformats.org/drawingml/2006/main">
            <a:off x="1114425" y="4067175"/>
            <a:ext cx="209550" cy="20955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8E6D0E2-FDB1-4B61-8406-F82946034842}"/>
              </a:ext>
            </a:extLst>
          </p:cNvPr>
          <p:cNvSpPr>
            <a:spLocks xmlns:a="http://schemas.openxmlformats.org/drawingml/2006/main" noGrp="1"/>
          </p:cNvSpPr>
          <p:nvPr/>
        </p:nvSpPr>
        <p:spPr>
          <a:xfrm xmlns:a="http://schemas.openxmlformats.org/drawingml/2006/main">
            <a:off x="1143000" y="34861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8717D"/>
                </a:solidFill>
              </a:defRPr>
            </a:pPr>
            <a:r>
              <a:rPr sz="1050" b="1" i="0">
                <a:solidFill>
                  <a:srgbClr val="68717D"/>
                </a:solidFill>
              </a:rPr>
              <a:t>33:02</a:t>
            </a:r>
          </a:p>
        </p:txBody>
      </p:sp>
      <p:sp>
        <p:nvSpPr>
          <p:cNvPr id="11" name="">
            <a:extLst xmlns:a="http://schemas.openxmlformats.org/drawingml/2006/main">
              <a:ext uri="{FF2B5EF4-FFF2-40B4-BE49-F238E27FC236}">
                <a16:creationId xmlns:a16="http://schemas.microsoft.com/office/drawing/2014/main" id="{3B7EDD4D-DE27-4440-A644-029A538475B3}"/>
              </a:ext>
            </a:extLst>
          </p:cNvPr>
          <p:cNvSpPr>
            <a:spLocks xmlns:a="http://schemas.openxmlformats.org/drawingml/2006/main" noGrp="1"/>
          </p:cNvSpPr>
          <p:nvPr/>
        </p:nvSpPr>
        <p:spPr>
          <a:xfrm xmlns:a="http://schemas.openxmlformats.org/drawingml/2006/main">
            <a:off x="1143000" y="4400550"/>
            <a:ext cx="2133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277DFF"/>
                </a:solidFill>
              </a:defRPr>
            </a:pPr>
            <a:r>
              <a:rPr sz="975" b="1" i="0">
                <a:solidFill>
                  <a:srgbClr val="277DFF"/>
                </a:solidFill>
              </a:rPr>
              <a:t>VINDICATION</a:t>
            </a:r>
          </a:p>
        </p:txBody>
      </p:sp>
      <p:sp>
        <p:nvSpPr>
          <p:cNvPr id="12" name="">
            <a:extLst xmlns:a="http://schemas.openxmlformats.org/drawingml/2006/main">
              <a:ext uri="{FF2B5EF4-FFF2-40B4-BE49-F238E27FC236}">
                <a16:creationId xmlns:a16="http://schemas.microsoft.com/office/drawing/2014/main" id="{C054BF8F-8A1F-42C8-9434-3277509A12CB}"/>
              </a:ext>
            </a:extLst>
          </p:cNvPr>
          <p:cNvSpPr>
            <a:spLocks xmlns:a="http://schemas.openxmlformats.org/drawingml/2006/main" noGrp="1"/>
          </p:cNvSpPr>
          <p:nvPr/>
        </p:nvSpPr>
        <p:spPr>
          <a:xfrm xmlns:a="http://schemas.openxmlformats.org/drawingml/2006/main">
            <a:off x="1143000" y="476250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42A32"/>
                </a:solidFill>
              </a:defRPr>
            </a:pPr>
            <a:r>
              <a:rPr sz="1275" b="0" i="0">
                <a:solidFill>
                  <a:srgbClr val="242A32"/>
                </a:solidFill>
              </a:rPr>
              <a:t>The counter-elite caught up.</a:t>
            </a:r>
          </a:p>
        </p:txBody>
      </p:sp>
      <p:sp>
        <p:nvSpPr>
          <p:cNvPr id="13" name="">
            <a:extLst xmlns:a="http://schemas.openxmlformats.org/drawingml/2006/main">
              <a:ext uri="{FF2B5EF4-FFF2-40B4-BE49-F238E27FC236}">
                <a16:creationId xmlns:a16="http://schemas.microsoft.com/office/drawing/2014/main" id="{124508AB-39CA-47E2-BA47-A85BEA9D76B9}"/>
              </a:ext>
            </a:extLst>
          </p:cNvPr>
          <p:cNvSpPr>
            <a:spLocks xmlns:a="http://schemas.openxmlformats.org/drawingml/2006/main" noGrp="1"/>
          </p:cNvSpPr>
          <p:nvPr/>
        </p:nvSpPr>
        <p:spPr>
          <a:xfrm xmlns:a="http://schemas.openxmlformats.org/drawingml/2006/main">
            <a:off x="4733925" y="4067175"/>
            <a:ext cx="209550" cy="209550"/>
          </a:xfrm>
          <a:prstGeom xmlns:a="http://schemas.openxmlformats.org/drawingml/2006/main" prst="ellipse">
            <a:avLst/>
          </a:prstGeom>
          <a:solidFill xmlns:a="http://schemas.openxmlformats.org/drawingml/2006/main">
            <a:srgbClr val="FF8A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D451C88-752D-4BE3-B509-78FDD06C0796}"/>
              </a:ext>
            </a:extLst>
          </p:cNvPr>
          <p:cNvSpPr>
            <a:spLocks xmlns:a="http://schemas.openxmlformats.org/drawingml/2006/main" noGrp="1"/>
          </p:cNvSpPr>
          <p:nvPr/>
        </p:nvSpPr>
        <p:spPr>
          <a:xfrm xmlns:a="http://schemas.openxmlformats.org/drawingml/2006/main">
            <a:off x="4762500" y="34861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8717D"/>
                </a:solidFill>
              </a:defRPr>
            </a:pPr>
            <a:r>
              <a:rPr sz="1050" b="1" i="0">
                <a:solidFill>
                  <a:srgbClr val="68717D"/>
                </a:solidFill>
              </a:rPr>
              <a:t>34:07</a:t>
            </a:r>
          </a:p>
        </p:txBody>
      </p:sp>
      <p:sp>
        <p:nvSpPr>
          <p:cNvPr id="15" name="">
            <a:extLst xmlns:a="http://schemas.openxmlformats.org/drawingml/2006/main">
              <a:ext uri="{FF2B5EF4-FFF2-40B4-BE49-F238E27FC236}">
                <a16:creationId xmlns:a16="http://schemas.microsoft.com/office/drawing/2014/main" id="{6729EB43-AB40-4BAF-ADC4-FEC6BD860723}"/>
              </a:ext>
            </a:extLst>
          </p:cNvPr>
          <p:cNvSpPr>
            <a:spLocks xmlns:a="http://schemas.openxmlformats.org/drawingml/2006/main" noGrp="1"/>
          </p:cNvSpPr>
          <p:nvPr/>
        </p:nvSpPr>
        <p:spPr>
          <a:xfrm xmlns:a="http://schemas.openxmlformats.org/drawingml/2006/main">
            <a:off x="4762500" y="4400550"/>
            <a:ext cx="2133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FF8A3D"/>
                </a:solidFill>
              </a:defRPr>
            </a:pPr>
            <a:r>
              <a:rPr sz="975" b="1" i="0">
                <a:solidFill>
                  <a:srgbClr val="FF8A3D"/>
                </a:solidFill>
              </a:rPr>
              <a:t>STAGNATION</a:t>
            </a:r>
          </a:p>
        </p:txBody>
      </p:sp>
      <p:sp>
        <p:nvSpPr>
          <p:cNvPr id="16" name="">
            <a:extLst xmlns:a="http://schemas.openxmlformats.org/drawingml/2006/main">
              <a:ext uri="{FF2B5EF4-FFF2-40B4-BE49-F238E27FC236}">
                <a16:creationId xmlns:a16="http://schemas.microsoft.com/office/drawing/2014/main" id="{2DC0C48B-7175-4680-BDFF-259E07881594}"/>
              </a:ext>
            </a:extLst>
          </p:cNvPr>
          <p:cNvSpPr>
            <a:spLocks xmlns:a="http://schemas.openxmlformats.org/drawingml/2006/main" noGrp="1"/>
          </p:cNvSpPr>
          <p:nvPr/>
        </p:nvSpPr>
        <p:spPr>
          <a:xfrm xmlns:a="http://schemas.openxmlformats.org/drawingml/2006/main">
            <a:off x="4762500" y="476250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42A32"/>
                </a:solidFill>
              </a:defRPr>
            </a:pPr>
            <a:r>
              <a:rPr sz="1275" b="0" i="0">
                <a:solidFill>
                  <a:srgbClr val="242A32"/>
                </a:solidFill>
              </a:rPr>
              <a:t>Progress and the intergenerational compact are breaking.</a:t>
            </a:r>
          </a:p>
        </p:txBody>
      </p:sp>
      <p:sp>
        <p:nvSpPr>
          <p:cNvPr id="17" name="">
            <a:extLst xmlns:a="http://schemas.openxmlformats.org/drawingml/2006/main">
              <a:ext uri="{FF2B5EF4-FFF2-40B4-BE49-F238E27FC236}">
                <a16:creationId xmlns:a16="http://schemas.microsoft.com/office/drawing/2014/main" id="{D44185E1-0FF1-4798-8729-EFFF0AC4CD95}"/>
              </a:ext>
            </a:extLst>
          </p:cNvPr>
          <p:cNvSpPr>
            <a:spLocks xmlns:a="http://schemas.openxmlformats.org/drawingml/2006/main" noGrp="1"/>
          </p:cNvSpPr>
          <p:nvPr/>
        </p:nvSpPr>
        <p:spPr>
          <a:xfrm xmlns:a="http://schemas.openxmlformats.org/drawingml/2006/main">
            <a:off x="8353425" y="4067175"/>
            <a:ext cx="209550" cy="209550"/>
          </a:xfrm>
          <a:prstGeom xmlns:a="http://schemas.openxmlformats.org/drawingml/2006/main" prst="ellipse">
            <a:avLst/>
          </a:prstGeom>
          <a:solidFill xmlns:a="http://schemas.openxmlformats.org/drawingml/2006/main">
            <a:srgbClr val="10131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556630F-48C6-4BEC-9238-64FB20F7FF83}"/>
              </a:ext>
            </a:extLst>
          </p:cNvPr>
          <p:cNvSpPr>
            <a:spLocks xmlns:a="http://schemas.openxmlformats.org/drawingml/2006/main" noGrp="1"/>
          </p:cNvSpPr>
          <p:nvPr/>
        </p:nvSpPr>
        <p:spPr>
          <a:xfrm xmlns:a="http://schemas.openxmlformats.org/drawingml/2006/main">
            <a:off x="8382000" y="34861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8717D"/>
                </a:solidFill>
              </a:defRPr>
            </a:pPr>
            <a:r>
              <a:rPr sz="1050" b="1" i="0">
                <a:solidFill>
                  <a:srgbClr val="68717D"/>
                </a:solidFill>
              </a:rPr>
              <a:t>34:38</a:t>
            </a:r>
          </a:p>
        </p:txBody>
      </p:sp>
      <p:sp>
        <p:nvSpPr>
          <p:cNvPr id="19" name="">
            <a:extLst xmlns:a="http://schemas.openxmlformats.org/drawingml/2006/main">
              <a:ext uri="{FF2B5EF4-FFF2-40B4-BE49-F238E27FC236}">
                <a16:creationId xmlns:a16="http://schemas.microsoft.com/office/drawing/2014/main" id="{FDE2FFBF-66CA-43EC-B0D7-8CEC597E7796}"/>
              </a:ext>
            </a:extLst>
          </p:cNvPr>
          <p:cNvSpPr>
            <a:spLocks xmlns:a="http://schemas.openxmlformats.org/drawingml/2006/main" noGrp="1"/>
          </p:cNvSpPr>
          <p:nvPr/>
        </p:nvSpPr>
        <p:spPr>
          <a:xfrm xmlns:a="http://schemas.openxmlformats.org/drawingml/2006/main">
            <a:off x="8382000" y="4400550"/>
            <a:ext cx="2133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101318"/>
                </a:solidFill>
              </a:defRPr>
            </a:pPr>
            <a:r>
              <a:rPr sz="975" b="1" i="0">
                <a:solidFill>
                  <a:srgbClr val="101318"/>
                </a:solidFill>
              </a:rPr>
              <a:t>THE SLOGAN</a:t>
            </a:r>
          </a:p>
        </p:txBody>
      </p:sp>
      <p:sp>
        <p:nvSpPr>
          <p:cNvPr id="20" name="">
            <a:extLst xmlns:a="http://schemas.openxmlformats.org/drawingml/2006/main">
              <a:ext uri="{FF2B5EF4-FFF2-40B4-BE49-F238E27FC236}">
                <a16:creationId xmlns:a16="http://schemas.microsoft.com/office/drawing/2014/main" id="{EADCA81B-5A2E-4BD3-9927-C06C755CF267}"/>
              </a:ext>
            </a:extLst>
          </p:cNvPr>
          <p:cNvSpPr>
            <a:spLocks xmlns:a="http://schemas.openxmlformats.org/drawingml/2006/main" noGrp="1"/>
          </p:cNvSpPr>
          <p:nvPr/>
        </p:nvSpPr>
        <p:spPr>
          <a:xfrm xmlns:a="http://schemas.openxmlformats.org/drawingml/2006/main">
            <a:off x="8382000" y="476250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42A32"/>
                </a:solidFill>
              </a:defRPr>
            </a:pPr>
            <a:r>
              <a:rPr sz="1275" b="0" i="0">
                <a:solidFill>
                  <a:srgbClr val="242A32"/>
                </a:solidFill>
              </a:rPr>
              <a:t>MAGA begins by admitting America is no longer great.</a:t>
            </a:r>
          </a:p>
        </p:txBody>
      </p:sp>
      <p:sp>
        <p:nvSpPr>
          <p:cNvPr id="21" name="">
            <a:extLst xmlns:a="http://schemas.openxmlformats.org/drawingml/2006/main">
              <a:ext uri="{FF2B5EF4-FFF2-40B4-BE49-F238E27FC236}">
                <a16:creationId xmlns:a16="http://schemas.microsoft.com/office/drawing/2014/main" id="{8F9A6FA2-1361-4B30-9BFA-0E2E22CF63A8}"/>
              </a:ext>
            </a:extLst>
          </p:cNvPr>
          <p:cNvSpPr>
            <a:spLocks xmlns:a="http://schemas.openxmlformats.org/drawingml/2006/main" noGrp="1"/>
          </p:cNvSpPr>
          <p:nvPr/>
        </p:nvSpPr>
        <p:spPr>
          <a:xfrm xmlns:a="http://schemas.openxmlformats.org/drawingml/2006/main">
            <a:off x="4686300" y="575310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277DFF"/>
                </a:solidFill>
              </a:defRPr>
            </a:pPr>
            <a:r>
              <a:rPr sz="1125" b="1" i="0" u="sng">
                <a:solidFill>
                  <a:srgbClr val="277DFF"/>
                </a:solidFill>
                <a:hlinkClick xmlns:r="http://schemas.openxmlformats.org/officeDocument/2006/relationships" r:id="R4313959ce43d4607"/>
              </a:rPr>
              <a:t>WATCH · 33:02–35:40</a:t>
            </a:r>
          </a:p>
        </p:txBody>
      </p:sp>
      <p:sp>
        <p:nvSpPr>
          <p:cNvPr id="22" name="">
            <a:extLst xmlns:a="http://schemas.openxmlformats.org/drawingml/2006/main">
              <a:ext uri="{FF2B5EF4-FFF2-40B4-BE49-F238E27FC236}">
                <a16:creationId xmlns:a16="http://schemas.microsoft.com/office/drawing/2014/main" id="{18B76E44-CD3D-48BB-908C-4F9025C6DD3C}"/>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03127AF-517E-481D-A1F8-1BD858D1F00F}"/>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24" name="">
            <a:extLst xmlns:a="http://schemas.openxmlformats.org/drawingml/2006/main">
              <a:ext uri="{FF2B5EF4-FFF2-40B4-BE49-F238E27FC236}">
                <a16:creationId xmlns:a16="http://schemas.microsoft.com/office/drawing/2014/main" id="{3AD871BA-BDEE-42E8-B4B1-FF9FBB22F1BC}"/>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19</a:t>
            </a:r>
          </a:p>
        </p:txBody>
      </p:sp>
    </p:spTree>
    <p:extLst>
      <p:ext uri="{BB962C8B-B14F-4D97-AF65-F5344CB8AC3E}">
        <p14:creationId xmlns:p14="http://schemas.microsoft.com/office/powerpoint/2010/main" val="2021455087"/>
      </p:ext>
    </p:extLst>
  </p:cSld>
</p:sld>
</file>

<file path=ppt/slides/slide20.xml><?xml version="1.0" encoding="utf-8"?>
<p:sld xmlns:p="http://schemas.openxmlformats.org/presentationml/2006/main">
  <p:cSld>
    <p:bg>
      <p:bgPr>
        <a:solidFill xmlns:a="http://schemas.openxmlformats.org/drawingml/2006/main">
          <a:srgbClr val="F2F5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E1FD32A-6C0F-4140-9F24-7E38BBD61F99}"/>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THE EXIT-OPTION PROBLEM</a:t>
            </a:r>
          </a:p>
        </p:txBody>
      </p:sp>
      <p:sp>
        <p:nvSpPr>
          <p:cNvPr id="2" name="slide-title">
            <a:extLst xmlns:a="http://schemas.openxmlformats.org/drawingml/2006/main">
              <a:ext uri="{FF2B5EF4-FFF2-40B4-BE49-F238E27FC236}">
                <a16:creationId xmlns:a16="http://schemas.microsoft.com/office/drawing/2014/main" id="{D12F665C-DCDF-4247-9A92-839FABF4B9DD}"/>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Equity aligns upside. A second passport hedges downside.</a:t>
            </a:r>
          </a:p>
        </p:txBody>
      </p:sp>
      <p:sp>
        <p:nvSpPr>
          <p:cNvPr id="3" name="">
            <a:extLst xmlns:a="http://schemas.openxmlformats.org/drawingml/2006/main">
              <a:ext uri="{FF2B5EF4-FFF2-40B4-BE49-F238E27FC236}">
                <a16:creationId xmlns:a16="http://schemas.microsoft.com/office/drawing/2014/main" id="{861BEEDD-EB98-4CD1-9640-D75FBB52F622}"/>
              </a:ext>
            </a:extLst>
          </p:cNvPr>
          <p:cNvSpPr>
            <a:spLocks xmlns:a="http://schemas.openxmlformats.org/drawingml/2006/main" noGrp="1"/>
          </p:cNvSpPr>
          <p:nvPr/>
        </p:nvSpPr>
        <p:spPr>
          <a:xfrm xmlns:a="http://schemas.openxmlformats.org/drawingml/2006/main">
            <a:off x="533400" y="1676400"/>
            <a:ext cx="4953000" cy="3086100"/>
          </a:xfrm>
          <a:prstGeom xmlns:a="http://schemas.openxmlformats.org/drawingml/2006/main" prst="roundRect">
            <a:avLst>
              <a:gd name="adj" fmla="val 4938"/>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D238D581-0A11-4B03-8B08-537AB20307E0}"/>
              </a:ext>
            </a:extLst>
          </p:cNvPr>
          <p:cNvSpPr>
            <a:spLocks xmlns:a="http://schemas.openxmlformats.org/drawingml/2006/main" noGrp="1"/>
          </p:cNvSpPr>
          <p:nvPr/>
        </p:nvSpPr>
        <p:spPr>
          <a:xfrm xmlns:a="http://schemas.openxmlformats.org/drawingml/2006/main">
            <a:off x="800100" y="19240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77DFF"/>
                </a:solidFill>
              </a:defRPr>
            </a:pPr>
            <a:r>
              <a:rPr sz="900" b="1" i="0">
                <a:solidFill>
                  <a:srgbClr val="277DFF"/>
                </a:solidFill>
              </a:rPr>
              <a:t>STARTUP LOGIC</a:t>
            </a:r>
          </a:p>
        </p:txBody>
      </p:sp>
      <p:sp>
        <p:nvSpPr>
          <p:cNvPr id="5" name="">
            <a:extLst xmlns:a="http://schemas.openxmlformats.org/drawingml/2006/main">
              <a:ext uri="{FF2B5EF4-FFF2-40B4-BE49-F238E27FC236}">
                <a16:creationId xmlns:a16="http://schemas.microsoft.com/office/drawing/2014/main" id="{BBE05C32-E9C3-48F6-9A8E-FE965A2E263F}"/>
              </a:ext>
            </a:extLst>
          </p:cNvPr>
          <p:cNvSpPr>
            <a:spLocks xmlns:a="http://schemas.openxmlformats.org/drawingml/2006/main" noGrp="1"/>
          </p:cNvSpPr>
          <p:nvPr/>
        </p:nvSpPr>
        <p:spPr>
          <a:xfrm xmlns:a="http://schemas.openxmlformats.org/drawingml/2006/main">
            <a:off x="800100" y="24003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i="0">
                <a:solidFill>
                  <a:srgbClr val="101318"/>
                </a:solidFill>
              </a:defRPr>
            </a:pPr>
            <a:r>
              <a:rPr sz="2400" b="1" i="0">
                <a:solidFill>
                  <a:srgbClr val="101318"/>
                </a:solidFill>
              </a:rPr>
              <a:t>Shared equity</a:t>
            </a:r>
          </a:p>
        </p:txBody>
      </p:sp>
      <p:sp>
        <p:nvSpPr>
          <p:cNvPr id="6" name="">
            <a:extLst xmlns:a="http://schemas.openxmlformats.org/drawingml/2006/main">
              <a:ext uri="{FF2B5EF4-FFF2-40B4-BE49-F238E27FC236}">
                <a16:creationId xmlns:a16="http://schemas.microsoft.com/office/drawing/2014/main" id="{A7A0670F-7171-4950-83B6-A5675DE94CD8}"/>
              </a:ext>
            </a:extLst>
          </p:cNvPr>
          <p:cNvSpPr>
            <a:spLocks xmlns:a="http://schemas.openxmlformats.org/drawingml/2006/main" noGrp="1"/>
          </p:cNvSpPr>
          <p:nvPr/>
        </p:nvSpPr>
        <p:spPr>
          <a:xfrm xmlns:a="http://schemas.openxmlformats.org/drawingml/2006/main">
            <a:off x="866775" y="3305175"/>
            <a:ext cx="133350" cy="13335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C5062B2-F129-44F5-A2C0-56804156483F}"/>
              </a:ext>
            </a:extLst>
          </p:cNvPr>
          <p:cNvSpPr>
            <a:spLocks xmlns:a="http://schemas.openxmlformats.org/drawingml/2006/main" noGrp="1"/>
          </p:cNvSpPr>
          <p:nvPr/>
        </p:nvSpPr>
        <p:spPr>
          <a:xfrm xmlns:a="http://schemas.openxmlformats.org/drawingml/2006/main">
            <a:off x="1162050" y="32004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242A32"/>
                </a:solidFill>
              </a:defRPr>
            </a:pPr>
            <a:r>
              <a:rPr sz="1350" b="0" i="0">
                <a:solidFill>
                  <a:srgbClr val="242A32"/>
                </a:solidFill>
              </a:rPr>
              <a:t>Everyone wins if the company grows.</a:t>
            </a:r>
          </a:p>
        </p:txBody>
      </p:sp>
      <p:sp>
        <p:nvSpPr>
          <p:cNvPr id="8" name="">
            <a:extLst xmlns:a="http://schemas.openxmlformats.org/drawingml/2006/main">
              <a:ext uri="{FF2B5EF4-FFF2-40B4-BE49-F238E27FC236}">
                <a16:creationId xmlns:a16="http://schemas.microsoft.com/office/drawing/2014/main" id="{138AFEB6-E415-48AB-8F95-7AC188D6A1AB}"/>
              </a:ext>
            </a:extLst>
          </p:cNvPr>
          <p:cNvSpPr>
            <a:spLocks xmlns:a="http://schemas.openxmlformats.org/drawingml/2006/main" noGrp="1"/>
          </p:cNvSpPr>
          <p:nvPr/>
        </p:nvSpPr>
        <p:spPr>
          <a:xfrm xmlns:a="http://schemas.openxmlformats.org/drawingml/2006/main">
            <a:off x="866775" y="3762375"/>
            <a:ext cx="133350" cy="13335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DD7C960-34B5-410F-8468-ED58BC1BED50}"/>
              </a:ext>
            </a:extLst>
          </p:cNvPr>
          <p:cNvSpPr>
            <a:spLocks xmlns:a="http://schemas.openxmlformats.org/drawingml/2006/main" noGrp="1"/>
          </p:cNvSpPr>
          <p:nvPr/>
        </p:nvSpPr>
        <p:spPr>
          <a:xfrm xmlns:a="http://schemas.openxmlformats.org/drawingml/2006/main">
            <a:off x="1162050" y="36576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242A32"/>
                </a:solidFill>
              </a:defRPr>
            </a:pPr>
            <a:r>
              <a:rPr sz="1350" b="0" i="0">
                <a:solidFill>
                  <a:srgbClr val="242A32"/>
                </a:solidFill>
              </a:rPr>
              <a:t>Everyone loses if it fails.</a:t>
            </a:r>
          </a:p>
        </p:txBody>
      </p:sp>
      <p:sp>
        <p:nvSpPr>
          <p:cNvPr id="10" name="">
            <a:extLst xmlns:a="http://schemas.openxmlformats.org/drawingml/2006/main">
              <a:ext uri="{FF2B5EF4-FFF2-40B4-BE49-F238E27FC236}">
                <a16:creationId xmlns:a16="http://schemas.microsoft.com/office/drawing/2014/main" id="{055FB31B-26B3-4651-A2E6-6B6F5CBBB27F}"/>
              </a:ext>
            </a:extLst>
          </p:cNvPr>
          <p:cNvSpPr>
            <a:spLocks xmlns:a="http://schemas.openxmlformats.org/drawingml/2006/main" noGrp="1"/>
          </p:cNvSpPr>
          <p:nvPr/>
        </p:nvSpPr>
        <p:spPr>
          <a:xfrm xmlns:a="http://schemas.openxmlformats.org/drawingml/2006/main">
            <a:off x="866775" y="4219575"/>
            <a:ext cx="133350" cy="13335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2A84E39-1F7C-4BB5-BFD2-535FCBACEE57}"/>
              </a:ext>
            </a:extLst>
          </p:cNvPr>
          <p:cNvSpPr>
            <a:spLocks xmlns:a="http://schemas.openxmlformats.org/drawingml/2006/main" noGrp="1"/>
          </p:cNvSpPr>
          <p:nvPr/>
        </p:nvSpPr>
        <p:spPr>
          <a:xfrm xmlns:a="http://schemas.openxmlformats.org/drawingml/2006/main">
            <a:off x="1162050" y="41148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242A32"/>
                </a:solidFill>
              </a:defRPr>
            </a:pPr>
            <a:r>
              <a:rPr sz="1350" b="0" i="0">
                <a:solidFill>
                  <a:srgbClr val="242A32"/>
                </a:solidFill>
              </a:rPr>
              <a:t>The incentive is mutual commitment.</a:t>
            </a:r>
          </a:p>
        </p:txBody>
      </p:sp>
      <p:sp>
        <p:nvSpPr>
          <p:cNvPr id="12" name="">
            <a:extLst xmlns:a="http://schemas.openxmlformats.org/drawingml/2006/main">
              <a:ext uri="{FF2B5EF4-FFF2-40B4-BE49-F238E27FC236}">
                <a16:creationId xmlns:a16="http://schemas.microsoft.com/office/drawing/2014/main" id="{45567A1D-7104-4E13-BFBD-B261A62E6E3A}"/>
              </a:ext>
            </a:extLst>
          </p:cNvPr>
          <p:cNvSpPr>
            <a:spLocks xmlns:a="http://schemas.openxmlformats.org/drawingml/2006/main" noGrp="1"/>
          </p:cNvSpPr>
          <p:nvPr/>
        </p:nvSpPr>
        <p:spPr>
          <a:xfrm xmlns:a="http://schemas.openxmlformats.org/drawingml/2006/main">
            <a:off x="6705600" y="1676400"/>
            <a:ext cx="4953000" cy="3086100"/>
          </a:xfrm>
          <a:prstGeom xmlns:a="http://schemas.openxmlformats.org/drawingml/2006/main" prst="roundRect">
            <a:avLst>
              <a:gd name="adj" fmla="val 4938"/>
            </a:avLst>
          </a:prstGeom>
          <a:solidFill xmlns:a="http://schemas.openxmlformats.org/drawingml/2006/main">
            <a:srgbClr val="101318"/>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9C3AE724-AFAD-4AEA-A931-FB709D433A8F}"/>
              </a:ext>
            </a:extLst>
          </p:cNvPr>
          <p:cNvSpPr>
            <a:spLocks xmlns:a="http://schemas.openxmlformats.org/drawingml/2006/main" noGrp="1"/>
          </p:cNvSpPr>
          <p:nvPr/>
        </p:nvSpPr>
        <p:spPr>
          <a:xfrm xmlns:a="http://schemas.openxmlformats.org/drawingml/2006/main">
            <a:off x="6972300" y="19240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2D2FF"/>
                </a:solidFill>
              </a:defRPr>
            </a:pPr>
            <a:r>
              <a:rPr sz="900" b="1" i="0">
                <a:solidFill>
                  <a:srgbClr val="62D2FF"/>
                </a:solidFill>
              </a:rPr>
              <a:t>SOVEREIGN LOGIC</a:t>
            </a:r>
          </a:p>
        </p:txBody>
      </p:sp>
      <p:sp>
        <p:nvSpPr>
          <p:cNvPr id="14" name="">
            <a:extLst xmlns:a="http://schemas.openxmlformats.org/drawingml/2006/main">
              <a:ext uri="{FF2B5EF4-FFF2-40B4-BE49-F238E27FC236}">
                <a16:creationId xmlns:a16="http://schemas.microsoft.com/office/drawing/2014/main" id="{3B59F171-785E-4DCE-B5A1-D017EAFCC54E}"/>
              </a:ext>
            </a:extLst>
          </p:cNvPr>
          <p:cNvSpPr>
            <a:spLocks xmlns:a="http://schemas.openxmlformats.org/drawingml/2006/main" noGrp="1"/>
          </p:cNvSpPr>
          <p:nvPr/>
        </p:nvSpPr>
        <p:spPr>
          <a:xfrm xmlns:a="http://schemas.openxmlformats.org/drawingml/2006/main">
            <a:off x="6972300" y="240030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i="0">
                <a:solidFill>
                  <a:srgbClr val="FFFFFF"/>
                </a:solidFill>
              </a:defRPr>
            </a:pPr>
            <a:r>
              <a:rPr sz="2400" b="1" i="0">
                <a:solidFill>
                  <a:srgbClr val="FFFFFF"/>
                </a:solidFill>
              </a:rPr>
              <a:t>Private optionality</a:t>
            </a:r>
          </a:p>
        </p:txBody>
      </p:sp>
      <p:sp>
        <p:nvSpPr>
          <p:cNvPr id="15" name="">
            <a:extLst xmlns:a="http://schemas.openxmlformats.org/drawingml/2006/main">
              <a:ext uri="{FF2B5EF4-FFF2-40B4-BE49-F238E27FC236}">
                <a16:creationId xmlns:a16="http://schemas.microsoft.com/office/drawing/2014/main" id="{86A7C853-86E7-45EF-8EDE-17EB67ABB273}"/>
              </a:ext>
            </a:extLst>
          </p:cNvPr>
          <p:cNvSpPr>
            <a:spLocks xmlns:a="http://schemas.openxmlformats.org/drawingml/2006/main" noGrp="1"/>
          </p:cNvSpPr>
          <p:nvPr/>
        </p:nvSpPr>
        <p:spPr>
          <a:xfrm xmlns:a="http://schemas.openxmlformats.org/drawingml/2006/main">
            <a:off x="7038975" y="3305175"/>
            <a:ext cx="133350" cy="133350"/>
          </a:xfrm>
          <a:prstGeom xmlns:a="http://schemas.openxmlformats.org/drawingml/2006/main" prst="ellipse">
            <a:avLst/>
          </a:prstGeom>
          <a:solidFill xmlns:a="http://schemas.openxmlformats.org/drawingml/2006/main">
            <a:srgbClr val="62D2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DD7E7B5-6BD4-4803-9A6D-FFC4E88EA4BF}"/>
              </a:ext>
            </a:extLst>
          </p:cNvPr>
          <p:cNvSpPr>
            <a:spLocks xmlns:a="http://schemas.openxmlformats.org/drawingml/2006/main" noGrp="1"/>
          </p:cNvSpPr>
          <p:nvPr/>
        </p:nvSpPr>
        <p:spPr>
          <a:xfrm xmlns:a="http://schemas.openxmlformats.org/drawingml/2006/main">
            <a:off x="7334250" y="32004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0D7DF"/>
                </a:solidFill>
              </a:defRPr>
            </a:pPr>
            <a:r>
              <a:rPr sz="1350" b="0" i="0">
                <a:solidFill>
                  <a:srgbClr val="D0D7DF"/>
                </a:solidFill>
              </a:rPr>
              <a:t>U.S. + New Zealand citizenship</a:t>
            </a:r>
          </a:p>
        </p:txBody>
      </p:sp>
      <p:sp>
        <p:nvSpPr>
          <p:cNvPr id="17" name="">
            <a:extLst xmlns:a="http://schemas.openxmlformats.org/drawingml/2006/main">
              <a:ext uri="{FF2B5EF4-FFF2-40B4-BE49-F238E27FC236}">
                <a16:creationId xmlns:a16="http://schemas.microsoft.com/office/drawing/2014/main" id="{E0E80FCA-C130-4AB5-B124-72FF18E12CF5}"/>
              </a:ext>
            </a:extLst>
          </p:cNvPr>
          <p:cNvSpPr>
            <a:spLocks xmlns:a="http://schemas.openxmlformats.org/drawingml/2006/main" noGrp="1"/>
          </p:cNvSpPr>
          <p:nvPr/>
        </p:nvSpPr>
        <p:spPr>
          <a:xfrm xmlns:a="http://schemas.openxmlformats.org/drawingml/2006/main">
            <a:off x="7038975" y="3762375"/>
            <a:ext cx="133350" cy="133350"/>
          </a:xfrm>
          <a:prstGeom xmlns:a="http://schemas.openxmlformats.org/drawingml/2006/main" prst="ellipse">
            <a:avLst/>
          </a:prstGeom>
          <a:solidFill xmlns:a="http://schemas.openxmlformats.org/drawingml/2006/main">
            <a:srgbClr val="62D2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C3FAA79-8282-4D3D-9CD1-4EBA498044AD}"/>
              </a:ext>
            </a:extLst>
          </p:cNvPr>
          <p:cNvSpPr>
            <a:spLocks xmlns:a="http://schemas.openxmlformats.org/drawingml/2006/main" noGrp="1"/>
          </p:cNvSpPr>
          <p:nvPr/>
        </p:nvSpPr>
        <p:spPr>
          <a:xfrm xmlns:a="http://schemas.openxmlformats.org/drawingml/2006/main">
            <a:off x="7334250" y="36576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0D7DF"/>
                </a:solidFill>
              </a:defRPr>
            </a:pPr>
            <a:r>
              <a:rPr sz="1350" b="0" i="0">
                <a:solidFill>
                  <a:srgbClr val="D0D7DF"/>
                </a:solidFill>
              </a:rPr>
              <a:t>A legal right to relocate</a:t>
            </a:r>
          </a:p>
        </p:txBody>
      </p:sp>
      <p:sp>
        <p:nvSpPr>
          <p:cNvPr id="19" name="">
            <a:extLst xmlns:a="http://schemas.openxmlformats.org/drawingml/2006/main">
              <a:ext uri="{FF2B5EF4-FFF2-40B4-BE49-F238E27FC236}">
                <a16:creationId xmlns:a16="http://schemas.microsoft.com/office/drawing/2014/main" id="{792018DE-81FF-4B58-8179-0E8D5AE55776}"/>
              </a:ext>
            </a:extLst>
          </p:cNvPr>
          <p:cNvSpPr>
            <a:spLocks xmlns:a="http://schemas.openxmlformats.org/drawingml/2006/main" noGrp="1"/>
          </p:cNvSpPr>
          <p:nvPr/>
        </p:nvSpPr>
        <p:spPr>
          <a:xfrm xmlns:a="http://schemas.openxmlformats.org/drawingml/2006/main">
            <a:off x="7038975" y="4219575"/>
            <a:ext cx="133350" cy="133350"/>
          </a:xfrm>
          <a:prstGeom xmlns:a="http://schemas.openxmlformats.org/drawingml/2006/main" prst="ellipse">
            <a:avLst/>
          </a:prstGeom>
          <a:solidFill xmlns:a="http://schemas.openxmlformats.org/drawingml/2006/main">
            <a:srgbClr val="62D2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49BDF3-AB1D-4FB2-B886-472D6F528C3F}"/>
              </a:ext>
            </a:extLst>
          </p:cNvPr>
          <p:cNvSpPr>
            <a:spLocks xmlns:a="http://schemas.openxmlformats.org/drawingml/2006/main" noGrp="1"/>
          </p:cNvSpPr>
          <p:nvPr/>
        </p:nvSpPr>
        <p:spPr>
          <a:xfrm xmlns:a="http://schemas.openxmlformats.org/drawingml/2006/main">
            <a:off x="7334250" y="41148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D0D7DF"/>
                </a:solidFill>
              </a:defRPr>
            </a:pPr>
            <a:r>
              <a:rPr sz="1350" b="0" i="0">
                <a:solidFill>
                  <a:srgbClr val="D0D7DF"/>
                </a:solidFill>
              </a:rPr>
              <a:t>Personal downside is partly hedged</a:t>
            </a:r>
          </a:p>
        </p:txBody>
      </p:sp>
      <p:sp>
        <p:nvSpPr>
          <p:cNvPr id="21" name="">
            <a:extLst xmlns:a="http://schemas.openxmlformats.org/drawingml/2006/main">
              <a:ext uri="{FF2B5EF4-FFF2-40B4-BE49-F238E27FC236}">
                <a16:creationId xmlns:a16="http://schemas.microsoft.com/office/drawing/2014/main" id="{96AC613B-AE28-40FB-B74C-8677A1825058}"/>
              </a:ext>
            </a:extLst>
          </p:cNvPr>
          <p:cNvSpPr>
            <a:spLocks xmlns:a="http://schemas.openxmlformats.org/drawingml/2006/main" noGrp="1"/>
          </p:cNvSpPr>
          <p:nvPr/>
        </p:nvSpPr>
        <p:spPr>
          <a:xfrm xmlns:a="http://schemas.openxmlformats.org/drawingml/2006/main">
            <a:off x="1447800" y="5086350"/>
            <a:ext cx="9296400" cy="742950"/>
          </a:xfrm>
          <a:prstGeom xmlns:a="http://schemas.openxmlformats.org/drawingml/2006/main" prst="roundRect">
            <a:avLst>
              <a:gd name="adj" fmla="val 15385"/>
            </a:avLst>
          </a:prstGeom>
          <a:solidFill xmlns:a="http://schemas.openxmlformats.org/drawingml/2006/main">
            <a:srgbClr val="FFF0E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090B669-233C-4004-A015-57E4FFC071C9}"/>
              </a:ext>
            </a:extLst>
          </p:cNvPr>
          <p:cNvSpPr>
            <a:spLocks xmlns:a="http://schemas.openxmlformats.org/drawingml/2006/main" noGrp="1"/>
          </p:cNvSpPr>
          <p:nvPr/>
        </p:nvSpPr>
        <p:spPr>
          <a:xfrm xmlns:a="http://schemas.openxmlformats.org/drawingml/2006/main">
            <a:off x="1695450" y="5219700"/>
            <a:ext cx="2400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FF8A3D"/>
                </a:solidFill>
              </a:defRPr>
            </a:pPr>
            <a:r>
              <a:rPr sz="825" b="1" i="0">
                <a:solidFill>
                  <a:srgbClr val="FF8A3D"/>
                </a:solidFill>
              </a:rPr>
              <a:t>THE ACCOUNTABILITY QUESTION</a:t>
            </a:r>
          </a:p>
        </p:txBody>
      </p:sp>
      <p:sp>
        <p:nvSpPr>
          <p:cNvPr id="23" name="">
            <a:extLst xmlns:a="http://schemas.openxmlformats.org/drawingml/2006/main">
              <a:ext uri="{FF2B5EF4-FFF2-40B4-BE49-F238E27FC236}">
                <a16:creationId xmlns:a16="http://schemas.microsoft.com/office/drawing/2014/main" id="{76032D4A-C6F3-4A2E-A082-2B1F1AFAE433}"/>
              </a:ext>
            </a:extLst>
          </p:cNvPr>
          <p:cNvSpPr>
            <a:spLocks xmlns:a="http://schemas.openxmlformats.org/drawingml/2006/main" noGrp="1"/>
          </p:cNvSpPr>
          <p:nvPr/>
        </p:nvSpPr>
        <p:spPr>
          <a:xfrm xmlns:a="http://schemas.openxmlformats.org/drawingml/2006/main">
            <a:off x="1695450" y="5429250"/>
            <a:ext cx="880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101318"/>
                </a:solidFill>
              </a:defRPr>
            </a:pPr>
            <a:r>
              <a:rPr sz="1425" b="1" i="0">
                <a:solidFill>
                  <a:srgbClr val="101318"/>
                </a:solidFill>
              </a:rPr>
              <a:t>Can someone shape a country while retaining an easier exit from its failures than most citizens?</a:t>
            </a:r>
          </a:p>
        </p:txBody>
      </p:sp>
      <p:sp>
        <p:nvSpPr>
          <p:cNvPr id="24" name="">
            <a:extLst xmlns:a="http://schemas.openxmlformats.org/drawingml/2006/main">
              <a:ext uri="{FF2B5EF4-FFF2-40B4-BE49-F238E27FC236}">
                <a16:creationId xmlns:a16="http://schemas.microsoft.com/office/drawing/2014/main" id="{5AB3925B-7FD5-41C9-9DDA-945E1A442DD6}"/>
              </a:ext>
            </a:extLst>
          </p:cNvPr>
          <p:cNvSpPr>
            <a:spLocks xmlns:a="http://schemas.openxmlformats.org/drawingml/2006/main" noGrp="1"/>
          </p:cNvSpPr>
          <p:nvPr/>
        </p:nvSpPr>
        <p:spPr>
          <a:xfrm xmlns:a="http://schemas.openxmlformats.org/drawingml/2006/main">
            <a:off x="1943100" y="5924550"/>
            <a:ext cx="830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68717D"/>
                </a:solidFill>
              </a:defRPr>
            </a:pPr>
            <a:r>
              <a:rPr sz="1125" b="0" i="0">
                <a:solidFill>
                  <a:srgbClr val="68717D"/>
                </a:solidFill>
              </a:rPr>
              <a:t>That does not prove disloyalty: his companies, capital, and political project remain deeply tied to the United States.</a:t>
            </a:r>
          </a:p>
        </p:txBody>
      </p:sp>
      <p:sp>
        <p:nvSpPr>
          <p:cNvPr id="25" name="">
            <a:extLst xmlns:a="http://schemas.openxmlformats.org/drawingml/2006/main">
              <a:ext uri="{FF2B5EF4-FFF2-40B4-BE49-F238E27FC236}">
                <a16:creationId xmlns:a16="http://schemas.microsoft.com/office/drawing/2014/main" id="{BE5D3BE3-BC4B-435F-BAC6-43BB0BC9C1FF}"/>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AA6C258-11AB-4B3B-809B-D0F7D712861D}"/>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27" name="">
            <a:extLst xmlns:a="http://schemas.openxmlformats.org/drawingml/2006/main">
              <a:ext uri="{FF2B5EF4-FFF2-40B4-BE49-F238E27FC236}">
                <a16:creationId xmlns:a16="http://schemas.microsoft.com/office/drawing/2014/main" id="{540BFABC-E920-4AF6-AC9F-C94DD6D17F99}"/>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20</a:t>
            </a:r>
          </a:p>
        </p:txBody>
      </p:sp>
    </p:spTree>
    <p:extLst>
      <p:ext uri="{BB962C8B-B14F-4D97-AF65-F5344CB8AC3E}">
        <p14:creationId xmlns:p14="http://schemas.microsoft.com/office/powerpoint/2010/main" val="1770867657"/>
      </p:ext>
    </p:extLst>
  </p:cSld>
</p:sld>
</file>

<file path=ppt/slides/slide21.xml><?xml version="1.0" encoding="utf-8"?>
<p:sld xmlns:p="http://schemas.openxmlformats.org/presentationml/2006/main">
  <p:cSld>
    <p:bg>
      <p:bgPr>
        <a:solidFill xmlns:a="http://schemas.openxmlformats.org/drawingml/2006/main">
          <a:srgbClr val="10131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319AA12-57EA-4478-BE28-DD84A3C76880}"/>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2D2FF"/>
                </a:solidFill>
              </a:defRPr>
            </a:pPr>
            <a:r>
              <a:rPr sz="1050" b="1" i="0">
                <a:solidFill>
                  <a:srgbClr val="62D2FF"/>
                </a:solidFill>
              </a:rPr>
              <a:t>THE OPERATING SYSTEM</a:t>
            </a:r>
          </a:p>
        </p:txBody>
      </p:sp>
      <p:sp>
        <p:nvSpPr>
          <p:cNvPr id="2" name="slide-title">
            <a:extLst xmlns:a="http://schemas.openxmlformats.org/drawingml/2006/main">
              <a:ext uri="{FF2B5EF4-FFF2-40B4-BE49-F238E27FC236}">
                <a16:creationId xmlns:a16="http://schemas.microsoft.com/office/drawing/2014/main" id="{73788154-BE60-4662-A99A-F05929AB2553}"/>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FFFFFF"/>
                </a:solidFill>
              </a:defRPr>
            </a:pPr>
            <a:r>
              <a:rPr sz="2850" b="1" i="0">
                <a:solidFill>
                  <a:srgbClr val="FFFFFF"/>
                </a:solidFill>
              </a:rPr>
              <a:t>Secrets are not just a theme. They are Thiel’s information architecture.</a:t>
            </a:r>
          </a:p>
        </p:txBody>
      </p:sp>
      <p:sp>
        <p:nvSpPr>
          <p:cNvPr id="3" name="">
            <a:extLst xmlns:a="http://schemas.openxmlformats.org/drawingml/2006/main">
              <a:ext uri="{FF2B5EF4-FFF2-40B4-BE49-F238E27FC236}">
                <a16:creationId xmlns:a16="http://schemas.microsoft.com/office/drawing/2014/main" id="{593800D9-092C-4DD5-B2B1-732EF18AB4FF}"/>
              </a:ext>
            </a:extLst>
          </p:cNvPr>
          <p:cNvSpPr>
            <a:spLocks xmlns:a="http://schemas.openxmlformats.org/drawingml/2006/main" noGrp="1"/>
          </p:cNvSpPr>
          <p:nvPr/>
        </p:nvSpPr>
        <p:spPr>
          <a:xfrm xmlns:a="http://schemas.openxmlformats.org/drawingml/2006/main">
            <a:off x="514350" y="1828800"/>
            <a:ext cx="2438400" cy="3276600"/>
          </a:xfrm>
          <a:prstGeom xmlns:a="http://schemas.openxmlformats.org/drawingml/2006/main" prst="roundRect">
            <a:avLst>
              <a:gd name="adj" fmla="val 6250"/>
            </a:avLst>
          </a:prstGeom>
          <a:solidFill xmlns:a="http://schemas.openxmlformats.org/drawingml/2006/main">
            <a:srgbClr val="222A34"/>
          </a:solidFill>
          <a:ln xmlns:a="http://schemas.openxmlformats.org/drawingml/2006/main" w="9525">
            <a:solidFill>
              <a:srgbClr val="36414E"/>
            </a:solidFill>
            <a:prstDash val="solid"/>
          </a:ln>
        </p:spPr>
      </p:sp>
      <p:sp>
        <p:nvSpPr>
          <p:cNvPr id="4" name="">
            <a:extLst xmlns:a="http://schemas.openxmlformats.org/drawingml/2006/main">
              <a:ext uri="{FF2B5EF4-FFF2-40B4-BE49-F238E27FC236}">
                <a16:creationId xmlns:a16="http://schemas.microsoft.com/office/drawing/2014/main" id="{6F67C811-9E42-4763-9E18-A2AA27C199DE}"/>
              </a:ext>
            </a:extLst>
          </p:cNvPr>
          <p:cNvSpPr>
            <a:spLocks xmlns:a="http://schemas.openxmlformats.org/drawingml/2006/main" noGrp="1"/>
          </p:cNvSpPr>
          <p:nvPr/>
        </p:nvSpPr>
        <p:spPr>
          <a:xfrm xmlns:a="http://schemas.openxmlformats.org/drawingml/2006/main">
            <a:off x="723900" y="2038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62D2FF"/>
                </a:solidFill>
              </a:defRPr>
            </a:pPr>
            <a:r>
              <a:rPr sz="975" b="1" i="0">
                <a:solidFill>
                  <a:srgbClr val="62D2FF"/>
                </a:solidFill>
              </a:rPr>
              <a:t>01</a:t>
            </a:r>
          </a:p>
        </p:txBody>
      </p:sp>
      <p:sp>
        <p:nvSpPr>
          <p:cNvPr id="5" name="">
            <a:extLst xmlns:a="http://schemas.openxmlformats.org/drawingml/2006/main">
              <a:ext uri="{FF2B5EF4-FFF2-40B4-BE49-F238E27FC236}">
                <a16:creationId xmlns:a16="http://schemas.microsoft.com/office/drawing/2014/main" id="{66677F3A-7912-4558-B899-5F53E5E81DDA}"/>
              </a:ext>
            </a:extLst>
          </p:cNvPr>
          <p:cNvSpPr>
            <a:spLocks xmlns:a="http://schemas.openxmlformats.org/drawingml/2006/main" noGrp="1"/>
          </p:cNvSpPr>
          <p:nvPr/>
        </p:nvSpPr>
        <p:spPr>
          <a:xfrm xmlns:a="http://schemas.openxmlformats.org/drawingml/2006/main">
            <a:off x="723900" y="2552700"/>
            <a:ext cx="2019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FFFFFF"/>
                </a:solidFill>
              </a:defRPr>
            </a:pPr>
            <a:r>
              <a:rPr sz="1575" b="1" i="0">
                <a:solidFill>
                  <a:srgbClr val="FFFFFF"/>
                </a:solidFill>
              </a:rPr>
              <a:t>PRIVATE SELF</a:t>
            </a:r>
          </a:p>
        </p:txBody>
      </p:sp>
      <p:sp>
        <p:nvSpPr>
          <p:cNvPr id="6" name="">
            <a:extLst xmlns:a="http://schemas.openxmlformats.org/drawingml/2006/main">
              <a:ext uri="{FF2B5EF4-FFF2-40B4-BE49-F238E27FC236}">
                <a16:creationId xmlns:a16="http://schemas.microsoft.com/office/drawing/2014/main" id="{6D72EF73-6BA0-472F-A64C-7834F27206F8}"/>
              </a:ext>
            </a:extLst>
          </p:cNvPr>
          <p:cNvSpPr>
            <a:spLocks xmlns:a="http://schemas.openxmlformats.org/drawingml/2006/main" noGrp="1"/>
          </p:cNvSpPr>
          <p:nvPr/>
        </p:nvSpPr>
        <p:spPr>
          <a:xfrm xmlns:a="http://schemas.openxmlformats.org/drawingml/2006/main">
            <a:off x="723900" y="3352800"/>
            <a:ext cx="20193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ADB7C2"/>
                </a:solidFill>
              </a:defRPr>
            </a:pPr>
            <a:r>
              <a:rPr sz="1275" b="0" i="0">
                <a:solidFill>
                  <a:srgbClr val="ADB7C2"/>
                </a:solidFill>
              </a:rPr>
              <a:t>A gay identity kept private until a publication made it public.</a:t>
            </a:r>
          </a:p>
        </p:txBody>
      </p:sp>
      <p:sp>
        <p:nvSpPr>
          <p:cNvPr id="7" name="">
            <a:extLst xmlns:a="http://schemas.openxmlformats.org/drawingml/2006/main">
              <a:ext uri="{FF2B5EF4-FFF2-40B4-BE49-F238E27FC236}">
                <a16:creationId xmlns:a16="http://schemas.microsoft.com/office/drawing/2014/main" id="{D3B0280A-3467-431E-AF80-3EBA724CD3C9}"/>
              </a:ext>
            </a:extLst>
          </p:cNvPr>
          <p:cNvSpPr>
            <a:spLocks xmlns:a="http://schemas.openxmlformats.org/drawingml/2006/main" noGrp="1"/>
          </p:cNvSpPr>
          <p:nvPr/>
        </p:nvSpPr>
        <p:spPr>
          <a:xfrm xmlns:a="http://schemas.openxmlformats.org/drawingml/2006/main">
            <a:off x="3333750" y="1828800"/>
            <a:ext cx="2438400" cy="3276600"/>
          </a:xfrm>
          <a:prstGeom xmlns:a="http://schemas.openxmlformats.org/drawingml/2006/main" prst="roundRect">
            <a:avLst>
              <a:gd name="adj" fmla="val 6250"/>
            </a:avLst>
          </a:prstGeom>
          <a:solidFill xmlns:a="http://schemas.openxmlformats.org/drawingml/2006/main">
            <a:srgbClr val="222A34"/>
          </a:solidFill>
          <a:ln xmlns:a="http://schemas.openxmlformats.org/drawingml/2006/main" w="9525">
            <a:solidFill>
              <a:srgbClr val="36414E"/>
            </a:solidFill>
            <a:prstDash val="solid"/>
          </a:ln>
        </p:spPr>
      </p:sp>
      <p:sp>
        <p:nvSpPr>
          <p:cNvPr id="8" name="">
            <a:extLst xmlns:a="http://schemas.openxmlformats.org/drawingml/2006/main">
              <a:ext uri="{FF2B5EF4-FFF2-40B4-BE49-F238E27FC236}">
                <a16:creationId xmlns:a16="http://schemas.microsoft.com/office/drawing/2014/main" id="{802FC72C-B38E-4185-AFCC-9ABD9F0AE5FB}"/>
              </a:ext>
            </a:extLst>
          </p:cNvPr>
          <p:cNvSpPr>
            <a:spLocks xmlns:a="http://schemas.openxmlformats.org/drawingml/2006/main" noGrp="1"/>
          </p:cNvSpPr>
          <p:nvPr/>
        </p:nvSpPr>
        <p:spPr>
          <a:xfrm xmlns:a="http://schemas.openxmlformats.org/drawingml/2006/main">
            <a:off x="3543300" y="2038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62D2FF"/>
                </a:solidFill>
              </a:defRPr>
            </a:pPr>
            <a:r>
              <a:rPr sz="975" b="1" i="0">
                <a:solidFill>
                  <a:srgbClr val="62D2FF"/>
                </a:solidFill>
              </a:rPr>
              <a:t>02</a:t>
            </a:r>
          </a:p>
        </p:txBody>
      </p:sp>
      <p:sp>
        <p:nvSpPr>
          <p:cNvPr id="9" name="">
            <a:extLst xmlns:a="http://schemas.openxmlformats.org/drawingml/2006/main">
              <a:ext uri="{FF2B5EF4-FFF2-40B4-BE49-F238E27FC236}">
                <a16:creationId xmlns:a16="http://schemas.microsoft.com/office/drawing/2014/main" id="{359CB7A1-2503-4D8B-9286-44C6F1481024}"/>
              </a:ext>
            </a:extLst>
          </p:cNvPr>
          <p:cNvSpPr>
            <a:spLocks xmlns:a="http://schemas.openxmlformats.org/drawingml/2006/main" noGrp="1"/>
          </p:cNvSpPr>
          <p:nvPr/>
        </p:nvSpPr>
        <p:spPr>
          <a:xfrm xmlns:a="http://schemas.openxmlformats.org/drawingml/2006/main">
            <a:off x="3543300" y="2552700"/>
            <a:ext cx="2019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FFFFFF"/>
                </a:solidFill>
              </a:defRPr>
            </a:pPr>
            <a:r>
              <a:rPr sz="1575" b="1" i="0">
                <a:solidFill>
                  <a:srgbClr val="FFFFFF"/>
                </a:solidFill>
              </a:rPr>
              <a:t>PRIVATE TRUTHS</a:t>
            </a:r>
          </a:p>
        </p:txBody>
      </p:sp>
      <p:sp>
        <p:nvSpPr>
          <p:cNvPr id="10" name="">
            <a:extLst xmlns:a="http://schemas.openxmlformats.org/drawingml/2006/main">
              <a:ext uri="{FF2B5EF4-FFF2-40B4-BE49-F238E27FC236}">
                <a16:creationId xmlns:a16="http://schemas.microsoft.com/office/drawing/2014/main" id="{47AF84F0-8E3D-4120-9E54-1FE1EDB0894C}"/>
              </a:ext>
            </a:extLst>
          </p:cNvPr>
          <p:cNvSpPr>
            <a:spLocks xmlns:a="http://schemas.openxmlformats.org/drawingml/2006/main" noGrp="1"/>
          </p:cNvSpPr>
          <p:nvPr/>
        </p:nvSpPr>
        <p:spPr>
          <a:xfrm xmlns:a="http://schemas.openxmlformats.org/drawingml/2006/main">
            <a:off x="3543300" y="3352800"/>
            <a:ext cx="20193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ADB7C2"/>
                </a:solidFill>
              </a:defRPr>
            </a:pPr>
            <a:r>
              <a:rPr sz="1275" b="0" i="0">
                <a:solidFill>
                  <a:srgbClr val="ADB7C2"/>
                </a:solidFill>
              </a:rPr>
              <a:t>The investor’s search for insights that consensus has missed.</a:t>
            </a:r>
          </a:p>
        </p:txBody>
      </p:sp>
      <p:sp>
        <p:nvSpPr>
          <p:cNvPr id="11" name="">
            <a:extLst xmlns:a="http://schemas.openxmlformats.org/drawingml/2006/main">
              <a:ext uri="{FF2B5EF4-FFF2-40B4-BE49-F238E27FC236}">
                <a16:creationId xmlns:a16="http://schemas.microsoft.com/office/drawing/2014/main" id="{63A56D3B-0F27-4FD3-91DB-36E45F4F97A7}"/>
              </a:ext>
            </a:extLst>
          </p:cNvPr>
          <p:cNvSpPr>
            <a:spLocks xmlns:a="http://schemas.openxmlformats.org/drawingml/2006/main" noGrp="1"/>
          </p:cNvSpPr>
          <p:nvPr/>
        </p:nvSpPr>
        <p:spPr>
          <a:xfrm xmlns:a="http://schemas.openxmlformats.org/drawingml/2006/main">
            <a:off x="6153150" y="1828800"/>
            <a:ext cx="2438400" cy="3276600"/>
          </a:xfrm>
          <a:prstGeom xmlns:a="http://schemas.openxmlformats.org/drawingml/2006/main" prst="roundRect">
            <a:avLst>
              <a:gd name="adj" fmla="val 6250"/>
            </a:avLst>
          </a:prstGeom>
          <a:solidFill xmlns:a="http://schemas.openxmlformats.org/drawingml/2006/main">
            <a:srgbClr val="222A34"/>
          </a:solidFill>
          <a:ln xmlns:a="http://schemas.openxmlformats.org/drawingml/2006/main" w="9525">
            <a:solidFill>
              <a:srgbClr val="36414E"/>
            </a:solidFill>
            <a:prstDash val="solid"/>
          </a:ln>
        </p:spPr>
      </p:sp>
      <p:sp>
        <p:nvSpPr>
          <p:cNvPr id="12" name="">
            <a:extLst xmlns:a="http://schemas.openxmlformats.org/drawingml/2006/main">
              <a:ext uri="{FF2B5EF4-FFF2-40B4-BE49-F238E27FC236}">
                <a16:creationId xmlns:a16="http://schemas.microsoft.com/office/drawing/2014/main" id="{655F3FFD-41CA-4906-9DD3-C390E44F5FBE}"/>
              </a:ext>
            </a:extLst>
          </p:cNvPr>
          <p:cNvSpPr>
            <a:spLocks xmlns:a="http://schemas.openxmlformats.org/drawingml/2006/main" noGrp="1"/>
          </p:cNvSpPr>
          <p:nvPr/>
        </p:nvSpPr>
        <p:spPr>
          <a:xfrm xmlns:a="http://schemas.openxmlformats.org/drawingml/2006/main">
            <a:off x="6362700" y="2038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62D2FF"/>
                </a:solidFill>
              </a:defRPr>
            </a:pPr>
            <a:r>
              <a:rPr sz="975" b="1" i="0">
                <a:solidFill>
                  <a:srgbClr val="62D2FF"/>
                </a:solidFill>
              </a:rPr>
              <a:t>03</a:t>
            </a:r>
          </a:p>
        </p:txBody>
      </p:sp>
      <p:sp>
        <p:nvSpPr>
          <p:cNvPr id="13" name="">
            <a:extLst xmlns:a="http://schemas.openxmlformats.org/drawingml/2006/main">
              <a:ext uri="{FF2B5EF4-FFF2-40B4-BE49-F238E27FC236}">
                <a16:creationId xmlns:a16="http://schemas.microsoft.com/office/drawing/2014/main" id="{3F0C722F-35E3-4471-8A32-052769C5CEAC}"/>
              </a:ext>
            </a:extLst>
          </p:cNvPr>
          <p:cNvSpPr>
            <a:spLocks xmlns:a="http://schemas.openxmlformats.org/drawingml/2006/main" noGrp="1"/>
          </p:cNvSpPr>
          <p:nvPr/>
        </p:nvSpPr>
        <p:spPr>
          <a:xfrm xmlns:a="http://schemas.openxmlformats.org/drawingml/2006/main">
            <a:off x="6362700" y="2552700"/>
            <a:ext cx="2019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FFFFFF"/>
                </a:solidFill>
              </a:defRPr>
            </a:pPr>
            <a:r>
              <a:rPr sz="1575" b="1" i="0">
                <a:solidFill>
                  <a:srgbClr val="FFFFFF"/>
                </a:solidFill>
              </a:rPr>
              <a:t>PRIVATE NETWORKS</a:t>
            </a:r>
          </a:p>
        </p:txBody>
      </p:sp>
      <p:sp>
        <p:nvSpPr>
          <p:cNvPr id="14" name="">
            <a:extLst xmlns:a="http://schemas.openxmlformats.org/drawingml/2006/main">
              <a:ext uri="{FF2B5EF4-FFF2-40B4-BE49-F238E27FC236}">
                <a16:creationId xmlns:a16="http://schemas.microsoft.com/office/drawing/2014/main" id="{57D9B9E8-FCAF-402E-9EBB-84C64B3F59F9}"/>
              </a:ext>
            </a:extLst>
          </p:cNvPr>
          <p:cNvSpPr>
            <a:spLocks xmlns:a="http://schemas.openxmlformats.org/drawingml/2006/main" noGrp="1"/>
          </p:cNvSpPr>
          <p:nvPr/>
        </p:nvSpPr>
        <p:spPr>
          <a:xfrm xmlns:a="http://schemas.openxmlformats.org/drawingml/2006/main">
            <a:off x="6362700" y="3352800"/>
            <a:ext cx="20193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ADB7C2"/>
                </a:solidFill>
              </a:defRPr>
            </a:pPr>
            <a:r>
              <a:rPr sz="1275" b="0" i="0">
                <a:solidFill>
                  <a:srgbClr val="ADB7C2"/>
                </a:solidFill>
              </a:rPr>
              <a:t>PayPal alumni, founders, political candidates, and invitation-only salons.</a:t>
            </a:r>
          </a:p>
        </p:txBody>
      </p:sp>
      <p:sp>
        <p:nvSpPr>
          <p:cNvPr id="15" name="">
            <a:extLst xmlns:a="http://schemas.openxmlformats.org/drawingml/2006/main">
              <a:ext uri="{FF2B5EF4-FFF2-40B4-BE49-F238E27FC236}">
                <a16:creationId xmlns:a16="http://schemas.microsoft.com/office/drawing/2014/main" id="{C1DAC259-3C50-4048-893A-AABBAC8BF7A0}"/>
              </a:ext>
            </a:extLst>
          </p:cNvPr>
          <p:cNvSpPr>
            <a:spLocks xmlns:a="http://schemas.openxmlformats.org/drawingml/2006/main" noGrp="1"/>
          </p:cNvSpPr>
          <p:nvPr/>
        </p:nvSpPr>
        <p:spPr>
          <a:xfrm xmlns:a="http://schemas.openxmlformats.org/drawingml/2006/main">
            <a:off x="8972550" y="1828800"/>
            <a:ext cx="2438400" cy="3276600"/>
          </a:xfrm>
          <a:prstGeom xmlns:a="http://schemas.openxmlformats.org/drawingml/2006/main" prst="roundRect">
            <a:avLst>
              <a:gd name="adj" fmla="val 6250"/>
            </a:avLst>
          </a:prstGeom>
          <a:solidFill xmlns:a="http://schemas.openxmlformats.org/drawingml/2006/main">
            <a:srgbClr val="277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8E2D74C-FB6D-4C4C-9D5C-D3EA126C7215}"/>
              </a:ext>
            </a:extLst>
          </p:cNvPr>
          <p:cNvSpPr>
            <a:spLocks xmlns:a="http://schemas.openxmlformats.org/drawingml/2006/main" noGrp="1"/>
          </p:cNvSpPr>
          <p:nvPr/>
        </p:nvSpPr>
        <p:spPr>
          <a:xfrm xmlns:a="http://schemas.openxmlformats.org/drawingml/2006/main">
            <a:off x="9182100" y="2038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FFFFFF"/>
                </a:solidFill>
              </a:defRPr>
            </a:pPr>
            <a:r>
              <a:rPr sz="975" b="1" i="0">
                <a:solidFill>
                  <a:srgbClr val="FFFFFF"/>
                </a:solidFill>
              </a:rPr>
              <a:t>04</a:t>
            </a:r>
          </a:p>
        </p:txBody>
      </p:sp>
      <p:sp>
        <p:nvSpPr>
          <p:cNvPr id="17" name="">
            <a:extLst xmlns:a="http://schemas.openxmlformats.org/drawingml/2006/main">
              <a:ext uri="{FF2B5EF4-FFF2-40B4-BE49-F238E27FC236}">
                <a16:creationId xmlns:a16="http://schemas.microsoft.com/office/drawing/2014/main" id="{166BFFC3-0FAE-4C52-9084-EDBED7BFD64F}"/>
              </a:ext>
            </a:extLst>
          </p:cNvPr>
          <p:cNvSpPr>
            <a:spLocks xmlns:a="http://schemas.openxmlformats.org/drawingml/2006/main" noGrp="1"/>
          </p:cNvSpPr>
          <p:nvPr/>
        </p:nvSpPr>
        <p:spPr>
          <a:xfrm xmlns:a="http://schemas.openxmlformats.org/drawingml/2006/main">
            <a:off x="9182100" y="2552700"/>
            <a:ext cx="2019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FFFFFF"/>
                </a:solidFill>
              </a:defRPr>
            </a:pPr>
            <a:r>
              <a:rPr sz="1575" b="1" i="0">
                <a:solidFill>
                  <a:srgbClr val="FFFFFF"/>
                </a:solidFill>
              </a:rPr>
              <a:t>PUBLIC CONSEQUENCES</a:t>
            </a:r>
          </a:p>
        </p:txBody>
      </p:sp>
      <p:sp>
        <p:nvSpPr>
          <p:cNvPr id="18" name="">
            <a:extLst xmlns:a="http://schemas.openxmlformats.org/drawingml/2006/main">
              <a:ext uri="{FF2B5EF4-FFF2-40B4-BE49-F238E27FC236}">
                <a16:creationId xmlns:a16="http://schemas.microsoft.com/office/drawing/2014/main" id="{DD78C22E-1DF8-4580-A777-DE5D385B277A}"/>
              </a:ext>
            </a:extLst>
          </p:cNvPr>
          <p:cNvSpPr>
            <a:spLocks xmlns:a="http://schemas.openxmlformats.org/drawingml/2006/main" noGrp="1"/>
          </p:cNvSpPr>
          <p:nvPr/>
        </p:nvSpPr>
        <p:spPr>
          <a:xfrm xmlns:a="http://schemas.openxmlformats.org/drawingml/2006/main">
            <a:off x="9182100" y="3352800"/>
            <a:ext cx="20193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EAF3FF"/>
                </a:solidFill>
              </a:defRPr>
            </a:pPr>
            <a:r>
              <a:rPr sz="1275" b="0" i="0">
                <a:solidFill>
                  <a:srgbClr val="EAF3FF"/>
                </a:solidFill>
              </a:rPr>
              <a:t>Companies and political bets that reshape institutions at scale.</a:t>
            </a:r>
          </a:p>
        </p:txBody>
      </p:sp>
      <p:sp>
        <p:nvSpPr>
          <p:cNvPr id="19" name="">
            <a:extLst xmlns:a="http://schemas.openxmlformats.org/drawingml/2006/main">
              <a:ext uri="{FF2B5EF4-FFF2-40B4-BE49-F238E27FC236}">
                <a16:creationId xmlns:a16="http://schemas.microsoft.com/office/drawing/2014/main" id="{29AAAB50-45C8-46BA-B81F-B5C14BEAB8ED}"/>
              </a:ext>
            </a:extLst>
          </p:cNvPr>
          <p:cNvSpPr>
            <a:spLocks xmlns:a="http://schemas.openxmlformats.org/drawingml/2006/main" noGrp="1"/>
          </p:cNvSpPr>
          <p:nvPr/>
        </p:nvSpPr>
        <p:spPr>
          <a:xfrm xmlns:a="http://schemas.openxmlformats.org/drawingml/2006/main">
            <a:off x="1695450" y="5505450"/>
            <a:ext cx="8801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i="0">
                <a:solidFill>
                  <a:srgbClr val="BBC5CF"/>
                </a:solidFill>
              </a:defRPr>
            </a:pPr>
            <a:r>
              <a:rPr sz="1350" b="0" i="0">
                <a:solidFill>
                  <a:srgbClr val="BBC5CF"/>
                </a:solidFill>
              </a:rPr>
              <a:t>Dialog, co-founded with Auren Hoffman, makes the pattern literal: an invitation-only forum built around off-record exchange.</a:t>
            </a:r>
          </a:p>
        </p:txBody>
      </p:sp>
      <p:sp>
        <p:nvSpPr>
          <p:cNvPr id="20" name="">
            <a:extLst xmlns:a="http://schemas.openxmlformats.org/drawingml/2006/main">
              <a:ext uri="{FF2B5EF4-FFF2-40B4-BE49-F238E27FC236}">
                <a16:creationId xmlns:a16="http://schemas.microsoft.com/office/drawing/2014/main" id="{13166508-9C02-472A-8A1A-484E853C6E4C}"/>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3942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01E82D6-9851-4379-8635-E41B703AF0BE}"/>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AAB4C0"/>
                </a:solidFill>
              </a:defRPr>
            </a:pPr>
            <a:r>
              <a:rPr sz="750" b="1" i="0">
                <a:solidFill>
                  <a:srgbClr val="AAB4C0"/>
                </a:solidFill>
              </a:rPr>
              <a:t>PETER THIEL — SECRETS, FEAR &amp; POWER</a:t>
            </a:r>
          </a:p>
        </p:txBody>
      </p:sp>
      <p:sp>
        <p:nvSpPr>
          <p:cNvPr id="22" name="">
            <a:extLst xmlns:a="http://schemas.openxmlformats.org/drawingml/2006/main">
              <a:ext uri="{FF2B5EF4-FFF2-40B4-BE49-F238E27FC236}">
                <a16:creationId xmlns:a16="http://schemas.microsoft.com/office/drawing/2014/main" id="{8ACD9F75-D94B-4288-8E57-5EE10F41E8C0}"/>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AAB4C0"/>
                </a:solidFill>
              </a:defRPr>
            </a:pPr>
            <a:r>
              <a:rPr sz="750" b="1" i="0">
                <a:solidFill>
                  <a:srgbClr val="AAB4C0"/>
                </a:solidFill>
              </a:rPr>
              <a:t>21</a:t>
            </a:r>
          </a:p>
        </p:txBody>
      </p:sp>
    </p:spTree>
    <p:extLst>
      <p:ext uri="{BB962C8B-B14F-4D97-AF65-F5344CB8AC3E}">
        <p14:creationId xmlns:p14="http://schemas.microsoft.com/office/powerpoint/2010/main" val="1993622989"/>
      </p:ext>
    </p:extLst>
  </p:cSld>
</p:sld>
</file>

<file path=ppt/slides/slide22.xml><?xml version="1.0" encoding="utf-8"?>
<p:sld xmlns:p="http://schemas.openxmlformats.org/presentationml/2006/main">
  <p:cSld>
    <p:bg>
      <p:bgPr>
        <a:solidFill xmlns:a="http://schemas.openxmlformats.org/drawingml/2006/main">
          <a:srgbClr val="F2F5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C2EB21A-D690-4021-A97F-09C791B7AB63}"/>
              </a:ext>
            </a:extLst>
          </p:cNvPr>
          <p:cNvSpPr>
            <a:spLocks xmlns:a="http://schemas.openxmlformats.org/drawingml/2006/main" noGrp="1"/>
          </p:cNvSpPr>
          <p:nvPr/>
        </p:nvSpPr>
        <p:spPr>
          <a:xfrm xmlns:a="http://schemas.openxmlformats.org/drawingml/2006/main">
            <a:off x="457200" y="3048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77DFF"/>
                </a:solidFill>
              </a:defRPr>
            </a:pPr>
            <a:r>
              <a:rPr sz="1050" b="1" i="0">
                <a:solidFill>
                  <a:srgbClr val="277DFF"/>
                </a:solidFill>
              </a:rPr>
              <a:t>INTERPRETIVE LENS—NOT DIAGNOSIS</a:t>
            </a:r>
          </a:p>
        </p:txBody>
      </p:sp>
      <p:sp>
        <p:nvSpPr>
          <p:cNvPr id="2" name="slide-title">
            <a:extLst xmlns:a="http://schemas.openxmlformats.org/drawingml/2006/main">
              <a:ext uri="{FF2B5EF4-FFF2-40B4-BE49-F238E27FC236}">
                <a16:creationId xmlns:a16="http://schemas.microsoft.com/office/drawing/2014/main" id="{03EF68B7-98D6-4C28-A835-2EE4B977F9FA}"/>
              </a:ext>
            </a:extLst>
          </p:cNvPr>
          <p:cNvSpPr>
            <a:spLocks xmlns:a="http://schemas.openxmlformats.org/drawingml/2006/main" noGrp="1"/>
          </p:cNvSpPr>
          <p:nvPr/>
        </p:nvSpPr>
        <p:spPr>
          <a:xfrm xmlns:a="http://schemas.openxmlformats.org/drawingml/2006/main">
            <a:off x="457200" y="64770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101318"/>
                </a:solidFill>
              </a:defRPr>
            </a:pPr>
            <a:r>
              <a:rPr sz="3000" b="1" i="0">
                <a:solidFill>
                  <a:srgbClr val="101318"/>
                </a:solidFill>
              </a:rPr>
              <a:t>The Enneagram 6 reading: fear becomes vigilance, alliances, and control.</a:t>
            </a:r>
          </a:p>
        </p:txBody>
      </p:sp>
      <p:sp>
        <p:nvSpPr>
          <p:cNvPr id="3" name="">
            <a:extLst xmlns:a="http://schemas.openxmlformats.org/drawingml/2006/main">
              <a:ext uri="{FF2B5EF4-FFF2-40B4-BE49-F238E27FC236}">
                <a16:creationId xmlns:a16="http://schemas.microsoft.com/office/drawing/2014/main" id="{02CE82BD-59AE-49E5-BC8F-0C23C7B07E9A}"/>
              </a:ext>
            </a:extLst>
          </p:cNvPr>
          <p:cNvSpPr>
            <a:spLocks xmlns:a="http://schemas.openxmlformats.org/drawingml/2006/main" noGrp="1"/>
          </p:cNvSpPr>
          <p:nvPr/>
        </p:nvSpPr>
        <p:spPr>
          <a:xfrm xmlns:a="http://schemas.openxmlformats.org/drawingml/2006/main">
            <a:off x="666750" y="1581150"/>
            <a:ext cx="108585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E6BFF5-07F0-4E38-A514-5CBE1EA2D92C}"/>
              </a:ext>
            </a:extLst>
          </p:cNvPr>
          <p:cNvSpPr>
            <a:spLocks xmlns:a="http://schemas.openxmlformats.org/drawingml/2006/main" noGrp="1"/>
          </p:cNvSpPr>
          <p:nvPr/>
        </p:nvSpPr>
        <p:spPr>
          <a:xfrm xmlns:a="http://schemas.openxmlformats.org/drawingml/2006/main">
            <a:off x="895350" y="1790700"/>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FF8A3D"/>
                </a:solidFill>
              </a:defRPr>
            </a:pPr>
            <a:r>
              <a:rPr sz="2550" b="1" i="0">
                <a:solidFill>
                  <a:srgbClr val="FF8A3D"/>
                </a:solidFill>
              </a:rPr>
              <a:t>⚠</a:t>
            </a:r>
          </a:p>
        </p:txBody>
      </p:sp>
      <p:sp>
        <p:nvSpPr>
          <p:cNvPr id="5" name="">
            <a:extLst xmlns:a="http://schemas.openxmlformats.org/drawingml/2006/main">
              <a:ext uri="{FF2B5EF4-FFF2-40B4-BE49-F238E27FC236}">
                <a16:creationId xmlns:a16="http://schemas.microsoft.com/office/drawing/2014/main" id="{7CA16A8C-23B2-4DFB-B56D-DCD9E3359DEA}"/>
              </a:ext>
            </a:extLst>
          </p:cNvPr>
          <p:cNvSpPr>
            <a:spLocks xmlns:a="http://schemas.openxmlformats.org/drawingml/2006/main" noGrp="1"/>
          </p:cNvSpPr>
          <p:nvPr/>
        </p:nvSpPr>
        <p:spPr>
          <a:xfrm xmlns:a="http://schemas.openxmlformats.org/drawingml/2006/main">
            <a:off x="1638300" y="1790700"/>
            <a:ext cx="9429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i="0">
                <a:solidFill>
                  <a:srgbClr val="242A32"/>
                </a:solidFill>
              </a:defRPr>
            </a:pPr>
            <a:r>
              <a:rPr sz="1425" b="1" i="0">
                <a:solidFill>
                  <a:srgbClr val="242A32"/>
                </a:solidFill>
              </a:rPr>
              <a:t>This is a narrative hypothesis. Thiel has not publicly verified this type, and the Enneagram is not a clinical instrument.</a:t>
            </a:r>
          </a:p>
        </p:txBody>
      </p:sp>
      <p:sp>
        <p:nvSpPr>
          <p:cNvPr id="6" name="">
            <a:extLst xmlns:a="http://schemas.openxmlformats.org/drawingml/2006/main">
              <a:ext uri="{FF2B5EF4-FFF2-40B4-BE49-F238E27FC236}">
                <a16:creationId xmlns:a16="http://schemas.microsoft.com/office/drawing/2014/main" id="{36CAA172-A31D-4320-8383-D8249A3E5C39}"/>
              </a:ext>
            </a:extLst>
          </p:cNvPr>
          <p:cNvSpPr>
            <a:spLocks xmlns:a="http://schemas.openxmlformats.org/drawingml/2006/main" noGrp="1"/>
          </p:cNvSpPr>
          <p:nvPr/>
        </p:nvSpPr>
        <p:spPr>
          <a:xfrm xmlns:a="http://schemas.openxmlformats.org/drawingml/2006/main">
            <a:off x="1066800" y="3219450"/>
            <a:ext cx="800100" cy="800100"/>
          </a:xfrm>
          <a:prstGeom xmlns:a="http://schemas.openxmlformats.org/drawingml/2006/main" prst="ellipse">
            <a:avLst/>
          </a:prstGeom>
          <a:solidFill xmlns:a="http://schemas.openxmlformats.org/drawingml/2006/main">
            <a:srgbClr val="277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5DCCA3-ACC7-41DF-B36E-C0224430A387}"/>
              </a:ext>
            </a:extLst>
          </p:cNvPr>
          <p:cNvSpPr>
            <a:spLocks xmlns:a="http://schemas.openxmlformats.org/drawingml/2006/main" noGrp="1"/>
          </p:cNvSpPr>
          <p:nvPr/>
        </p:nvSpPr>
        <p:spPr>
          <a:xfrm xmlns:a="http://schemas.openxmlformats.org/drawingml/2006/main">
            <a:off x="1276350" y="3390900"/>
            <a:ext cx="38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8" name="">
            <a:extLst xmlns:a="http://schemas.openxmlformats.org/drawingml/2006/main">
              <a:ext uri="{FF2B5EF4-FFF2-40B4-BE49-F238E27FC236}">
                <a16:creationId xmlns:a16="http://schemas.microsoft.com/office/drawing/2014/main" id="{0F212997-A58D-4D7A-B4C0-05C292DED277}"/>
              </a:ext>
            </a:extLst>
          </p:cNvPr>
          <p:cNvSpPr>
            <a:spLocks xmlns:a="http://schemas.openxmlformats.org/drawingml/2006/main" noGrp="1"/>
          </p:cNvSpPr>
          <p:nvPr/>
        </p:nvSpPr>
        <p:spPr>
          <a:xfrm xmlns:a="http://schemas.openxmlformats.org/drawingml/2006/main">
            <a:off x="2438400" y="33718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i="0">
                <a:solidFill>
                  <a:srgbClr val="DCE2E8"/>
                </a:solidFill>
              </a:defRPr>
            </a:pPr>
            <a:r>
              <a:rPr sz="2250" b="1" i="0">
                <a:solidFill>
                  <a:srgbClr val="DCE2E8"/>
                </a:solidFill>
              </a:rPr>
              <a:t>→</a:t>
            </a:r>
          </a:p>
        </p:txBody>
      </p:sp>
      <p:sp>
        <p:nvSpPr>
          <p:cNvPr id="9" name="">
            <a:extLst xmlns:a="http://schemas.openxmlformats.org/drawingml/2006/main">
              <a:ext uri="{FF2B5EF4-FFF2-40B4-BE49-F238E27FC236}">
                <a16:creationId xmlns:a16="http://schemas.microsoft.com/office/drawing/2014/main" id="{1062824E-85D1-4789-BEB3-721DDEAEDA3A}"/>
              </a:ext>
            </a:extLst>
          </p:cNvPr>
          <p:cNvSpPr>
            <a:spLocks xmlns:a="http://schemas.openxmlformats.org/drawingml/2006/main" noGrp="1"/>
          </p:cNvSpPr>
          <p:nvPr/>
        </p:nvSpPr>
        <p:spPr>
          <a:xfrm xmlns:a="http://schemas.openxmlformats.org/drawingml/2006/main">
            <a:off x="762000" y="41719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277DFF"/>
                </a:solidFill>
              </a:defRPr>
            </a:pPr>
            <a:r>
              <a:rPr sz="1200" b="1" i="0">
                <a:solidFill>
                  <a:srgbClr val="277DFF"/>
                </a:solidFill>
              </a:rPr>
              <a:t>SCAN</a:t>
            </a:r>
          </a:p>
        </p:txBody>
      </p:sp>
      <p:sp>
        <p:nvSpPr>
          <p:cNvPr id="10" name="">
            <a:extLst xmlns:a="http://schemas.openxmlformats.org/drawingml/2006/main">
              <a:ext uri="{FF2B5EF4-FFF2-40B4-BE49-F238E27FC236}">
                <a16:creationId xmlns:a16="http://schemas.microsoft.com/office/drawing/2014/main" id="{94D38763-6033-49D5-B4A6-F7092486C853}"/>
              </a:ext>
            </a:extLst>
          </p:cNvPr>
          <p:cNvSpPr>
            <a:spLocks xmlns:a="http://schemas.openxmlformats.org/drawingml/2006/main" noGrp="1"/>
          </p:cNvSpPr>
          <p:nvPr/>
        </p:nvSpPr>
        <p:spPr>
          <a:xfrm xmlns:a="http://schemas.openxmlformats.org/drawingml/2006/main">
            <a:off x="457200" y="4552950"/>
            <a:ext cx="2019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68717D"/>
                </a:solidFill>
              </a:defRPr>
            </a:pPr>
            <a:r>
              <a:rPr sz="1200" b="0" i="0">
                <a:solidFill>
                  <a:srgbClr val="68717D"/>
                </a:solidFill>
              </a:rPr>
              <a:t>What threat is everyone else ignoring?</a:t>
            </a:r>
          </a:p>
        </p:txBody>
      </p:sp>
      <p:sp>
        <p:nvSpPr>
          <p:cNvPr id="11" name="">
            <a:extLst xmlns:a="http://schemas.openxmlformats.org/drawingml/2006/main">
              <a:ext uri="{FF2B5EF4-FFF2-40B4-BE49-F238E27FC236}">
                <a16:creationId xmlns:a16="http://schemas.microsoft.com/office/drawing/2014/main" id="{8AAB4637-9864-4897-A94D-F26EFE6D508A}"/>
              </a:ext>
            </a:extLst>
          </p:cNvPr>
          <p:cNvSpPr>
            <a:spLocks xmlns:a="http://schemas.openxmlformats.org/drawingml/2006/main" noGrp="1"/>
          </p:cNvSpPr>
          <p:nvPr/>
        </p:nvSpPr>
        <p:spPr>
          <a:xfrm xmlns:a="http://schemas.openxmlformats.org/drawingml/2006/main">
            <a:off x="3876675" y="3219450"/>
            <a:ext cx="800100" cy="800100"/>
          </a:xfrm>
          <a:prstGeom xmlns:a="http://schemas.openxmlformats.org/drawingml/2006/main" prst="ellipse">
            <a:avLst/>
          </a:prstGeom>
          <a:solidFill xmlns:a="http://schemas.openxmlformats.org/drawingml/2006/main">
            <a:srgbClr val="FF8A3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55F9F55-5780-4218-9870-09BAB3CE8249}"/>
              </a:ext>
            </a:extLst>
          </p:cNvPr>
          <p:cNvSpPr>
            <a:spLocks xmlns:a="http://schemas.openxmlformats.org/drawingml/2006/main" noGrp="1"/>
          </p:cNvSpPr>
          <p:nvPr/>
        </p:nvSpPr>
        <p:spPr>
          <a:xfrm xmlns:a="http://schemas.openxmlformats.org/drawingml/2006/main">
            <a:off x="4086225" y="3390900"/>
            <a:ext cx="38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13" name="">
            <a:extLst xmlns:a="http://schemas.openxmlformats.org/drawingml/2006/main">
              <a:ext uri="{FF2B5EF4-FFF2-40B4-BE49-F238E27FC236}">
                <a16:creationId xmlns:a16="http://schemas.microsoft.com/office/drawing/2014/main" id="{3E29BC4E-01D5-4441-A192-57C2F96DA939}"/>
              </a:ext>
            </a:extLst>
          </p:cNvPr>
          <p:cNvSpPr>
            <a:spLocks xmlns:a="http://schemas.openxmlformats.org/drawingml/2006/main" noGrp="1"/>
          </p:cNvSpPr>
          <p:nvPr/>
        </p:nvSpPr>
        <p:spPr>
          <a:xfrm xmlns:a="http://schemas.openxmlformats.org/drawingml/2006/main">
            <a:off x="5248275" y="33718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i="0">
                <a:solidFill>
                  <a:srgbClr val="DCE2E8"/>
                </a:solidFill>
              </a:defRPr>
            </a:pPr>
            <a:r>
              <a:rPr sz="2250" b="1" i="0">
                <a:solidFill>
                  <a:srgbClr val="DCE2E8"/>
                </a:solidFill>
              </a:rPr>
              <a:t>→</a:t>
            </a:r>
          </a:p>
        </p:txBody>
      </p:sp>
      <p:sp>
        <p:nvSpPr>
          <p:cNvPr id="14" name="">
            <a:extLst xmlns:a="http://schemas.openxmlformats.org/drawingml/2006/main">
              <a:ext uri="{FF2B5EF4-FFF2-40B4-BE49-F238E27FC236}">
                <a16:creationId xmlns:a16="http://schemas.microsoft.com/office/drawing/2014/main" id="{D63E0799-FF3A-4182-92A3-AE6E0663870C}"/>
              </a:ext>
            </a:extLst>
          </p:cNvPr>
          <p:cNvSpPr>
            <a:spLocks xmlns:a="http://schemas.openxmlformats.org/drawingml/2006/main" noGrp="1"/>
          </p:cNvSpPr>
          <p:nvPr/>
        </p:nvSpPr>
        <p:spPr>
          <a:xfrm xmlns:a="http://schemas.openxmlformats.org/drawingml/2006/main">
            <a:off x="3571875" y="41719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FF8A3D"/>
                </a:solidFill>
              </a:defRPr>
            </a:pPr>
            <a:r>
              <a:rPr sz="1200" b="1" i="0">
                <a:solidFill>
                  <a:srgbClr val="FF8A3D"/>
                </a:solidFill>
              </a:rPr>
              <a:t>TEST</a:t>
            </a:r>
          </a:p>
        </p:txBody>
      </p:sp>
      <p:sp>
        <p:nvSpPr>
          <p:cNvPr id="15" name="">
            <a:extLst xmlns:a="http://schemas.openxmlformats.org/drawingml/2006/main">
              <a:ext uri="{FF2B5EF4-FFF2-40B4-BE49-F238E27FC236}">
                <a16:creationId xmlns:a16="http://schemas.microsoft.com/office/drawing/2014/main" id="{3B7A634F-7B8A-41A3-8EC3-88F8696C0E43}"/>
              </a:ext>
            </a:extLst>
          </p:cNvPr>
          <p:cNvSpPr>
            <a:spLocks xmlns:a="http://schemas.openxmlformats.org/drawingml/2006/main" noGrp="1"/>
          </p:cNvSpPr>
          <p:nvPr/>
        </p:nvSpPr>
        <p:spPr>
          <a:xfrm xmlns:a="http://schemas.openxmlformats.org/drawingml/2006/main">
            <a:off x="3267075" y="4552950"/>
            <a:ext cx="2019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68717D"/>
                </a:solidFill>
              </a:defRPr>
            </a:pPr>
            <a:r>
              <a:rPr sz="1200" b="0" i="0">
                <a:solidFill>
                  <a:srgbClr val="68717D"/>
                </a:solidFill>
              </a:rPr>
              <a:t>Who is loyal? Which founder holds under pressure?</a:t>
            </a:r>
          </a:p>
        </p:txBody>
      </p:sp>
      <p:sp>
        <p:nvSpPr>
          <p:cNvPr id="16" name="">
            <a:extLst xmlns:a="http://schemas.openxmlformats.org/drawingml/2006/main">
              <a:ext uri="{FF2B5EF4-FFF2-40B4-BE49-F238E27FC236}">
                <a16:creationId xmlns:a16="http://schemas.microsoft.com/office/drawing/2014/main" id="{FE287E0D-776E-47EF-8A16-330F84449F76}"/>
              </a:ext>
            </a:extLst>
          </p:cNvPr>
          <p:cNvSpPr>
            <a:spLocks xmlns:a="http://schemas.openxmlformats.org/drawingml/2006/main" noGrp="1"/>
          </p:cNvSpPr>
          <p:nvPr/>
        </p:nvSpPr>
        <p:spPr>
          <a:xfrm xmlns:a="http://schemas.openxmlformats.org/drawingml/2006/main">
            <a:off x="6686550" y="3219450"/>
            <a:ext cx="800100" cy="800100"/>
          </a:xfrm>
          <a:prstGeom xmlns:a="http://schemas.openxmlformats.org/drawingml/2006/main" prst="ellipse">
            <a:avLst/>
          </a:prstGeom>
          <a:solidFill xmlns:a="http://schemas.openxmlformats.org/drawingml/2006/main">
            <a:srgbClr val="138A6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3432650-B4C6-41B5-BAF1-05CCCCCBD64F}"/>
              </a:ext>
            </a:extLst>
          </p:cNvPr>
          <p:cNvSpPr>
            <a:spLocks xmlns:a="http://schemas.openxmlformats.org/drawingml/2006/main" noGrp="1"/>
          </p:cNvSpPr>
          <p:nvPr/>
        </p:nvSpPr>
        <p:spPr>
          <a:xfrm xmlns:a="http://schemas.openxmlformats.org/drawingml/2006/main">
            <a:off x="6896100" y="3390900"/>
            <a:ext cx="38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18" name="">
            <a:extLst xmlns:a="http://schemas.openxmlformats.org/drawingml/2006/main">
              <a:ext uri="{FF2B5EF4-FFF2-40B4-BE49-F238E27FC236}">
                <a16:creationId xmlns:a16="http://schemas.microsoft.com/office/drawing/2014/main" id="{49216DA6-B4D1-4FEA-85C8-94DB7E29D05A}"/>
              </a:ext>
            </a:extLst>
          </p:cNvPr>
          <p:cNvSpPr>
            <a:spLocks xmlns:a="http://schemas.openxmlformats.org/drawingml/2006/main" noGrp="1"/>
          </p:cNvSpPr>
          <p:nvPr/>
        </p:nvSpPr>
        <p:spPr>
          <a:xfrm xmlns:a="http://schemas.openxmlformats.org/drawingml/2006/main">
            <a:off x="8058150" y="33718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i="0">
                <a:solidFill>
                  <a:srgbClr val="DCE2E8"/>
                </a:solidFill>
              </a:defRPr>
            </a:pPr>
            <a:r>
              <a:rPr sz="2250" b="1" i="0">
                <a:solidFill>
                  <a:srgbClr val="DCE2E8"/>
                </a:solidFill>
              </a:rPr>
              <a:t>→</a:t>
            </a:r>
          </a:p>
        </p:txBody>
      </p:sp>
      <p:sp>
        <p:nvSpPr>
          <p:cNvPr id="19" name="">
            <a:extLst xmlns:a="http://schemas.openxmlformats.org/drawingml/2006/main">
              <a:ext uri="{FF2B5EF4-FFF2-40B4-BE49-F238E27FC236}">
                <a16:creationId xmlns:a16="http://schemas.microsoft.com/office/drawing/2014/main" id="{3AA7A999-7DA7-4C51-B7F2-FF19CA72059C}"/>
              </a:ext>
            </a:extLst>
          </p:cNvPr>
          <p:cNvSpPr>
            <a:spLocks xmlns:a="http://schemas.openxmlformats.org/drawingml/2006/main" noGrp="1"/>
          </p:cNvSpPr>
          <p:nvPr/>
        </p:nvSpPr>
        <p:spPr>
          <a:xfrm xmlns:a="http://schemas.openxmlformats.org/drawingml/2006/main">
            <a:off x="6381750" y="41719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38A61"/>
                </a:solidFill>
              </a:defRPr>
            </a:pPr>
            <a:r>
              <a:rPr sz="1200" b="1" i="0">
                <a:solidFill>
                  <a:srgbClr val="138A61"/>
                </a:solidFill>
              </a:rPr>
              <a:t>ALLY</a:t>
            </a:r>
          </a:p>
        </p:txBody>
      </p:sp>
      <p:sp>
        <p:nvSpPr>
          <p:cNvPr id="20" name="">
            <a:extLst xmlns:a="http://schemas.openxmlformats.org/drawingml/2006/main">
              <a:ext uri="{FF2B5EF4-FFF2-40B4-BE49-F238E27FC236}">
                <a16:creationId xmlns:a16="http://schemas.microsoft.com/office/drawing/2014/main" id="{18E6ADDF-8E08-4677-8360-D4160071F051}"/>
              </a:ext>
            </a:extLst>
          </p:cNvPr>
          <p:cNvSpPr>
            <a:spLocks xmlns:a="http://schemas.openxmlformats.org/drawingml/2006/main" noGrp="1"/>
          </p:cNvSpPr>
          <p:nvPr/>
        </p:nvSpPr>
        <p:spPr>
          <a:xfrm xmlns:a="http://schemas.openxmlformats.org/drawingml/2006/main">
            <a:off x="6076950" y="4552950"/>
            <a:ext cx="2019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68717D"/>
                </a:solidFill>
              </a:defRPr>
            </a:pPr>
            <a:r>
              <a:rPr sz="1200" b="0" i="0">
                <a:solidFill>
                  <a:srgbClr val="68717D"/>
                </a:solidFill>
              </a:rPr>
              <a:t>Build a trusted network outside the consensus.</a:t>
            </a:r>
          </a:p>
        </p:txBody>
      </p:sp>
      <p:sp>
        <p:nvSpPr>
          <p:cNvPr id="21" name="">
            <a:extLst xmlns:a="http://schemas.openxmlformats.org/drawingml/2006/main">
              <a:ext uri="{FF2B5EF4-FFF2-40B4-BE49-F238E27FC236}">
                <a16:creationId xmlns:a16="http://schemas.microsoft.com/office/drawing/2014/main" id="{ED8BE73A-E8D8-4951-A08C-4734CBDE897A}"/>
              </a:ext>
            </a:extLst>
          </p:cNvPr>
          <p:cNvSpPr>
            <a:spLocks xmlns:a="http://schemas.openxmlformats.org/drawingml/2006/main" noGrp="1"/>
          </p:cNvSpPr>
          <p:nvPr/>
        </p:nvSpPr>
        <p:spPr>
          <a:xfrm xmlns:a="http://schemas.openxmlformats.org/drawingml/2006/main">
            <a:off x="9496425" y="3219450"/>
            <a:ext cx="800100" cy="800100"/>
          </a:xfrm>
          <a:prstGeom xmlns:a="http://schemas.openxmlformats.org/drawingml/2006/main" prst="ellipse">
            <a:avLst/>
          </a:prstGeom>
          <a:solidFill xmlns:a="http://schemas.openxmlformats.org/drawingml/2006/main">
            <a:srgbClr val="10131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496C1E2-CF6A-4092-A788-B591DDD95145}"/>
              </a:ext>
            </a:extLst>
          </p:cNvPr>
          <p:cNvSpPr>
            <a:spLocks xmlns:a="http://schemas.openxmlformats.org/drawingml/2006/main" noGrp="1"/>
          </p:cNvSpPr>
          <p:nvPr/>
        </p:nvSpPr>
        <p:spPr>
          <a:xfrm xmlns:a="http://schemas.openxmlformats.org/drawingml/2006/main">
            <a:off x="9705975" y="3390900"/>
            <a:ext cx="38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23" name="">
            <a:extLst xmlns:a="http://schemas.openxmlformats.org/drawingml/2006/main">
              <a:ext uri="{FF2B5EF4-FFF2-40B4-BE49-F238E27FC236}">
                <a16:creationId xmlns:a16="http://schemas.microsoft.com/office/drawing/2014/main" id="{A1FB5FA4-4B1F-4139-8437-149DEB49DB2B}"/>
              </a:ext>
            </a:extLst>
          </p:cNvPr>
          <p:cNvSpPr>
            <a:spLocks xmlns:a="http://schemas.openxmlformats.org/drawingml/2006/main" noGrp="1"/>
          </p:cNvSpPr>
          <p:nvPr/>
        </p:nvSpPr>
        <p:spPr>
          <a:xfrm xmlns:a="http://schemas.openxmlformats.org/drawingml/2006/main">
            <a:off x="9191625" y="41719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01318"/>
                </a:solidFill>
              </a:defRPr>
            </a:pPr>
            <a:r>
              <a:rPr sz="1200" b="1" i="0">
                <a:solidFill>
                  <a:srgbClr val="101318"/>
                </a:solidFill>
              </a:rPr>
              <a:t>CONTROL</a:t>
            </a:r>
          </a:p>
        </p:txBody>
      </p:sp>
      <p:sp>
        <p:nvSpPr>
          <p:cNvPr id="24" name="">
            <a:extLst xmlns:a="http://schemas.openxmlformats.org/drawingml/2006/main">
              <a:ext uri="{FF2B5EF4-FFF2-40B4-BE49-F238E27FC236}">
                <a16:creationId xmlns:a16="http://schemas.microsoft.com/office/drawing/2014/main" id="{2AF6F3F3-42F2-452E-AB91-C43126D13E19}"/>
              </a:ext>
            </a:extLst>
          </p:cNvPr>
          <p:cNvSpPr>
            <a:spLocks xmlns:a="http://schemas.openxmlformats.org/drawingml/2006/main" noGrp="1"/>
          </p:cNvSpPr>
          <p:nvPr/>
        </p:nvSpPr>
        <p:spPr>
          <a:xfrm xmlns:a="http://schemas.openxmlformats.org/drawingml/2006/main">
            <a:off x="8886825" y="4552950"/>
            <a:ext cx="2019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68717D"/>
                </a:solidFill>
              </a:defRPr>
            </a:pPr>
            <a:r>
              <a:rPr sz="1200" b="0" i="0">
                <a:solidFill>
                  <a:srgbClr val="68717D"/>
                </a:solidFill>
              </a:rPr>
              <a:t>Create systems powerful enough to contain the threat.</a:t>
            </a:r>
          </a:p>
        </p:txBody>
      </p:sp>
      <p:sp>
        <p:nvSpPr>
          <p:cNvPr id="25" name="">
            <a:extLst xmlns:a="http://schemas.openxmlformats.org/drawingml/2006/main">
              <a:ext uri="{FF2B5EF4-FFF2-40B4-BE49-F238E27FC236}">
                <a16:creationId xmlns:a16="http://schemas.microsoft.com/office/drawing/2014/main" id="{80715FDB-9338-428D-A980-2B73088FF143}"/>
              </a:ext>
            </a:extLst>
          </p:cNvPr>
          <p:cNvSpPr>
            <a:spLocks xmlns:a="http://schemas.openxmlformats.org/drawingml/2006/main" noGrp="1"/>
          </p:cNvSpPr>
          <p:nvPr/>
        </p:nvSpPr>
        <p:spPr>
          <a:xfrm xmlns:a="http://schemas.openxmlformats.org/drawingml/2006/main">
            <a:off x="2362200" y="5657850"/>
            <a:ext cx="7467600" cy="457200"/>
          </a:xfrm>
          <a:prstGeom xmlns:a="http://schemas.openxmlformats.org/drawingml/2006/main" prst="roundRect">
            <a:avLst>
              <a:gd name="adj" fmla="val 16667"/>
            </a:avLst>
          </a:prstGeom>
          <a:solidFill xmlns:a="http://schemas.openxmlformats.org/drawingml/2006/main">
            <a:srgbClr val="FFF0E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67013BA-5BE2-4FFE-9769-9E20D0604734}"/>
              </a:ext>
            </a:extLst>
          </p:cNvPr>
          <p:cNvSpPr>
            <a:spLocks xmlns:a="http://schemas.openxmlformats.org/drawingml/2006/main" noGrp="1"/>
          </p:cNvSpPr>
          <p:nvPr/>
        </p:nvSpPr>
        <p:spPr>
          <a:xfrm xmlns:a="http://schemas.openxmlformats.org/drawingml/2006/main">
            <a:off x="2628900" y="5715000"/>
            <a:ext cx="693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242A32"/>
                </a:solidFill>
              </a:defRPr>
            </a:pPr>
            <a:r>
              <a:rPr sz="1350" b="1" i="0">
                <a:solidFill>
                  <a:srgbClr val="242A32"/>
                </a:solidFill>
              </a:rPr>
              <a:t>The shadow pattern: build the very system that embodies the feared outcome.</a:t>
            </a:r>
          </a:p>
        </p:txBody>
      </p:sp>
      <p:sp>
        <p:nvSpPr>
          <p:cNvPr id="27" name="">
            <a:extLst xmlns:a="http://schemas.openxmlformats.org/drawingml/2006/main">
              <a:ext uri="{FF2B5EF4-FFF2-40B4-BE49-F238E27FC236}">
                <a16:creationId xmlns:a16="http://schemas.microsoft.com/office/drawing/2014/main" id="{43288FE5-4F85-4B5C-A4E3-E652E707EC12}"/>
              </a:ext>
            </a:extLst>
          </p:cNvPr>
          <p:cNvSpPr>
            <a:spLocks xmlns:a="http://schemas.openxmlformats.org/drawingml/2006/main" noGrp="1"/>
          </p:cNvSpPr>
          <p:nvPr/>
        </p:nvSpPr>
        <p:spPr>
          <a:xfrm xmlns:a="http://schemas.openxmlformats.org/drawingml/2006/main">
            <a:off x="457200" y="6400800"/>
            <a:ext cx="11277600" cy="9525"/>
          </a:xfrm>
          <a:prstGeom xmlns:a="http://schemas.openxmlformats.org/drawingml/2006/main" prst="rect">
            <a:avLst/>
          </a:prstGeom>
          <a:solidFill xmlns:a="http://schemas.openxmlformats.org/drawingml/2006/main">
            <a:srgbClr val="DCE2E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097308C-CD1E-4892-8A9A-0E6A69C8F30A}"/>
              </a:ext>
            </a:extLst>
          </p:cNvPr>
          <p:cNvSpPr>
            <a:spLocks xmlns:a="http://schemas.openxmlformats.org/drawingml/2006/main" noGrp="1"/>
          </p:cNvSpPr>
          <p:nvPr/>
        </p:nvSpPr>
        <p:spPr>
          <a:xfrm xmlns:a="http://schemas.openxmlformats.org/drawingml/2006/main">
            <a:off x="4572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8B949E"/>
                </a:solidFill>
              </a:defRPr>
            </a:pPr>
            <a:r>
              <a:rPr sz="750" b="1" i="0">
                <a:solidFill>
                  <a:srgbClr val="8B949E"/>
                </a:solidFill>
              </a:rPr>
              <a:t>PETER THIEL — SECRETS, FEAR &amp; POWER</a:t>
            </a:r>
          </a:p>
        </p:txBody>
      </p:sp>
      <p:sp>
        <p:nvSpPr>
          <p:cNvPr id="29" name="">
            <a:extLst xmlns:a="http://schemas.openxmlformats.org/drawingml/2006/main">
              <a:ext uri="{FF2B5EF4-FFF2-40B4-BE49-F238E27FC236}">
                <a16:creationId xmlns:a16="http://schemas.microsoft.com/office/drawing/2014/main" id="{36393742-5772-4D48-8364-874EFD59D239}"/>
              </a:ext>
            </a:extLst>
          </p:cNvPr>
          <p:cNvSpPr>
            <a:spLocks xmlns:a="http://schemas.openxmlformats.org/drawingml/2006/main" noGrp="1"/>
          </p:cNvSpPr>
          <p:nvPr/>
        </p:nvSpPr>
        <p:spPr>
          <a:xfrm xmlns:a="http://schemas.openxmlformats.org/drawingml/2006/main">
            <a:off x="11239500" y="64770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8B949E"/>
                </a:solidFill>
              </a:defRPr>
            </a:pPr>
            <a:r>
              <a:rPr sz="750" b="1" i="0">
                <a:solidFill>
                  <a:srgbClr val="8B949E"/>
                </a:solidFill>
              </a:rPr>
              <a:t>22</a:t>
            </a:r>
          </a:p>
        </p:txBody>
      </p:sp>
    </p:spTree>
    <p:extLst>
      <p:ext uri="{BB962C8B-B14F-4D97-AF65-F5344CB8AC3E}">
        <p14:creationId xmlns:p14="http://schemas.microsoft.com/office/powerpoint/2010/main" val="340029206"/>
      </p:ext>
    </p:extLst>
  </p:cSld>
</p:sld>
</file>

<file path=ppt/slides/slide23.xml><?xml version="1.0" encoding="utf-8"?>
<p:sld xmlns:p="http://schemas.openxmlformats.org/presentationml/2006/main">
  <p:cSld>
    <p:bg>
      <p:bgPr>
        <a:solidFill xmlns:a="http://schemas.openxmlformats.org/drawingml/2006/main">
          <a:srgbClr val="05060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EDC2138-18FB-424F-8205-4F131F7EA7BC}"/>
              </a:ext>
            </a:extLst>
          </p:cNvPr>
          <p:cNvSpPr>
            <a:spLocks xmlns:a="http://schemas.openxmlformats.org/drawingml/2006/main" noGrp="1"/>
          </p:cNvSpPr>
          <p:nvPr/>
        </p:nvSpPr>
        <p:spPr>
          <a:xfrm xmlns:a="http://schemas.openxmlformats.org/drawingml/2006/main">
            <a:off x="457200" y="552450"/>
            <a:ext cx="571500" cy="57150"/>
          </a:xfrm>
          <a:prstGeom xmlns:a="http://schemas.openxmlformats.org/drawingml/2006/main" prst="rect">
            <a:avLst/>
          </a:prstGeom>
          <a:solidFill xmlns:a="http://schemas.openxmlformats.org/drawingml/2006/main">
            <a:srgbClr val="277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40C2F2-3F4A-4B14-9264-81167D3D1382}"/>
              </a:ext>
            </a:extLst>
          </p:cNvPr>
          <p:cNvSpPr>
            <a:spLocks xmlns:a="http://schemas.openxmlformats.org/drawingml/2006/main" noGrp="1"/>
          </p:cNvSpPr>
          <p:nvPr/>
        </p:nvSpPr>
        <p:spPr>
          <a:xfrm xmlns:a="http://schemas.openxmlformats.org/drawingml/2006/main">
            <a:off x="457200" y="8001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62D2FF"/>
                </a:solidFill>
              </a:defRPr>
            </a:pPr>
            <a:r>
              <a:rPr sz="1050" b="1" i="0">
                <a:solidFill>
                  <a:srgbClr val="62D2FF"/>
                </a:solidFill>
              </a:rPr>
              <a:t>A REBRAND FOR PETER THIEL</a:t>
            </a:r>
          </a:p>
        </p:txBody>
      </p:sp>
      <p:sp>
        <p:nvSpPr>
          <p:cNvPr id="3" name="">
            <a:extLst xmlns:a="http://schemas.openxmlformats.org/drawingml/2006/main">
              <a:ext uri="{FF2B5EF4-FFF2-40B4-BE49-F238E27FC236}">
                <a16:creationId xmlns:a16="http://schemas.microsoft.com/office/drawing/2014/main" id="{A4B0E839-8CE2-41C2-95B7-BDEA234BCBBB}"/>
              </a:ext>
            </a:extLst>
          </p:cNvPr>
          <p:cNvSpPr>
            <a:spLocks xmlns:a="http://schemas.openxmlformats.org/drawingml/2006/main" noGrp="1"/>
          </p:cNvSpPr>
          <p:nvPr/>
        </p:nvSpPr>
        <p:spPr>
          <a:xfrm xmlns:a="http://schemas.openxmlformats.org/drawingml/2006/main">
            <a:off x="457200" y="1295400"/>
            <a:ext cx="10477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i="0">
                <a:solidFill>
                  <a:srgbClr val="FFFFFF"/>
                </a:solidFill>
              </a:defRPr>
            </a:pPr>
            <a:r>
              <a:rPr sz="4350" b="1" i="0">
                <a:solidFill>
                  <a:srgbClr val="FFFFFF"/>
                </a:solidFill>
              </a:rPr>
              <a:t>Don’t create the thing</a:t>
            </a:r>
          </a:p>
          <a:p xmlns:a="http://schemas.openxmlformats.org/drawingml/2006/main">
            <a:pPr algn="l">
              <a:defRPr sz="4350" b="1" i="0">
                <a:solidFill>
                  <a:srgbClr val="FFFFFF"/>
                </a:solidFill>
              </a:defRPr>
            </a:pPr>
            <a:r>
              <a:rPr sz="4350" b="1" i="0">
                <a:solidFill>
                  <a:srgbClr val="FFFFFF"/>
                </a:solidFill>
              </a:rPr>
              <a:t>you fear most.</a:t>
            </a:r>
          </a:p>
        </p:txBody>
      </p:sp>
      <p:sp>
        <p:nvSpPr>
          <p:cNvPr id="4" name="">
            <a:extLst xmlns:a="http://schemas.openxmlformats.org/drawingml/2006/main">
              <a:ext uri="{FF2B5EF4-FFF2-40B4-BE49-F238E27FC236}">
                <a16:creationId xmlns:a16="http://schemas.microsoft.com/office/drawing/2014/main" id="{002E7D39-DA7D-4F40-BED2-4424D821D60D}"/>
              </a:ext>
            </a:extLst>
          </p:cNvPr>
          <p:cNvSpPr>
            <a:spLocks xmlns:a="http://schemas.openxmlformats.org/drawingml/2006/main" noGrp="1"/>
          </p:cNvSpPr>
          <p:nvPr/>
        </p:nvSpPr>
        <p:spPr>
          <a:xfrm xmlns:a="http://schemas.openxmlformats.org/drawingml/2006/main">
            <a:off x="457200" y="3390900"/>
            <a:ext cx="3333750" cy="1600200"/>
          </a:xfrm>
          <a:prstGeom xmlns:a="http://schemas.openxmlformats.org/drawingml/2006/main" prst="roundRect">
            <a:avLst>
              <a:gd name="adj" fmla="val 7143"/>
            </a:avLst>
          </a:prstGeom>
          <a:solidFill xmlns:a="http://schemas.openxmlformats.org/drawingml/2006/main">
            <a:srgbClr val="171B21"/>
          </a:solidFill>
          <a:ln xmlns:a="http://schemas.openxmlformats.org/drawingml/2006/main" w="9525">
            <a:solidFill>
              <a:srgbClr val="2D343E"/>
            </a:solidFill>
            <a:prstDash val="solid"/>
          </a:ln>
        </p:spPr>
      </p:sp>
      <p:sp>
        <p:nvSpPr>
          <p:cNvPr id="5" name="">
            <a:extLst xmlns:a="http://schemas.openxmlformats.org/drawingml/2006/main">
              <a:ext uri="{FF2B5EF4-FFF2-40B4-BE49-F238E27FC236}">
                <a16:creationId xmlns:a16="http://schemas.microsoft.com/office/drawing/2014/main" id="{246506AF-1A20-4A61-9EB4-6D38818CB33D}"/>
              </a:ext>
            </a:extLst>
          </p:cNvPr>
          <p:cNvSpPr>
            <a:spLocks xmlns:a="http://schemas.openxmlformats.org/drawingml/2006/main" noGrp="1"/>
          </p:cNvSpPr>
          <p:nvPr/>
        </p:nvSpPr>
        <p:spPr>
          <a:xfrm xmlns:a="http://schemas.openxmlformats.org/drawingml/2006/main">
            <a:off x="647700" y="35623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2D2FF"/>
                </a:solidFill>
              </a:defRPr>
            </a:pPr>
            <a:r>
              <a:rPr sz="900" b="1" i="0">
                <a:solidFill>
                  <a:srgbClr val="62D2FF"/>
                </a:solidFill>
              </a:rPr>
              <a:t>01</a:t>
            </a:r>
          </a:p>
        </p:txBody>
      </p:sp>
      <p:sp>
        <p:nvSpPr>
          <p:cNvPr id="6" name="">
            <a:extLst xmlns:a="http://schemas.openxmlformats.org/drawingml/2006/main">
              <a:ext uri="{FF2B5EF4-FFF2-40B4-BE49-F238E27FC236}">
                <a16:creationId xmlns:a16="http://schemas.microsoft.com/office/drawing/2014/main" id="{E0BE6232-8885-476D-9D46-17A3B9954765}"/>
              </a:ext>
            </a:extLst>
          </p:cNvPr>
          <p:cNvSpPr>
            <a:spLocks xmlns:a="http://schemas.openxmlformats.org/drawingml/2006/main" noGrp="1"/>
          </p:cNvSpPr>
          <p:nvPr/>
        </p:nvSpPr>
        <p:spPr>
          <a:xfrm xmlns:a="http://schemas.openxmlformats.org/drawingml/2006/main">
            <a:off x="647700" y="396240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FFFFFF"/>
                </a:solidFill>
              </a:defRPr>
            </a:pPr>
            <a:r>
              <a:rPr sz="1725" b="1" i="0">
                <a:solidFill>
                  <a:srgbClr val="FFFFFF"/>
                </a:solidFill>
              </a:rPr>
              <a:t>State the positive end goal plainly.</a:t>
            </a:r>
          </a:p>
        </p:txBody>
      </p:sp>
      <p:sp>
        <p:nvSpPr>
          <p:cNvPr id="7" name="">
            <a:extLst xmlns:a="http://schemas.openxmlformats.org/drawingml/2006/main">
              <a:ext uri="{FF2B5EF4-FFF2-40B4-BE49-F238E27FC236}">
                <a16:creationId xmlns:a16="http://schemas.microsoft.com/office/drawing/2014/main" id="{09361F05-672E-4370-B5D7-90911859E4A6}"/>
              </a:ext>
            </a:extLst>
          </p:cNvPr>
          <p:cNvSpPr>
            <a:spLocks xmlns:a="http://schemas.openxmlformats.org/drawingml/2006/main" noGrp="1"/>
          </p:cNvSpPr>
          <p:nvPr/>
        </p:nvSpPr>
        <p:spPr>
          <a:xfrm xmlns:a="http://schemas.openxmlformats.org/drawingml/2006/main">
            <a:off x="4210050" y="3390900"/>
            <a:ext cx="3333750" cy="1600200"/>
          </a:xfrm>
          <a:prstGeom xmlns:a="http://schemas.openxmlformats.org/drawingml/2006/main" prst="roundRect">
            <a:avLst>
              <a:gd name="adj" fmla="val 7143"/>
            </a:avLst>
          </a:prstGeom>
          <a:solidFill xmlns:a="http://schemas.openxmlformats.org/drawingml/2006/main">
            <a:srgbClr val="171B21"/>
          </a:solidFill>
          <a:ln xmlns:a="http://schemas.openxmlformats.org/drawingml/2006/main" w="9525">
            <a:solidFill>
              <a:srgbClr val="2D343E"/>
            </a:solidFill>
            <a:prstDash val="solid"/>
          </a:ln>
        </p:spPr>
      </p:sp>
      <p:sp>
        <p:nvSpPr>
          <p:cNvPr id="8" name="">
            <a:extLst xmlns:a="http://schemas.openxmlformats.org/drawingml/2006/main">
              <a:ext uri="{FF2B5EF4-FFF2-40B4-BE49-F238E27FC236}">
                <a16:creationId xmlns:a16="http://schemas.microsoft.com/office/drawing/2014/main" id="{E46CC0C7-87E5-4A9E-8447-9FC62E27D85F}"/>
              </a:ext>
            </a:extLst>
          </p:cNvPr>
          <p:cNvSpPr>
            <a:spLocks xmlns:a="http://schemas.openxmlformats.org/drawingml/2006/main" noGrp="1"/>
          </p:cNvSpPr>
          <p:nvPr/>
        </p:nvSpPr>
        <p:spPr>
          <a:xfrm xmlns:a="http://schemas.openxmlformats.org/drawingml/2006/main">
            <a:off x="4400550" y="35623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2D2FF"/>
                </a:solidFill>
              </a:defRPr>
            </a:pPr>
            <a:r>
              <a:rPr sz="900" b="1" i="0">
                <a:solidFill>
                  <a:srgbClr val="62D2FF"/>
                </a:solidFill>
              </a:rPr>
              <a:t>02</a:t>
            </a:r>
          </a:p>
        </p:txBody>
      </p:sp>
      <p:sp>
        <p:nvSpPr>
          <p:cNvPr id="9" name="">
            <a:extLst xmlns:a="http://schemas.openxmlformats.org/drawingml/2006/main">
              <a:ext uri="{FF2B5EF4-FFF2-40B4-BE49-F238E27FC236}">
                <a16:creationId xmlns:a16="http://schemas.microsoft.com/office/drawing/2014/main" id="{F9417076-9F36-475F-9931-78BBB77D7934}"/>
              </a:ext>
            </a:extLst>
          </p:cNvPr>
          <p:cNvSpPr>
            <a:spLocks xmlns:a="http://schemas.openxmlformats.org/drawingml/2006/main" noGrp="1"/>
          </p:cNvSpPr>
          <p:nvPr/>
        </p:nvSpPr>
        <p:spPr>
          <a:xfrm xmlns:a="http://schemas.openxmlformats.org/drawingml/2006/main">
            <a:off x="4400550" y="396240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FFFFFF"/>
                </a:solidFill>
              </a:defRPr>
            </a:pPr>
            <a:r>
              <a:rPr sz="1725" b="1" i="0">
                <a:solidFill>
                  <a:srgbClr val="FFFFFF"/>
                </a:solidFill>
              </a:rPr>
              <a:t>Make governance as visible as capability.</a:t>
            </a:r>
          </a:p>
        </p:txBody>
      </p:sp>
      <p:sp>
        <p:nvSpPr>
          <p:cNvPr id="10" name="">
            <a:extLst xmlns:a="http://schemas.openxmlformats.org/drawingml/2006/main">
              <a:ext uri="{FF2B5EF4-FFF2-40B4-BE49-F238E27FC236}">
                <a16:creationId xmlns:a16="http://schemas.microsoft.com/office/drawing/2014/main" id="{32A49B3D-391D-4267-A150-526AD8D4E335}"/>
              </a:ext>
            </a:extLst>
          </p:cNvPr>
          <p:cNvSpPr>
            <a:spLocks xmlns:a="http://schemas.openxmlformats.org/drawingml/2006/main" noGrp="1"/>
          </p:cNvSpPr>
          <p:nvPr/>
        </p:nvSpPr>
        <p:spPr>
          <a:xfrm xmlns:a="http://schemas.openxmlformats.org/drawingml/2006/main">
            <a:off x="7962900" y="3390900"/>
            <a:ext cx="3333750" cy="1600200"/>
          </a:xfrm>
          <a:prstGeom xmlns:a="http://schemas.openxmlformats.org/drawingml/2006/main" prst="roundRect">
            <a:avLst>
              <a:gd name="adj" fmla="val 7143"/>
            </a:avLst>
          </a:prstGeom>
          <a:solidFill xmlns:a="http://schemas.openxmlformats.org/drawingml/2006/main">
            <a:srgbClr val="171B21"/>
          </a:solidFill>
          <a:ln xmlns:a="http://schemas.openxmlformats.org/drawingml/2006/main" w="9525">
            <a:solidFill>
              <a:srgbClr val="2D343E"/>
            </a:solidFill>
            <a:prstDash val="solid"/>
          </a:ln>
        </p:spPr>
      </p:sp>
      <p:sp>
        <p:nvSpPr>
          <p:cNvPr id="11" name="">
            <a:extLst xmlns:a="http://schemas.openxmlformats.org/drawingml/2006/main">
              <a:ext uri="{FF2B5EF4-FFF2-40B4-BE49-F238E27FC236}">
                <a16:creationId xmlns:a16="http://schemas.microsoft.com/office/drawing/2014/main" id="{FDFB443B-50FE-48BE-889B-B01977C9D028}"/>
              </a:ext>
            </a:extLst>
          </p:cNvPr>
          <p:cNvSpPr>
            <a:spLocks xmlns:a="http://schemas.openxmlformats.org/drawingml/2006/main" noGrp="1"/>
          </p:cNvSpPr>
          <p:nvPr/>
        </p:nvSpPr>
        <p:spPr>
          <a:xfrm xmlns:a="http://schemas.openxmlformats.org/drawingml/2006/main">
            <a:off x="8153400" y="35623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2D2FF"/>
                </a:solidFill>
              </a:defRPr>
            </a:pPr>
            <a:r>
              <a:rPr sz="900" b="1" i="0">
                <a:solidFill>
                  <a:srgbClr val="62D2FF"/>
                </a:solidFill>
              </a:rPr>
              <a:t>03</a:t>
            </a:r>
          </a:p>
        </p:txBody>
      </p:sp>
      <p:sp>
        <p:nvSpPr>
          <p:cNvPr id="12" name="">
            <a:extLst xmlns:a="http://schemas.openxmlformats.org/drawingml/2006/main">
              <a:ext uri="{FF2B5EF4-FFF2-40B4-BE49-F238E27FC236}">
                <a16:creationId xmlns:a16="http://schemas.microsoft.com/office/drawing/2014/main" id="{3B8AB57B-3B19-4921-BCD1-66402961D4C9}"/>
              </a:ext>
            </a:extLst>
          </p:cNvPr>
          <p:cNvSpPr>
            <a:spLocks xmlns:a="http://schemas.openxmlformats.org/drawingml/2006/main" noGrp="1"/>
          </p:cNvSpPr>
          <p:nvPr/>
        </p:nvSpPr>
        <p:spPr>
          <a:xfrm xmlns:a="http://schemas.openxmlformats.org/drawingml/2006/main">
            <a:off x="8153400" y="396240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FFFFFF"/>
                </a:solidFill>
              </a:defRPr>
            </a:pPr>
            <a:r>
              <a:rPr sz="1725" b="1" i="0">
                <a:solidFill>
                  <a:srgbClr val="FFFFFF"/>
                </a:solidFill>
              </a:rPr>
              <a:t>Invite scrutiny before power forces it.</a:t>
            </a:r>
          </a:p>
        </p:txBody>
      </p:sp>
      <p:sp>
        <p:nvSpPr>
          <p:cNvPr id="13" name="">
            <a:extLst xmlns:a="http://schemas.openxmlformats.org/drawingml/2006/main">
              <a:ext uri="{FF2B5EF4-FFF2-40B4-BE49-F238E27FC236}">
                <a16:creationId xmlns:a16="http://schemas.microsoft.com/office/drawing/2014/main" id="{1DADB6F1-84BA-41D8-AA93-6320E8C8555C}"/>
              </a:ext>
            </a:extLst>
          </p:cNvPr>
          <p:cNvSpPr>
            <a:spLocks xmlns:a="http://schemas.openxmlformats.org/drawingml/2006/main" noGrp="1"/>
          </p:cNvSpPr>
          <p:nvPr/>
        </p:nvSpPr>
        <p:spPr>
          <a:xfrm xmlns:a="http://schemas.openxmlformats.org/drawingml/2006/main">
            <a:off x="1238250" y="54483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i="0">
                <a:solidFill>
                  <a:srgbClr val="B8C1CB"/>
                </a:solidFill>
              </a:defRPr>
            </a:pPr>
            <a:r>
              <a:rPr sz="1500" b="0" i="0">
                <a:solidFill>
                  <a:srgbClr val="B8C1CB"/>
                </a:solidFill>
              </a:rPr>
              <a:t>Not evil is not the same as harmless. Judge intention, method, and institutional impact separately.</a:t>
            </a:r>
          </a:p>
        </p:txBody>
      </p:sp>
      <p:sp>
        <p:nvSpPr>
          <p:cNvPr id="14" name="">
            <a:extLst xmlns:a="http://schemas.openxmlformats.org/drawingml/2006/main">
              <a:ext uri="{FF2B5EF4-FFF2-40B4-BE49-F238E27FC236}">
                <a16:creationId xmlns:a16="http://schemas.microsoft.com/office/drawing/2014/main" id="{961510A5-0CC6-4790-9E2D-60B613E00A4B}"/>
              </a:ext>
            </a:extLst>
          </p:cNvPr>
          <p:cNvSpPr>
            <a:spLocks xmlns:a="http://schemas.openxmlformats.org/drawingml/2006/main" noGrp="1"/>
          </p:cNvSpPr>
          <p:nvPr/>
        </p:nvSpPr>
        <p:spPr>
          <a:xfrm xmlns:a="http://schemas.openxmlformats.org/drawingml/2006/main">
            <a:off x="1162050" y="6000750"/>
            <a:ext cx="986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i="0">
                <a:solidFill>
                  <a:srgbClr val="62D2FF"/>
                </a:solidFill>
              </a:defRPr>
            </a:pPr>
            <a:r>
              <a:rPr sz="1725" b="1" i="0">
                <a:solidFill>
                  <a:srgbClr val="62D2FF"/>
                </a:solidFill>
              </a:rPr>
              <a:t>Can a person obsessed with freedom build powerful systems without building surveillance?</a:t>
            </a:r>
          </a:p>
        </p:txBody>
      </p:sp>
      <p:sp>
        <p:nvSpPr>
          <p:cNvPr id="15" name="">
            <a:extLst xmlns:a="http://schemas.openxmlformats.org/drawingml/2006/main">
              <a:ext uri="{FF2B5EF4-FFF2-40B4-BE49-F238E27FC236}">
                <a16:creationId xmlns:a16="http://schemas.microsoft.com/office/drawing/2014/main" id="{F7327F99-FE56-4D39-890D-AD1F1245076A}"/>
              </a:ext>
            </a:extLst>
          </p:cNvPr>
          <p:cNvSpPr>
            <a:spLocks xmlns:a="http://schemas.openxmlformats.org/drawingml/2006/main" noGrp="1"/>
          </p:cNvSpPr>
          <p:nvPr/>
        </p:nvSpPr>
        <p:spPr>
          <a:xfrm xmlns:a="http://schemas.openxmlformats.org/drawingml/2006/main">
            <a:off x="1125855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65707D"/>
                </a:solidFill>
              </a:defRPr>
            </a:pPr>
            <a:r>
              <a:rPr sz="750" b="1" i="0">
                <a:solidFill>
                  <a:srgbClr val="65707D"/>
                </a:solidFill>
              </a:rPr>
              <a:t>23</a:t>
            </a:r>
          </a:p>
        </p:txBody>
      </p:sp>
    </p:spTree>
    <p:extLst>
      <p:ext uri="{BB962C8B-B14F-4D97-AF65-F5344CB8AC3E}">
        <p14:creationId xmlns:p14="http://schemas.microsoft.com/office/powerpoint/2010/main" val="7774329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2026-07-29T17:12:52.9720000Z</dcterms:created>
  <dcterms:modified xsi:type="dcterms:W3CDTF">2026-07-29T17:12:52.9720000Z</dcterms:modified>
</coreProperties>
</file>